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9"/>
  </p:notesMasterIdLst>
  <p:sldIdLst>
    <p:sldId id="257" r:id="rId2"/>
    <p:sldId id="258" r:id="rId3"/>
    <p:sldId id="3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69" r:id="rId49"/>
    <p:sldId id="370" r:id="rId50"/>
    <p:sldId id="271" r:id="rId51"/>
    <p:sldId id="272" r:id="rId52"/>
    <p:sldId id="273" r:id="rId53"/>
    <p:sldId id="274" r:id="rId54"/>
    <p:sldId id="275" r:id="rId55"/>
    <p:sldId id="276" r:id="rId56"/>
    <p:sldId id="277" r:id="rId57"/>
    <p:sldId id="278" r:id="rId58"/>
    <p:sldId id="279" r:id="rId59"/>
    <p:sldId id="280" r:id="rId60"/>
    <p:sldId id="281" r:id="rId61"/>
    <p:sldId id="282" r:id="rId62"/>
    <p:sldId id="283" r:id="rId63"/>
    <p:sldId id="284" r:id="rId64"/>
    <p:sldId id="285" r:id="rId65"/>
    <p:sldId id="286" r:id="rId66"/>
    <p:sldId id="287" r:id="rId67"/>
    <p:sldId id="288" r:id="rId68"/>
    <p:sldId id="289" r:id="rId69"/>
    <p:sldId id="290" r:id="rId70"/>
    <p:sldId id="291" r:id="rId71"/>
    <p:sldId id="292" r:id="rId72"/>
    <p:sldId id="293" r:id="rId73"/>
    <p:sldId id="294" r:id="rId74"/>
    <p:sldId id="295" r:id="rId75"/>
    <p:sldId id="296" r:id="rId76"/>
    <p:sldId id="297" r:id="rId77"/>
    <p:sldId id="298" r:id="rId78"/>
    <p:sldId id="299" r:id="rId79"/>
    <p:sldId id="300" r:id="rId80"/>
    <p:sldId id="301" r:id="rId81"/>
    <p:sldId id="302" r:id="rId82"/>
    <p:sldId id="303" r:id="rId83"/>
    <p:sldId id="304" r:id="rId84"/>
    <p:sldId id="305" r:id="rId85"/>
    <p:sldId id="306" r:id="rId86"/>
    <p:sldId id="307" r:id="rId87"/>
    <p:sldId id="308" r:id="rId88"/>
    <p:sldId id="309" r:id="rId89"/>
    <p:sldId id="310" r:id="rId90"/>
    <p:sldId id="311" r:id="rId91"/>
    <p:sldId id="312" r:id="rId92"/>
    <p:sldId id="313" r:id="rId93"/>
    <p:sldId id="314" r:id="rId94"/>
    <p:sldId id="315" r:id="rId95"/>
    <p:sldId id="316" r:id="rId96"/>
    <p:sldId id="317" r:id="rId97"/>
    <p:sldId id="318" r:id="rId98"/>
    <p:sldId id="319" r:id="rId99"/>
    <p:sldId id="320" r:id="rId100"/>
    <p:sldId id="321" r:id="rId101"/>
    <p:sldId id="322" r:id="rId102"/>
    <p:sldId id="323" r:id="rId103"/>
    <p:sldId id="324" r:id="rId104"/>
    <p:sldId id="325" r:id="rId105"/>
    <p:sldId id="326" r:id="rId106"/>
    <p:sldId id="327" r:id="rId107"/>
    <p:sldId id="328" r:id="rId108"/>
    <p:sldId id="329" r:id="rId109"/>
    <p:sldId id="330" r:id="rId110"/>
    <p:sldId id="331" r:id="rId111"/>
    <p:sldId id="332" r:id="rId112"/>
    <p:sldId id="333" r:id="rId113"/>
    <p:sldId id="334" r:id="rId114"/>
    <p:sldId id="335" r:id="rId115"/>
    <p:sldId id="336" r:id="rId116"/>
    <p:sldId id="372" r:id="rId117"/>
    <p:sldId id="374" r:id="rId1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BA025A3-2BCA-47A1-8DDA-825C99C9B9C2}">
          <p14:sldIdLst>
            <p14:sldId id="257"/>
            <p14:sldId id="258"/>
            <p14:sldId id="371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김영빈" id="{06696A6C-6EDC-43FD-97D1-2AEFF3144237}">
          <p14:sldIdLst>
            <p14:sldId id="269"/>
            <p14:sldId id="270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기본 구역" id="{2E724BF1-7FBB-4772-BFD7-B3679ACE9C30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72"/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BDF53-F095-4825-A6E8-6D5367ACD2A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30F74-217E-4204-95E5-E749C9D5E0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68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78374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35022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9165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0183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68779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23008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44345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69601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38535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59681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2154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9489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36232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80560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77502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48396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55710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98944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9024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8858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0987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57327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60827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14307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483203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75803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770956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5992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95090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438415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40472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240935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577974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754922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758732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484563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572218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325349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89426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76051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181945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095900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06929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086322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493947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720823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341284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945664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50763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733994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619150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07177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349239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1280784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965050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773786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730945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486304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296067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802458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6050824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229941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114782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642996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145194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823057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2747828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0182757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051615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4187139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4996504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7906109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4233954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6739840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8810900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8503046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789717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2219955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949779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2456145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9049180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7674557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2711375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965064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8731063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0593183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8728627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8853165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0708886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0777192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8543888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4403954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8590440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1069289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7943826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9187398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2728449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1809191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1310806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013703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681699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6235649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6460981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4626674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2882101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0090867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4407619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995575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1474118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0292347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6016842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493217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이상으로 저희 팀 프로젝트 발표를 마치겠습니다 ㅅㄱㅇ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14384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01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01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91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0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9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98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7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31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752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97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56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051F3-DB0F-49D7-B1A6-95793644A07D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16966-6CD6-48F2-8E77-7712FCA92A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35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yi.or.kr:1517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rainsweetMina/frontendtayotayo" TargetMode="External"/><Relationship Id="rId4" Type="http://schemas.openxmlformats.org/officeDocument/2006/relationships/hyperlink" Target="https://docs.yi.or.kr:15173/bus/map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6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4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8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353950"/>
            <a:ext cx="12192000" cy="672074"/>
            <a:chOff x="0" y="0"/>
            <a:chExt cx="4816593" cy="2655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5511"/>
            </a:xfrm>
            <a:custGeom>
              <a:avLst/>
              <a:gdLst/>
              <a:ahLst/>
              <a:cxnLst/>
              <a:rect l="l" t="t" r="r" b="b"/>
              <a:pathLst>
                <a:path w="4816592" h="265511">
                  <a:moveTo>
                    <a:pt x="0" y="0"/>
                  </a:moveTo>
                  <a:lnTo>
                    <a:pt x="4816592" y="0"/>
                  </a:lnTo>
                  <a:lnTo>
                    <a:pt x="4816592" y="265511"/>
                  </a:lnTo>
                  <a:lnTo>
                    <a:pt x="0" y="265511"/>
                  </a:ln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1313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5401" y="781920"/>
            <a:ext cx="1028700" cy="10287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9755" y="565950"/>
            <a:ext cx="730320" cy="73032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3780042" y="3799125"/>
            <a:ext cx="716195" cy="431019"/>
          </a:xfrm>
          <a:custGeom>
            <a:avLst/>
            <a:gdLst/>
            <a:ahLst/>
            <a:cxnLst/>
            <a:rect l="l" t="t" r="r" b="b"/>
            <a:pathLst>
              <a:path w="1074292" h="646528">
                <a:moveTo>
                  <a:pt x="0" y="0"/>
                </a:moveTo>
                <a:lnTo>
                  <a:pt x="1074292" y="0"/>
                </a:lnTo>
                <a:lnTo>
                  <a:pt x="1074292" y="646528"/>
                </a:lnTo>
                <a:lnTo>
                  <a:pt x="0" y="646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99756" y="4103143"/>
            <a:ext cx="5614541" cy="1055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50"/>
              </a:lnSpc>
            </a:pPr>
            <a:r>
              <a:rPr lang="en-US" sz="646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6464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646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타바요</a:t>
            </a:r>
            <a:endParaRPr lang="en-US" sz="6464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48486" y="5458246"/>
            <a:ext cx="4106139" cy="30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59"/>
              </a:lnSpc>
              <a:spcBef>
                <a:spcPct val="0"/>
              </a:spcBef>
            </a:pPr>
            <a:r>
              <a:rPr lang="en-US" sz="182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2025.05.23 ~ 2025.06.30 (약 1개월)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7517" y="5430092"/>
            <a:ext cx="2680689" cy="288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b="1" spc="12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TEAM TYTY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756" y="3197497"/>
            <a:ext cx="2807270" cy="1055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50"/>
              </a:lnSpc>
            </a:pPr>
            <a:r>
              <a:rPr lang="en-US" sz="646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대구시</a:t>
            </a:r>
            <a:endParaRPr lang="en-US" sz="646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543347" y="5082812"/>
            <a:ext cx="1099101" cy="30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59"/>
              </a:lnSpc>
              <a:spcBef>
                <a:spcPct val="0"/>
              </a:spcBef>
            </a:pPr>
            <a:r>
              <a:rPr lang="en-US" sz="182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개발</a:t>
            </a:r>
            <a:r>
              <a:rPr lang="en-US" sz="182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82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기간</a:t>
            </a:r>
            <a:endParaRPr lang="en-US" sz="1828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503945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09" y="46211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AutoShape 5"/>
          <p:cNvSpPr/>
          <p:nvPr/>
        </p:nvSpPr>
        <p:spPr>
          <a:xfrm>
            <a:off x="3695382" y="1973037"/>
            <a:ext cx="458430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664064" y="1947637"/>
            <a:ext cx="458430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4133337" y="1722001"/>
            <a:ext cx="1510252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상륜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16630" y="1928587"/>
            <a:ext cx="458430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8010956" y="2277070"/>
            <a:ext cx="1337385" cy="1611962"/>
          </a:xfrm>
          <a:custGeom>
            <a:avLst/>
            <a:gdLst/>
            <a:ahLst/>
            <a:cxnLst/>
            <a:rect l="l" t="t" r="r" b="b"/>
            <a:pathLst>
              <a:path w="2006078" h="2417943">
                <a:moveTo>
                  <a:pt x="0" y="0"/>
                </a:moveTo>
                <a:lnTo>
                  <a:pt x="2006077" y="0"/>
                </a:lnTo>
                <a:lnTo>
                  <a:pt x="2006077" y="2417943"/>
                </a:lnTo>
                <a:lnTo>
                  <a:pt x="0" y="2417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6" r="-300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21722" y="2308082"/>
            <a:ext cx="1440714" cy="1616750"/>
          </a:xfrm>
          <a:custGeom>
            <a:avLst/>
            <a:gdLst/>
            <a:ahLst/>
            <a:cxnLst/>
            <a:rect l="l" t="t" r="r" b="b"/>
            <a:pathLst>
              <a:path w="2161071" h="2425125">
                <a:moveTo>
                  <a:pt x="0" y="0"/>
                </a:moveTo>
                <a:lnTo>
                  <a:pt x="2161071" y="0"/>
                </a:lnTo>
                <a:lnTo>
                  <a:pt x="2161071" y="2425125"/>
                </a:lnTo>
                <a:lnTo>
                  <a:pt x="0" y="2425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81782" y="2321017"/>
            <a:ext cx="1338689" cy="1565479"/>
          </a:xfrm>
          <a:custGeom>
            <a:avLst/>
            <a:gdLst/>
            <a:ahLst/>
            <a:cxnLst/>
            <a:rect l="l" t="t" r="r" b="b"/>
            <a:pathLst>
              <a:path w="2008033" h="2348218">
                <a:moveTo>
                  <a:pt x="0" y="0"/>
                </a:moveTo>
                <a:lnTo>
                  <a:pt x="2008034" y="0"/>
                </a:lnTo>
                <a:lnTo>
                  <a:pt x="2008034" y="2348218"/>
                </a:lnTo>
                <a:lnTo>
                  <a:pt x="0" y="2348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924521" y="1722001"/>
            <a:ext cx="1510252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민경</a:t>
            </a:r>
            <a:endParaRPr lang="en-US" sz="2133" b="1" spc="145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288730" y="609600"/>
            <a:ext cx="5614541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팀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역할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096000" y="1722001"/>
            <a:ext cx="1510252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현진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10956" y="4202973"/>
            <a:ext cx="1546402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15"/>
              </a:lnSpc>
            </a:pPr>
            <a:r>
              <a:rPr lang="en-US" sz="1511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총 </a:t>
            </a:r>
            <a:r>
              <a:rPr lang="en-US" sz="1511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프로젝트</a:t>
            </a:r>
            <a:r>
              <a:rPr lang="en-US" sz="1511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관리</a:t>
            </a:r>
          </a:p>
          <a:p>
            <a:pPr>
              <a:lnSpc>
                <a:spcPts val="2115"/>
              </a:lnSpc>
            </a:pPr>
            <a:r>
              <a:rPr lang="en-US" sz="1511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메인</a:t>
            </a:r>
            <a:r>
              <a:rPr lang="en-US" sz="1511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페이지</a:t>
            </a:r>
          </a:p>
          <a:p>
            <a:pPr>
              <a:lnSpc>
                <a:spcPts val="2115"/>
              </a:lnSpc>
            </a:pPr>
            <a:r>
              <a:rPr lang="en-US" sz="1511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511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페이지 </a:t>
            </a:r>
          </a:p>
          <a:p>
            <a:pPr>
              <a:lnSpc>
                <a:spcPts val="2115"/>
              </a:lnSpc>
            </a:pPr>
            <a:r>
              <a:rPr lang="en-US" sz="1511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시스템</a:t>
            </a:r>
            <a:r>
              <a:rPr lang="en-US" sz="1511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로그 </a:t>
            </a:r>
          </a:p>
          <a:p>
            <a:pPr>
              <a:lnSpc>
                <a:spcPts val="2115"/>
              </a:lnSpc>
              <a:spcBef>
                <a:spcPct val="0"/>
              </a:spcBef>
            </a:pPr>
            <a:r>
              <a:rPr lang="en-US" sz="1511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511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511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511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511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sz="1511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299689" y="4202973"/>
            <a:ext cx="122078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53"/>
              </a:lnSpc>
            </a:pP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GIT 팀장</a:t>
            </a:r>
          </a:p>
          <a:p>
            <a:pPr>
              <a:lnSpc>
                <a:spcPts val="2053"/>
              </a:lnSpc>
            </a:pP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분실물·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</a:p>
          <a:p>
            <a:pPr>
              <a:lnSpc>
                <a:spcPts val="2053"/>
              </a:lnSpc>
            </a:pP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광고·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Q&amp;A</a:t>
            </a:r>
          </a:p>
          <a:p>
            <a:pPr>
              <a:lnSpc>
                <a:spcPts val="2053"/>
              </a:lnSpc>
              <a:spcBef>
                <a:spcPct val="0"/>
              </a:spcBef>
            </a:pP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공지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팝업</a:t>
            </a:r>
            <a:endParaRPr lang="en-US" sz="1466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030610" y="4210811"/>
            <a:ext cx="1864375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53"/>
              </a:lnSpc>
            </a:pP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요금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시간표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</a:p>
          <a:p>
            <a:pPr>
              <a:lnSpc>
                <a:spcPts val="2053"/>
              </a:lnSpc>
            </a:pP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UI 구현</a:t>
            </a:r>
          </a:p>
          <a:p>
            <a:pPr>
              <a:lnSpc>
                <a:spcPts val="2053"/>
              </a:lnSpc>
            </a:pP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실시간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정보와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>
              <a:lnSpc>
                <a:spcPts val="2053"/>
              </a:lnSpc>
            </a:pP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길찾기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기능을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포함한</a:t>
            </a:r>
            <a:endParaRPr lang="en-US" sz="1466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053"/>
              </a:lnSpc>
              <a:spcBef>
                <a:spcPct val="0"/>
              </a:spcBef>
            </a:pP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지도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기반</a:t>
            </a:r>
            <a:r>
              <a:rPr lang="en-US" sz="14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UI </a:t>
            </a:r>
            <a:r>
              <a:rPr lang="en-US" sz="146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sz="1466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053"/>
              </a:lnSpc>
              <a:spcBef>
                <a:spcPct val="0"/>
              </a:spcBef>
            </a:pPr>
            <a:endParaRPr lang="en-US" sz="1466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F0C45CEF-C4A7-E225-8B9C-BAC4C7DBEE85}"/>
              </a:ext>
            </a:extLst>
          </p:cNvPr>
          <p:cNvSpPr/>
          <p:nvPr/>
        </p:nvSpPr>
        <p:spPr>
          <a:xfrm>
            <a:off x="2076274" y="2318482"/>
            <a:ext cx="1452018" cy="1593650"/>
          </a:xfrm>
          <a:custGeom>
            <a:avLst/>
            <a:gdLst/>
            <a:ahLst/>
            <a:cxnLst/>
            <a:rect l="l" t="t" r="r" b="b"/>
            <a:pathLst>
              <a:path w="2178027" h="2390475">
                <a:moveTo>
                  <a:pt x="0" y="0"/>
                </a:moveTo>
                <a:lnTo>
                  <a:pt x="2178027" y="0"/>
                </a:lnTo>
                <a:lnTo>
                  <a:pt x="2178027" y="2390475"/>
                </a:lnTo>
                <a:lnTo>
                  <a:pt x="0" y="2390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5" r="-735"/>
            </a:stretch>
          </a:blipFill>
        </p:spPr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F24E0A47-10C4-EFA2-B8D0-808C8F57CE5C}"/>
              </a:ext>
            </a:extLst>
          </p:cNvPr>
          <p:cNvSpPr txBox="1"/>
          <p:nvPr/>
        </p:nvSpPr>
        <p:spPr>
          <a:xfrm>
            <a:off x="2057831" y="1745429"/>
            <a:ext cx="1510252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영빈</a:t>
            </a:r>
            <a:endParaRPr lang="en-US" sz="2133" b="1" spc="145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AB5B59DC-1D9C-1788-48C7-81FED55BB2F2}"/>
              </a:ext>
            </a:extLst>
          </p:cNvPr>
          <p:cNvSpPr txBox="1"/>
          <p:nvPr/>
        </p:nvSpPr>
        <p:spPr>
          <a:xfrm>
            <a:off x="1739461" y="4202973"/>
            <a:ext cx="215462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53"/>
              </a:lnSpc>
            </a:pP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유저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CRUD, </a:t>
            </a:r>
          </a:p>
          <a:p>
            <a:pPr>
              <a:lnSpc>
                <a:spcPts val="2053"/>
              </a:lnSpc>
            </a:pP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총괄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>
              <a:lnSpc>
                <a:spcPts val="2053"/>
              </a:lnSpc>
            </a:pP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466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053"/>
              </a:lnSpc>
              <a:spcBef>
                <a:spcPct val="0"/>
              </a:spcBef>
            </a:pP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API키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46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6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466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15880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1" y="609600"/>
            <a:ext cx="3643975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7"/>
              </a:lnSpc>
              <a:spcBef>
                <a:spcPct val="0"/>
              </a:spcBef>
            </a:pPr>
            <a:r>
              <a:rPr lang="en-US" sz="3734" b="1" spc="253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프로그램</a:t>
            </a:r>
            <a:r>
              <a:rPr lang="en-US" sz="3734" b="1" spc="253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spc="253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시연</a:t>
            </a:r>
            <a:endParaRPr lang="en-US" sz="3734" b="1" spc="253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F3ED21-D531-8EC7-A8A8-E74F2E16DC5D}"/>
              </a:ext>
            </a:extLst>
          </p:cNvPr>
          <p:cNvSpPr txBox="1"/>
          <p:nvPr/>
        </p:nvSpPr>
        <p:spPr>
          <a:xfrm>
            <a:off x="685801" y="1516913"/>
            <a:ext cx="7694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 err="1"/>
              <a:t>메인페이지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>
                <a:hlinkClick r:id="rId3"/>
              </a:rPr>
              <a:t>https://docs.yi.or.kr:15173/</a:t>
            </a:r>
            <a:endParaRPr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BCFA9-8F10-C4B9-AF10-99790E11BB2C}"/>
              </a:ext>
            </a:extLst>
          </p:cNvPr>
          <p:cNvSpPr txBox="1"/>
          <p:nvPr/>
        </p:nvSpPr>
        <p:spPr>
          <a:xfrm>
            <a:off x="685801" y="2355695"/>
            <a:ext cx="8195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버스 </a:t>
            </a:r>
            <a:r>
              <a:rPr lang="en-US" altLang="ko-KR" sz="2400" dirty="0"/>
              <a:t>map : </a:t>
            </a:r>
            <a:r>
              <a:rPr lang="ko-KR" altLang="en-US" sz="2400" dirty="0">
                <a:hlinkClick r:id="rId4"/>
              </a:rPr>
              <a:t>https://docs.yi.or.kr:15173/</a:t>
            </a:r>
            <a:r>
              <a:rPr lang="en-US" altLang="ko-KR" sz="2400" dirty="0">
                <a:hlinkClick r:id="rId4"/>
              </a:rPr>
              <a:t>bus/map</a:t>
            </a:r>
            <a:endParaRPr lang="ko-KR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5BF501-368B-6E92-664F-7D0B99080AD3}"/>
              </a:ext>
            </a:extLst>
          </p:cNvPr>
          <p:cNvSpPr txBox="1"/>
          <p:nvPr/>
        </p:nvSpPr>
        <p:spPr>
          <a:xfrm>
            <a:off x="685800" y="3194477"/>
            <a:ext cx="9189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 err="1"/>
              <a:t>Github</a:t>
            </a:r>
            <a:r>
              <a:rPr lang="en-US" altLang="ko-KR" sz="2400" dirty="0"/>
              <a:t> : </a:t>
            </a:r>
            <a:r>
              <a:rPr lang="en-US" altLang="ko-KR" sz="2400" b="1" dirty="0">
                <a:latin typeface="+mj-ea"/>
                <a:hlinkClick r:id="rId5"/>
              </a:rPr>
              <a:t>https://github.com/rainsweetMina/frontendtayotayo</a:t>
            </a:r>
            <a:endParaRPr lang="ko-KR" altLang="en-US" sz="2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86335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472642" cy="6859573"/>
            <a:chOff x="0" y="0"/>
            <a:chExt cx="2135296" cy="19601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5296" cy="1960113"/>
            </a:xfrm>
            <a:custGeom>
              <a:avLst/>
              <a:gdLst/>
              <a:ahLst/>
              <a:cxnLst/>
              <a:rect l="l" t="t" r="r" b="b"/>
              <a:pathLst>
                <a:path w="2135296" h="1960113">
                  <a:moveTo>
                    <a:pt x="0" y="0"/>
                  </a:moveTo>
                  <a:lnTo>
                    <a:pt x="2135296" y="0"/>
                  </a:lnTo>
                  <a:lnTo>
                    <a:pt x="2135296" y="1960113"/>
                  </a:lnTo>
                  <a:lnTo>
                    <a:pt x="0" y="1960113"/>
                  </a:lnTo>
                  <a:close/>
                </a:path>
              </a:pathLst>
            </a:custGeom>
            <a:blipFill>
              <a:blip r:embed="rId2"/>
              <a:stretch>
                <a:fillRect t="-4468" b="-446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4175808" y="3118503"/>
            <a:ext cx="6859573" cy="622567"/>
            <a:chOff x="0" y="0"/>
            <a:chExt cx="2709955" cy="2459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955" cy="245952"/>
            </a:xfrm>
            <a:custGeom>
              <a:avLst/>
              <a:gdLst/>
              <a:ahLst/>
              <a:cxnLst/>
              <a:rect l="l" t="t" r="r" b="b"/>
              <a:pathLst>
                <a:path w="2709955" h="245952">
                  <a:moveTo>
                    <a:pt x="0" y="0"/>
                  </a:moveTo>
                  <a:lnTo>
                    <a:pt x="2709955" y="0"/>
                  </a:lnTo>
                  <a:lnTo>
                    <a:pt x="2709955" y="245952"/>
                  </a:lnTo>
                  <a:lnTo>
                    <a:pt x="0" y="245952"/>
                  </a:ln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709955" cy="29357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48267" y="4344290"/>
            <a:ext cx="2515478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활용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방안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후기</a:t>
            </a:r>
            <a:endParaRPr lang="en-US" sz="179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8267" y="3875660"/>
            <a:ext cx="2089444" cy="29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프로그램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시연</a:t>
            </a:r>
            <a:endParaRPr lang="en-US" sz="179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8267" y="4842736"/>
            <a:ext cx="2089444" cy="29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Q&amp;A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48267" y="2468645"/>
            <a:ext cx="2089444" cy="29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개발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환경</a:t>
            </a:r>
            <a:endParaRPr lang="en-US" sz="179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48267" y="1578587"/>
            <a:ext cx="2089444" cy="29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팀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역할</a:t>
            </a:r>
            <a:endParaRPr lang="en-US" sz="179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12"/>
          <p:cNvSpPr txBox="1"/>
          <p:nvPr/>
        </p:nvSpPr>
        <p:spPr>
          <a:xfrm rot="-5400000">
            <a:off x="6188821" y="4697734"/>
            <a:ext cx="2795482" cy="29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b="1" spc="12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CONTENTS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8267" y="2023616"/>
            <a:ext cx="2089444" cy="29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프로젝트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개요</a:t>
            </a:r>
            <a:endParaRPr lang="en-US" sz="179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748267" y="3407029"/>
            <a:ext cx="2089444" cy="29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ko-KR" alt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179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48267" y="2938399"/>
            <a:ext cx="2089444" cy="29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프로젝트</a:t>
            </a:r>
            <a:r>
              <a: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구조</a:t>
            </a:r>
            <a:endParaRPr lang="en-US" sz="179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86200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3013313"/>
            <a:ext cx="2057400" cy="20574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13"/>
                </a:lnSpc>
              </a:pPr>
              <a:r>
                <a:rPr lang="en-US" sz="1866" b="1" spc="127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프로젝트</a:t>
              </a:r>
              <a:r>
                <a:rPr lang="en-US" sz="1866" b="1" spc="127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866" b="1" spc="127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목표</a:t>
              </a:r>
              <a:endParaRPr lang="en-US" sz="1866" b="1" spc="127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58638" y="3330279"/>
            <a:ext cx="6074720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</a:pP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대구시의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실시간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데이터와 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백엔드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API를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활용하여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노선 정류장,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위치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정보를통합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제공하는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웹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플랫폼</a:t>
            </a:r>
            <a:r>
              <a:rPr lang="en-US" sz="2400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400" b="1" spc="1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구축</a:t>
            </a:r>
            <a:endParaRPr lang="en-US" sz="2400" b="1" spc="18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2192000" cy="1357874"/>
            <a:chOff x="0" y="0"/>
            <a:chExt cx="4816593" cy="5364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36444"/>
            </a:xfrm>
            <a:custGeom>
              <a:avLst/>
              <a:gdLst/>
              <a:ahLst/>
              <a:cxnLst/>
              <a:rect l="l" t="t" r="r" b="b"/>
              <a:pathLst>
                <a:path w="4816592" h="536444">
                  <a:moveTo>
                    <a:pt x="0" y="0"/>
                  </a:moveTo>
                  <a:lnTo>
                    <a:pt x="4816592" y="0"/>
                  </a:lnTo>
                  <a:lnTo>
                    <a:pt x="4816592" y="536444"/>
                  </a:lnTo>
                  <a:lnTo>
                    <a:pt x="0" y="536444"/>
                  </a:ln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5745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37129" y="3013313"/>
            <a:ext cx="2057400" cy="20574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13"/>
                </a:lnSpc>
              </a:pPr>
              <a:r>
                <a:rPr lang="en-US" sz="1866" b="1" spc="127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2차 </a:t>
              </a:r>
              <a:r>
                <a:rPr lang="en-US" sz="1866" b="1" spc="127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프론트</a:t>
              </a:r>
              <a:endParaRPr lang="en-US" sz="1866" b="1" spc="127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5800" y="602738"/>
            <a:ext cx="5614541" cy="60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7"/>
              </a:lnSpc>
            </a:pP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프로젝트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목표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90025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1" name="모서리가 둥근 직사각형 20"/>
          <p:cNvSpPr/>
          <p:nvPr/>
        </p:nvSpPr>
        <p:spPr>
          <a:xfrm>
            <a:off x="390676" y="1540211"/>
            <a:ext cx="8861367" cy="21203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99011" y="3757004"/>
            <a:ext cx="8861367" cy="23445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7642767" y="4286301"/>
            <a:ext cx="1032585" cy="1309360"/>
          </a:xfrm>
          <a:custGeom>
            <a:avLst/>
            <a:gdLst/>
            <a:ahLst/>
            <a:cxnLst/>
            <a:rect l="l" t="t" r="r" b="b"/>
            <a:pathLst>
              <a:path w="1548877" h="1964040">
                <a:moveTo>
                  <a:pt x="0" y="0"/>
                </a:moveTo>
                <a:lnTo>
                  <a:pt x="1548878" y="0"/>
                </a:lnTo>
                <a:lnTo>
                  <a:pt x="1548878" y="1964041"/>
                </a:lnTo>
                <a:lnTo>
                  <a:pt x="0" y="1964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669723" y="4795902"/>
            <a:ext cx="1677556" cy="1287525"/>
          </a:xfrm>
          <a:custGeom>
            <a:avLst/>
            <a:gdLst/>
            <a:ahLst/>
            <a:cxnLst/>
            <a:rect l="l" t="t" r="r" b="b"/>
            <a:pathLst>
              <a:path w="2516334" h="1931287">
                <a:moveTo>
                  <a:pt x="0" y="0"/>
                </a:moveTo>
                <a:lnTo>
                  <a:pt x="2516334" y="0"/>
                </a:lnTo>
                <a:lnTo>
                  <a:pt x="2516334" y="1931287"/>
                </a:lnTo>
                <a:lnTo>
                  <a:pt x="0" y="1931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240614" y="4159409"/>
            <a:ext cx="812812" cy="1516588"/>
          </a:xfrm>
          <a:custGeom>
            <a:avLst/>
            <a:gdLst/>
            <a:ahLst/>
            <a:cxnLst/>
            <a:rect l="l" t="t" r="r" b="b"/>
            <a:pathLst>
              <a:path w="1219218" h="2274882">
                <a:moveTo>
                  <a:pt x="0" y="0"/>
                </a:moveTo>
                <a:lnTo>
                  <a:pt x="1219218" y="0"/>
                </a:lnTo>
                <a:lnTo>
                  <a:pt x="1219218" y="2274882"/>
                </a:lnTo>
                <a:lnTo>
                  <a:pt x="0" y="227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382139" y="1931061"/>
            <a:ext cx="1251657" cy="1111808"/>
          </a:xfrm>
          <a:custGeom>
            <a:avLst/>
            <a:gdLst/>
            <a:ahLst/>
            <a:cxnLst/>
            <a:rect l="l" t="t" r="r" b="b"/>
            <a:pathLst>
              <a:path w="1877485" h="1667712">
                <a:moveTo>
                  <a:pt x="0" y="0"/>
                </a:moveTo>
                <a:lnTo>
                  <a:pt x="1877485" y="0"/>
                </a:lnTo>
                <a:lnTo>
                  <a:pt x="1877485" y="1667712"/>
                </a:lnTo>
                <a:lnTo>
                  <a:pt x="0" y="16677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1715" t="-6800" r="-50099" b="-6800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421249" y="1877012"/>
            <a:ext cx="948490" cy="1183753"/>
          </a:xfrm>
          <a:custGeom>
            <a:avLst/>
            <a:gdLst/>
            <a:ahLst/>
            <a:cxnLst/>
            <a:rect l="l" t="t" r="r" b="b"/>
            <a:pathLst>
              <a:path w="1422735" h="1775630">
                <a:moveTo>
                  <a:pt x="0" y="0"/>
                </a:moveTo>
                <a:lnTo>
                  <a:pt x="1422736" y="0"/>
                </a:lnTo>
                <a:lnTo>
                  <a:pt x="1422736" y="1775630"/>
                </a:lnTo>
                <a:lnTo>
                  <a:pt x="0" y="1775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4411" r="-7441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831782" y="1663657"/>
            <a:ext cx="1353438" cy="534808"/>
          </a:xfrm>
          <a:custGeom>
            <a:avLst/>
            <a:gdLst/>
            <a:ahLst/>
            <a:cxnLst/>
            <a:rect l="l" t="t" r="r" b="b"/>
            <a:pathLst>
              <a:path w="2276401" h="951234">
                <a:moveTo>
                  <a:pt x="0" y="0"/>
                </a:moveTo>
                <a:lnTo>
                  <a:pt x="2276401" y="0"/>
                </a:lnTo>
                <a:lnTo>
                  <a:pt x="2276401" y="951234"/>
                </a:lnTo>
                <a:lnTo>
                  <a:pt x="0" y="9512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698740" y="2514299"/>
            <a:ext cx="1757856" cy="1071942"/>
          </a:xfrm>
          <a:custGeom>
            <a:avLst/>
            <a:gdLst/>
            <a:ahLst/>
            <a:cxnLst/>
            <a:rect l="l" t="t" r="r" b="b"/>
            <a:pathLst>
              <a:path w="3076727" h="1799394">
                <a:moveTo>
                  <a:pt x="0" y="0"/>
                </a:moveTo>
                <a:lnTo>
                  <a:pt x="3076727" y="0"/>
                </a:lnTo>
                <a:lnTo>
                  <a:pt x="3076727" y="1799394"/>
                </a:lnTo>
                <a:lnTo>
                  <a:pt x="0" y="1799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443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911629" y="4691535"/>
            <a:ext cx="1379373" cy="938176"/>
          </a:xfrm>
          <a:custGeom>
            <a:avLst/>
            <a:gdLst/>
            <a:ahLst/>
            <a:cxnLst/>
            <a:rect l="l" t="t" r="r" b="b"/>
            <a:pathLst>
              <a:path w="2069059" h="1407264">
                <a:moveTo>
                  <a:pt x="0" y="0"/>
                </a:moveTo>
                <a:lnTo>
                  <a:pt x="2069058" y="0"/>
                </a:lnTo>
                <a:lnTo>
                  <a:pt x="2069058" y="1407264"/>
                </a:lnTo>
                <a:lnTo>
                  <a:pt x="0" y="14072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14228" y="4641496"/>
            <a:ext cx="1229933" cy="1038255"/>
          </a:xfrm>
          <a:custGeom>
            <a:avLst/>
            <a:gdLst/>
            <a:ahLst/>
            <a:cxnLst/>
            <a:rect l="l" t="t" r="r" b="b"/>
            <a:pathLst>
              <a:path w="1844899" h="1557382">
                <a:moveTo>
                  <a:pt x="0" y="0"/>
                </a:moveTo>
                <a:lnTo>
                  <a:pt x="1844899" y="0"/>
                </a:lnTo>
                <a:lnTo>
                  <a:pt x="1844899" y="1557383"/>
                </a:lnTo>
                <a:lnTo>
                  <a:pt x="0" y="15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81033" y="4917703"/>
            <a:ext cx="2194426" cy="637732"/>
          </a:xfrm>
          <a:custGeom>
            <a:avLst/>
            <a:gdLst/>
            <a:ahLst/>
            <a:cxnLst/>
            <a:rect l="l" t="t" r="r" b="b"/>
            <a:pathLst>
              <a:path w="4223808" h="1090511">
                <a:moveTo>
                  <a:pt x="0" y="0"/>
                </a:moveTo>
                <a:lnTo>
                  <a:pt x="4223809" y="0"/>
                </a:lnTo>
                <a:lnTo>
                  <a:pt x="4223809" y="1090510"/>
                </a:lnTo>
                <a:lnTo>
                  <a:pt x="0" y="10905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81033" y="2080417"/>
            <a:ext cx="1223245" cy="1206997"/>
          </a:xfrm>
          <a:custGeom>
            <a:avLst/>
            <a:gdLst/>
            <a:ahLst/>
            <a:cxnLst/>
            <a:rect l="l" t="t" r="r" b="b"/>
            <a:pathLst>
              <a:path w="1834867" h="1810495">
                <a:moveTo>
                  <a:pt x="0" y="0"/>
                </a:moveTo>
                <a:lnTo>
                  <a:pt x="1834866" y="0"/>
                </a:lnTo>
                <a:lnTo>
                  <a:pt x="1834866" y="1810495"/>
                </a:lnTo>
                <a:lnTo>
                  <a:pt x="0" y="181049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499595" y="2337710"/>
            <a:ext cx="2894365" cy="398465"/>
          </a:xfrm>
          <a:custGeom>
            <a:avLst/>
            <a:gdLst/>
            <a:ahLst/>
            <a:cxnLst/>
            <a:rect l="l" t="t" r="r" b="b"/>
            <a:pathLst>
              <a:path w="7315200" h="904425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73187" y="2243234"/>
            <a:ext cx="1128455" cy="587415"/>
          </a:xfrm>
          <a:custGeom>
            <a:avLst/>
            <a:gdLst/>
            <a:ahLst/>
            <a:cxnLst/>
            <a:rect l="l" t="t" r="r" b="b"/>
            <a:pathLst>
              <a:path w="1692682" h="881122">
                <a:moveTo>
                  <a:pt x="0" y="0"/>
                </a:moveTo>
                <a:lnTo>
                  <a:pt x="1692681" y="0"/>
                </a:lnTo>
                <a:lnTo>
                  <a:pt x="1692681" y="881122"/>
                </a:lnTo>
                <a:lnTo>
                  <a:pt x="0" y="8811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831782" y="3810691"/>
            <a:ext cx="1764473" cy="830805"/>
          </a:xfrm>
          <a:custGeom>
            <a:avLst/>
            <a:gdLst/>
            <a:ahLst/>
            <a:cxnLst/>
            <a:rect l="l" t="t" r="r" b="b"/>
            <a:pathLst>
              <a:path w="2757158" h="1426829">
                <a:moveTo>
                  <a:pt x="0" y="0"/>
                </a:moveTo>
                <a:lnTo>
                  <a:pt x="2757158" y="0"/>
                </a:lnTo>
                <a:lnTo>
                  <a:pt x="2757158" y="1426829"/>
                </a:lnTo>
                <a:lnTo>
                  <a:pt x="0" y="14268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221923" y="766085"/>
            <a:ext cx="5614541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개발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기술 스택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87543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06694" y="1444197"/>
            <a:ext cx="7428847" cy="4661601"/>
          </a:xfrm>
          <a:custGeom>
            <a:avLst/>
            <a:gdLst/>
            <a:ahLst/>
            <a:cxnLst/>
            <a:rect l="l" t="t" r="r" b="b"/>
            <a:pathLst>
              <a:path w="11143270" h="6992402">
                <a:moveTo>
                  <a:pt x="0" y="0"/>
                </a:moveTo>
                <a:lnTo>
                  <a:pt x="11143270" y="0"/>
                </a:lnTo>
                <a:lnTo>
                  <a:pt x="11143270" y="6992402"/>
                </a:lnTo>
                <a:lnTo>
                  <a:pt x="0" y="6992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02182" y="1412172"/>
            <a:ext cx="4143995" cy="3680362"/>
          </a:xfrm>
          <a:custGeom>
            <a:avLst/>
            <a:gdLst/>
            <a:ahLst/>
            <a:cxnLst/>
            <a:rect l="l" t="t" r="r" b="b"/>
            <a:pathLst>
              <a:path w="6215992" h="5520543">
                <a:moveTo>
                  <a:pt x="0" y="0"/>
                </a:moveTo>
                <a:lnTo>
                  <a:pt x="6215992" y="0"/>
                </a:lnTo>
                <a:lnTo>
                  <a:pt x="6215992" y="5520543"/>
                </a:lnTo>
                <a:lnTo>
                  <a:pt x="0" y="5520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71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02182" y="5012789"/>
            <a:ext cx="4143995" cy="1568279"/>
          </a:xfrm>
          <a:custGeom>
            <a:avLst/>
            <a:gdLst/>
            <a:ahLst/>
            <a:cxnLst/>
            <a:rect l="l" t="t" r="r" b="b"/>
            <a:pathLst>
              <a:path w="6215992" h="2352418">
                <a:moveTo>
                  <a:pt x="0" y="0"/>
                </a:moveTo>
                <a:lnTo>
                  <a:pt x="6215992" y="0"/>
                </a:lnTo>
                <a:lnTo>
                  <a:pt x="6215992" y="2352418"/>
                </a:lnTo>
                <a:lnTo>
                  <a:pt x="0" y="2352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06694" y="492977"/>
            <a:ext cx="1838105" cy="951219"/>
          </a:xfrm>
          <a:custGeom>
            <a:avLst/>
            <a:gdLst/>
            <a:ahLst/>
            <a:cxnLst/>
            <a:rect l="l" t="t" r="r" b="b"/>
            <a:pathLst>
              <a:path w="2757158" h="1426829">
                <a:moveTo>
                  <a:pt x="0" y="0"/>
                </a:moveTo>
                <a:lnTo>
                  <a:pt x="2757158" y="0"/>
                </a:lnTo>
                <a:lnTo>
                  <a:pt x="2757158" y="1426830"/>
                </a:lnTo>
                <a:lnTo>
                  <a:pt x="0" y="1426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902182" y="685800"/>
            <a:ext cx="1021304" cy="531638"/>
          </a:xfrm>
          <a:custGeom>
            <a:avLst/>
            <a:gdLst/>
            <a:ahLst/>
            <a:cxnLst/>
            <a:rect l="l" t="t" r="r" b="b"/>
            <a:pathLst>
              <a:path w="1531956" h="797457">
                <a:moveTo>
                  <a:pt x="0" y="0"/>
                </a:moveTo>
                <a:lnTo>
                  <a:pt x="1531957" y="0"/>
                </a:lnTo>
                <a:lnTo>
                  <a:pt x="1531957" y="797457"/>
                </a:lnTo>
                <a:lnTo>
                  <a:pt x="0" y="797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7360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571830" y="1698671"/>
            <a:ext cx="3260353" cy="4131130"/>
          </a:xfrm>
          <a:custGeom>
            <a:avLst/>
            <a:gdLst/>
            <a:ahLst/>
            <a:cxnLst/>
            <a:rect l="l" t="t" r="r" b="b"/>
            <a:pathLst>
              <a:path w="4890529" h="6196695">
                <a:moveTo>
                  <a:pt x="0" y="0"/>
                </a:moveTo>
                <a:lnTo>
                  <a:pt x="4890529" y="0"/>
                </a:lnTo>
                <a:lnTo>
                  <a:pt x="4890529" y="6196695"/>
                </a:lnTo>
                <a:lnTo>
                  <a:pt x="0" y="61966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416560" y="1127011"/>
            <a:ext cx="3984724" cy="5355583"/>
          </a:xfrm>
          <a:custGeom>
            <a:avLst/>
            <a:gdLst/>
            <a:ahLst/>
            <a:cxnLst/>
            <a:rect l="l" t="t" r="r" b="b"/>
            <a:pathLst>
              <a:path w="5977086" h="8033374">
                <a:moveTo>
                  <a:pt x="0" y="0"/>
                </a:moveTo>
                <a:lnTo>
                  <a:pt x="5977086" y="0"/>
                </a:lnTo>
                <a:lnTo>
                  <a:pt x="5977086" y="8033374"/>
                </a:lnTo>
                <a:lnTo>
                  <a:pt x="0" y="8033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88729" y="441289"/>
            <a:ext cx="5614541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3734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</a:t>
            </a:r>
            <a:r>
              <a:rPr lang="ko-KR" alt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스</a:t>
            </a:r>
            <a:r>
              <a:rPr 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케이스</a:t>
            </a:r>
            <a:r>
              <a:rPr lang="en-US" sz="3734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다이어그램</a:t>
            </a:r>
            <a:endParaRPr lang="en-US" sz="3734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04315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847450"/>
              </p:ext>
            </p:extLst>
          </p:nvPr>
        </p:nvGraphicFramePr>
        <p:xfrm>
          <a:off x="807138" y="1510642"/>
          <a:ext cx="10577724" cy="4852492"/>
        </p:xfrm>
        <a:graphic>
          <a:graphicData uri="http://schemas.openxmlformats.org/drawingml/2006/table">
            <a:tbl>
              <a:tblPr/>
              <a:tblGrid>
                <a:gridCol w="186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4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17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 Medium"/>
                          <a:sym typeface="네모고딕 Medium"/>
                        </a:rPr>
                        <a:t>구분</a:t>
                      </a:r>
                      <a:endParaRPr lang="en-US" sz="7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 Medium"/>
                          <a:sym typeface="네모고딕 Medium"/>
                        </a:rPr>
                        <a:t>기간</a:t>
                      </a:r>
                      <a:endParaRPr lang="en-US" sz="7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 Medium"/>
                          <a:sym typeface="네모고딕 Medium"/>
                        </a:rPr>
                        <a:t>활동</a:t>
                      </a:r>
                      <a:endParaRPr lang="en-US" sz="7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 Medium"/>
                          <a:sym typeface="네모고딕 Medium"/>
                        </a:rPr>
                        <a:t>비고</a:t>
                      </a:r>
                      <a:endParaRPr lang="en-US" sz="7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70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사전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기획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25.05.23~25.06.01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백엔드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API를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기반으로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프론트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프로젝트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설계 </a:t>
                      </a:r>
                      <a:endParaRPr lang="en-US" sz="700" b="1">
                        <a:latin typeface="+mn-lt"/>
                      </a:endParaRP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와이어프레임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설계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등</a:t>
                      </a: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주제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선정 </a:t>
                      </a:r>
                      <a:r>
                        <a:rPr lang="ko-KR" alt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및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역할 분담 </a:t>
                      </a:r>
                      <a:endParaRPr lang="en-US" sz="700" b="1">
                        <a:latin typeface="+mn-lt"/>
                      </a:endParaRP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와이어프레임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작성</a:t>
                      </a:r>
                      <a:endParaRPr lang="en-US" sz="1300" b="1">
                        <a:solidFill>
                          <a:srgbClr val="000000"/>
                        </a:solidFill>
                        <a:latin typeface="+mn-lt"/>
                        <a:ea typeface="맑은 고딕" panose="020B0503020000020004" pitchFamily="50" charset="-127"/>
                        <a:cs typeface="네모고딕"/>
                        <a:sym typeface="네모고딕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70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프론트엔드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연동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25.06.02~25.06.06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Vue.js,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TailWind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등으로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프론트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구성 </a:t>
                      </a:r>
                      <a:endParaRPr lang="en-US" sz="700" b="1">
                        <a:latin typeface="+mn-lt"/>
                      </a:endParaRP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백엔드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API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호출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/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연동</a:t>
                      </a:r>
                      <a:endParaRPr lang="en-US" sz="1300" b="1">
                        <a:solidFill>
                          <a:srgbClr val="000000"/>
                        </a:solidFill>
                        <a:latin typeface="+mn-lt"/>
                        <a:ea typeface="맑은 고딕" panose="020B0503020000020004" pitchFamily="50" charset="-127"/>
                        <a:cs typeface="네모고딕"/>
                        <a:sym typeface="네모고딕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Redis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캐시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활용</a:t>
                      </a:r>
                      <a:endParaRPr lang="en-US" sz="700" b="1">
                        <a:latin typeface="+mn-lt"/>
                      </a:endParaRP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Leaflet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지도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연동</a:t>
                      </a:r>
                      <a:endParaRPr lang="en-US" sz="1300" b="1">
                        <a:solidFill>
                          <a:srgbClr val="000000"/>
                        </a:solidFill>
                        <a:latin typeface="+mn-lt"/>
                        <a:ea typeface="맑은 고딕" panose="020B0503020000020004" pitchFamily="50" charset="-127"/>
                        <a:cs typeface="네모고딕"/>
                        <a:sym typeface="네모고딕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99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시각화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및 UI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개선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25.06.09~25.06.20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실시간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데이터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시각화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,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사용자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중심의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UI/UX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보완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등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반응형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적용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01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테스트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및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오류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수정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25.06.23~25.06.27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기능별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QA,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버그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수정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,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성능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개선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내부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QA 진행</a:t>
                      </a:r>
                      <a:endParaRPr lang="en-US" sz="700" b="1">
                        <a:latin typeface="+mn-lt"/>
                      </a:endParaRP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교차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검증</a:t>
                      </a:r>
                      <a:endParaRPr lang="en-US" sz="1300" b="1">
                        <a:solidFill>
                          <a:srgbClr val="000000"/>
                        </a:solidFill>
                        <a:latin typeface="+mn-lt"/>
                        <a:ea typeface="맑은 고딕" panose="020B0503020000020004" pitchFamily="50" charset="-127"/>
                        <a:cs typeface="네모고딕"/>
                        <a:sym typeface="네모고딕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70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문서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정리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및</a:t>
                      </a:r>
                      <a:endParaRPr lang="en-US" sz="700" b="1">
                        <a:latin typeface="+mn-lt"/>
                      </a:endParaRP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발표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준비</a:t>
                      </a:r>
                      <a:endParaRPr lang="en-US" sz="1300" b="1">
                        <a:solidFill>
                          <a:srgbClr val="000000"/>
                        </a:solidFill>
                        <a:latin typeface="+mn-lt"/>
                        <a:ea typeface="맑은 고딕" panose="020B0503020000020004" pitchFamily="50" charset="-127"/>
                        <a:cs typeface="네모고딕"/>
                        <a:sym typeface="네모고딕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25.06.30~25.07.03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문서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정리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,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발표자료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제작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발표자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역할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+mn-lt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분담</a:t>
                      </a:r>
                      <a:endParaRPr lang="en-US" sz="700" b="1">
                        <a:latin typeface="+mn-lt"/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288730" y="609600"/>
            <a:ext cx="5996586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프로젝트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수행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절차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방법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412249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24045" y="1917519"/>
            <a:ext cx="3586511" cy="2208809"/>
            <a:chOff x="0" y="0"/>
            <a:chExt cx="785201" cy="483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5201" cy="483578"/>
            </a:xfrm>
            <a:custGeom>
              <a:avLst/>
              <a:gdLst/>
              <a:ahLst/>
              <a:cxnLst/>
              <a:rect l="l" t="t" r="r" b="b"/>
              <a:pathLst>
                <a:path w="785201" h="483578">
                  <a:moveTo>
                    <a:pt x="0" y="0"/>
                  </a:moveTo>
                  <a:lnTo>
                    <a:pt x="785201" y="0"/>
                  </a:lnTo>
                  <a:lnTo>
                    <a:pt x="785201" y="483578"/>
                  </a:lnTo>
                  <a:lnTo>
                    <a:pt x="0" y="4835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4949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785201" cy="57882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84645" y="1917519"/>
            <a:ext cx="3586511" cy="2208809"/>
            <a:chOff x="0" y="0"/>
            <a:chExt cx="785201" cy="4835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85201" cy="483578"/>
            </a:xfrm>
            <a:custGeom>
              <a:avLst/>
              <a:gdLst/>
              <a:ahLst/>
              <a:cxnLst/>
              <a:rect l="l" t="t" r="r" b="b"/>
              <a:pathLst>
                <a:path w="785201" h="483578">
                  <a:moveTo>
                    <a:pt x="0" y="0"/>
                  </a:moveTo>
                  <a:lnTo>
                    <a:pt x="785201" y="0"/>
                  </a:lnTo>
                  <a:lnTo>
                    <a:pt x="785201" y="483578"/>
                  </a:lnTo>
                  <a:lnTo>
                    <a:pt x="0" y="4835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4949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785201" cy="57882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2678737" y="4415899"/>
            <a:ext cx="341111" cy="298815"/>
          </a:xfrm>
          <a:custGeom>
            <a:avLst/>
            <a:gdLst/>
            <a:ahLst/>
            <a:cxnLst/>
            <a:rect l="l" t="t" r="r" b="b"/>
            <a:pathLst>
              <a:path w="511666" h="448223">
                <a:moveTo>
                  <a:pt x="0" y="0"/>
                </a:moveTo>
                <a:lnTo>
                  <a:pt x="511666" y="0"/>
                </a:lnTo>
                <a:lnTo>
                  <a:pt x="511666" y="448223"/>
                </a:lnTo>
                <a:lnTo>
                  <a:pt x="0" y="448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440" t="-70955" r="-47398" b="-14504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678737" y="2171345"/>
            <a:ext cx="215321" cy="284692"/>
          </a:xfrm>
          <a:custGeom>
            <a:avLst/>
            <a:gdLst/>
            <a:ahLst/>
            <a:cxnLst/>
            <a:rect l="l" t="t" r="r" b="b"/>
            <a:pathLst>
              <a:path w="322981" h="427038">
                <a:moveTo>
                  <a:pt x="0" y="0"/>
                </a:moveTo>
                <a:lnTo>
                  <a:pt x="322981" y="0"/>
                </a:lnTo>
                <a:lnTo>
                  <a:pt x="322981" y="427039"/>
                </a:lnTo>
                <a:lnTo>
                  <a:pt x="0" y="42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541" t="-52395" r="-86084" b="-11736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289769" y="2127876"/>
            <a:ext cx="329543" cy="319245"/>
          </a:xfrm>
          <a:custGeom>
            <a:avLst/>
            <a:gdLst/>
            <a:ahLst/>
            <a:cxnLst/>
            <a:rect l="l" t="t" r="r" b="b"/>
            <a:pathLst>
              <a:path w="494315" h="478868">
                <a:moveTo>
                  <a:pt x="0" y="0"/>
                </a:moveTo>
                <a:lnTo>
                  <a:pt x="494316" y="0"/>
                </a:lnTo>
                <a:lnTo>
                  <a:pt x="494316" y="478868"/>
                </a:lnTo>
                <a:lnTo>
                  <a:pt x="0" y="478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019848" y="4377798"/>
            <a:ext cx="2949179" cy="29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3"/>
              </a:lnSpc>
            </a:pP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Admin Page(</a:t>
            </a:r>
            <a:r>
              <a:rPr lang="en-US" sz="178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8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520845" y="4104170"/>
            <a:ext cx="7150311" cy="2208809"/>
            <a:chOff x="0" y="0"/>
            <a:chExt cx="1565429" cy="4835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65429" cy="483578"/>
            </a:xfrm>
            <a:custGeom>
              <a:avLst/>
              <a:gdLst/>
              <a:ahLst/>
              <a:cxnLst/>
              <a:rect l="l" t="t" r="r" b="b"/>
              <a:pathLst>
                <a:path w="1565429" h="483578">
                  <a:moveTo>
                    <a:pt x="0" y="0"/>
                  </a:moveTo>
                  <a:lnTo>
                    <a:pt x="1565429" y="0"/>
                  </a:lnTo>
                  <a:lnTo>
                    <a:pt x="1565429" y="483578"/>
                  </a:lnTo>
                  <a:lnTo>
                    <a:pt x="0" y="4835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49494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565429" cy="57882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9769" y="4500978"/>
            <a:ext cx="2874362" cy="1201066"/>
            <a:chOff x="0" y="0"/>
            <a:chExt cx="950341" cy="39700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0341" cy="397002"/>
            </a:xfrm>
            <a:custGeom>
              <a:avLst/>
              <a:gdLst/>
              <a:ahLst/>
              <a:cxnLst/>
              <a:rect l="l" t="t" r="r" b="b"/>
              <a:pathLst>
                <a:path w="950341" h="397002">
                  <a:moveTo>
                    <a:pt x="950341" y="34117"/>
                  </a:moveTo>
                  <a:lnTo>
                    <a:pt x="950341" y="362885"/>
                  </a:lnTo>
                  <a:cubicBezTo>
                    <a:pt x="950341" y="371933"/>
                    <a:pt x="946747" y="380611"/>
                    <a:pt x="940348" y="387009"/>
                  </a:cubicBezTo>
                  <a:cubicBezTo>
                    <a:pt x="933950" y="393408"/>
                    <a:pt x="925272" y="397002"/>
                    <a:pt x="916224" y="397002"/>
                  </a:cubicBezTo>
                  <a:lnTo>
                    <a:pt x="34117" y="397002"/>
                  </a:lnTo>
                  <a:cubicBezTo>
                    <a:pt x="25069" y="397002"/>
                    <a:pt x="16391" y="393408"/>
                    <a:pt x="9993" y="387009"/>
                  </a:cubicBezTo>
                  <a:cubicBezTo>
                    <a:pt x="3594" y="380611"/>
                    <a:pt x="0" y="371933"/>
                    <a:pt x="0" y="362885"/>
                  </a:cubicBezTo>
                  <a:lnTo>
                    <a:pt x="0" y="34117"/>
                  </a:lnTo>
                  <a:cubicBezTo>
                    <a:pt x="0" y="25069"/>
                    <a:pt x="3594" y="16391"/>
                    <a:pt x="9993" y="9993"/>
                  </a:cubicBezTo>
                  <a:cubicBezTo>
                    <a:pt x="16391" y="3594"/>
                    <a:pt x="25069" y="0"/>
                    <a:pt x="34117" y="0"/>
                  </a:cubicBezTo>
                  <a:lnTo>
                    <a:pt x="916224" y="0"/>
                  </a:lnTo>
                  <a:cubicBezTo>
                    <a:pt x="925272" y="0"/>
                    <a:pt x="933950" y="3594"/>
                    <a:pt x="940348" y="9993"/>
                  </a:cubicBezTo>
                  <a:cubicBezTo>
                    <a:pt x="946747" y="16391"/>
                    <a:pt x="950341" y="25069"/>
                    <a:pt x="950341" y="341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49494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950341" cy="49225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6442089" y="4717182"/>
            <a:ext cx="412442" cy="314142"/>
          </a:xfrm>
          <a:custGeom>
            <a:avLst/>
            <a:gdLst/>
            <a:ahLst/>
            <a:cxnLst/>
            <a:rect l="l" t="t" r="r" b="b"/>
            <a:pathLst>
              <a:path w="618663" h="471213">
                <a:moveTo>
                  <a:pt x="0" y="0"/>
                </a:moveTo>
                <a:lnTo>
                  <a:pt x="618663" y="0"/>
                </a:lnTo>
                <a:lnTo>
                  <a:pt x="618663" y="471213"/>
                </a:lnTo>
                <a:lnTo>
                  <a:pt x="0" y="47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799" t="-53157" r="-21815" b="-97957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288730" y="609600"/>
            <a:ext cx="5614541" cy="60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프로젝트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구조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839511" y="2142163"/>
            <a:ext cx="2949179" cy="29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3"/>
              </a:lnSpc>
            </a:pP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Public Page(</a:t>
            </a:r>
            <a:r>
              <a:rPr lang="en-US" sz="178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8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49291" y="2555467"/>
            <a:ext cx="2362685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버스,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849292" y="2879518"/>
            <a:ext cx="20667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실시간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위치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849292" y="3184749"/>
            <a:ext cx="20667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공지사항/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문의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849292" y="3489980"/>
            <a:ext cx="2066730" cy="254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분실물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577864" y="2125129"/>
            <a:ext cx="2769087" cy="29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3"/>
              </a:lnSpc>
            </a:pP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User Page(</a:t>
            </a:r>
            <a:r>
              <a:rPr lang="en-US" sz="178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8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77864" y="2528846"/>
            <a:ext cx="20667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개인화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서비스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577864" y="2852896"/>
            <a:ext cx="20667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즐겨찾기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577864" y="3158128"/>
            <a:ext cx="20667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개인정보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577864" y="3463360"/>
            <a:ext cx="20667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분실물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854531" y="4679082"/>
            <a:ext cx="2066730" cy="29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3"/>
              </a:lnSpc>
            </a:pP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Bus Page( </a:t>
            </a:r>
            <a:r>
              <a:rPr lang="en-US" sz="178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88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93585" y="5132924"/>
            <a:ext cx="20667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분실물,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2196639" y="1224508"/>
            <a:ext cx="7474517" cy="936364"/>
            <a:chOff x="-70979" y="-47710"/>
            <a:chExt cx="1636408" cy="2049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65429" cy="109749"/>
            </a:xfrm>
            <a:custGeom>
              <a:avLst/>
              <a:gdLst/>
              <a:ahLst/>
              <a:cxnLst/>
              <a:rect l="l" t="t" r="r" b="b"/>
              <a:pathLst>
                <a:path w="1565429" h="109749">
                  <a:moveTo>
                    <a:pt x="0" y="0"/>
                  </a:moveTo>
                  <a:lnTo>
                    <a:pt x="1565429" y="0"/>
                  </a:lnTo>
                  <a:lnTo>
                    <a:pt x="1565429" y="109749"/>
                  </a:lnTo>
                  <a:lnTo>
                    <a:pt x="0" y="109749"/>
                  </a:lnTo>
                  <a:close/>
                </a:path>
              </a:pathLst>
            </a:custGeom>
            <a:solidFill>
              <a:srgbClr val="949494"/>
            </a:solidFill>
            <a:ln w="38100" cap="sq">
              <a:solidFill>
                <a:srgbClr val="94949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-70979" y="-47710"/>
              <a:ext cx="1565429" cy="2049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r>
                <a:rPr lang="en-US" sz="1733" b="1" spc="117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통합</a:t>
              </a:r>
              <a:r>
                <a:rPr lang="en-US" sz="1733" b="1" spc="117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733" b="1" spc="117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버스</a:t>
              </a:r>
              <a:r>
                <a:rPr lang="en-US" sz="1733" b="1" spc="117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733" b="1" spc="117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플랫폼</a:t>
              </a:r>
              <a:r>
                <a:rPr lang="en-US" sz="1733" b="1" spc="117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733" b="1" spc="117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타바요</a:t>
              </a:r>
              <a:endParaRPr lang="en-US" sz="1733" b="1" spc="117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860378" y="4856182"/>
            <a:ext cx="147458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시스템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860378" y="5180233"/>
            <a:ext cx="147458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게시글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860378" y="5485464"/>
            <a:ext cx="147458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광고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314100" y="4836153"/>
            <a:ext cx="147458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회원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314100" y="5132924"/>
            <a:ext cx="147458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버스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314100" y="5485464"/>
            <a:ext cx="1770545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9"/>
              </a:lnSpc>
            </a:pP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버스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54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54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549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541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09044" y="315755"/>
            <a:ext cx="11557781" cy="6107187"/>
          </a:xfrm>
          <a:custGeom>
            <a:avLst/>
            <a:gdLst/>
            <a:ahLst/>
            <a:cxnLst/>
            <a:rect l="l" t="t" r="r" b="b"/>
            <a:pathLst>
              <a:path w="4566037" h="2412716">
                <a:moveTo>
                  <a:pt x="0" y="0"/>
                </a:moveTo>
                <a:lnTo>
                  <a:pt x="4566037" y="0"/>
                </a:lnTo>
                <a:lnTo>
                  <a:pt x="4566037" y="2412716"/>
                </a:lnTo>
                <a:lnTo>
                  <a:pt x="0" y="2412716"/>
                </a:lnTo>
                <a:close/>
              </a:path>
            </a:pathLst>
          </a:custGeom>
          <a:solidFill>
            <a:srgbClr val="FEFCF9"/>
          </a:solidFill>
        </p:spPr>
      </p:sp>
      <p:sp>
        <p:nvSpPr>
          <p:cNvPr id="4" name="TextBox 4"/>
          <p:cNvSpPr txBox="1"/>
          <p:nvPr/>
        </p:nvSpPr>
        <p:spPr>
          <a:xfrm>
            <a:off x="209044" y="219314"/>
            <a:ext cx="11557781" cy="6203628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60658"/>
              </p:ext>
            </p:extLst>
          </p:nvPr>
        </p:nvGraphicFramePr>
        <p:xfrm>
          <a:off x="657049" y="1903025"/>
          <a:ext cx="2085465" cy="3539490"/>
        </p:xfrm>
        <a:graphic>
          <a:graphicData uri="http://schemas.openxmlformats.org/drawingml/2006/table">
            <a:tbl>
              <a:tblPr/>
              <a:tblGrid>
                <a:gridCol w="20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991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버스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이용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안내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버스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요금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버스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운행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시간표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저상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버스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운행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시간표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정류장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조회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버스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회사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조회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92839"/>
              </p:ext>
            </p:extLst>
          </p:nvPr>
        </p:nvGraphicFramePr>
        <p:xfrm>
          <a:off x="2840783" y="1903025"/>
          <a:ext cx="2085465" cy="1772463"/>
        </p:xfrm>
        <a:graphic>
          <a:graphicData uri="http://schemas.openxmlformats.org/drawingml/2006/table">
            <a:tbl>
              <a:tblPr/>
              <a:tblGrid>
                <a:gridCol w="20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0821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분실물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센터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821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분실물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신고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821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습득물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조회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536335"/>
              </p:ext>
            </p:extLst>
          </p:nvPr>
        </p:nvGraphicFramePr>
        <p:xfrm>
          <a:off x="5024517" y="1903025"/>
          <a:ext cx="2085465" cy="2361472"/>
        </p:xfrm>
        <a:graphic>
          <a:graphicData uri="http://schemas.openxmlformats.org/drawingml/2006/table">
            <a:tbl>
              <a:tblPr/>
              <a:tblGrid>
                <a:gridCol w="20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0368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알림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마당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68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공지사항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368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저상버스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대체안내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368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Q&amp;A</a:t>
                      </a:r>
                      <a:endParaRPr lang="en-US" sz="700" b="1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210199"/>
              </p:ext>
            </p:extLst>
          </p:nvPr>
        </p:nvGraphicFramePr>
        <p:xfrm>
          <a:off x="7205232" y="1903025"/>
          <a:ext cx="2085465" cy="2950485"/>
        </p:xfrm>
        <a:graphic>
          <a:graphicData uri="http://schemas.openxmlformats.org/drawingml/2006/table">
            <a:tbl>
              <a:tblPr/>
              <a:tblGrid>
                <a:gridCol w="20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0097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마이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페이지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097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즐겨찾기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097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분실물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097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Q&amp;A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097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API 키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52527"/>
              </p:ext>
            </p:extLst>
          </p:nvPr>
        </p:nvGraphicFramePr>
        <p:xfrm>
          <a:off x="9385947" y="1903025"/>
          <a:ext cx="2085465" cy="4058771"/>
        </p:xfrm>
        <a:graphic>
          <a:graphicData uri="http://schemas.openxmlformats.org/drawingml/2006/table">
            <a:tbl>
              <a:tblPr/>
              <a:tblGrid>
                <a:gridCol w="20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980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관리자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페이지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80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게시글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관리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80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광고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관리</a:t>
                      </a:r>
                      <a:endParaRPr lang="en-US" sz="700" b="1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80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분실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/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습득물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관리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80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정류장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관리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10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시스템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관리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805">
                <a:tc>
                  <a:txBody>
                    <a:bodyPr/>
                    <a:lstStyle/>
                    <a:p>
                      <a:pPr algn="ctr">
                        <a:lnSpc>
                          <a:spcPts val="2834"/>
                        </a:lnSpc>
                        <a:defRPr/>
                      </a:pP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사용자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 </a:t>
                      </a:r>
                      <a:r>
                        <a:rPr lang="en-US" sz="1300" b="1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aperlogy Semi-Bold"/>
                          <a:sym typeface="Paperlogy Semi-Bold"/>
                        </a:rPr>
                        <a:t>관리</a:t>
                      </a:r>
                      <a:endParaRPr lang="en-US" sz="700"/>
                    </a:p>
                  </a:txBody>
                  <a:tcPr marL="108618" marR="108618" marT="108618" marB="108618" anchor="ctr">
                    <a:lnL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46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3288730" y="609600"/>
            <a:ext cx="5614541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메뉴</a:t>
            </a:r>
            <a:r>
              <a:rPr lang="en-US" sz="3734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sz="3734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23123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 rot="6000">
            <a:off x="1152990" y="1491788"/>
            <a:ext cx="10059413" cy="2235408"/>
          </a:xfrm>
          <a:custGeom>
            <a:avLst/>
            <a:gdLst/>
            <a:ahLst/>
            <a:cxnLst/>
            <a:rect l="l" t="t" r="r" b="b"/>
            <a:pathLst>
              <a:path w="15089120" h="3353112">
                <a:moveTo>
                  <a:pt x="0" y="26325"/>
                </a:moveTo>
                <a:lnTo>
                  <a:pt x="15083313" y="0"/>
                </a:lnTo>
                <a:lnTo>
                  <a:pt x="15089120" y="3326787"/>
                </a:lnTo>
                <a:lnTo>
                  <a:pt x="5806" y="3353112"/>
                </a:lnTo>
                <a:lnTo>
                  <a:pt x="0" y="26325"/>
                </a:lnTo>
                <a:close/>
              </a:path>
            </a:pathLst>
          </a:custGeom>
          <a:blipFill>
            <a:blip r:embed="rId3"/>
            <a:stretch>
              <a:fillRect l="-1048" t="-4630" r="-1203" b="-1903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10644" y="1882343"/>
            <a:ext cx="948909" cy="349127"/>
          </a:xfrm>
          <a:custGeom>
            <a:avLst/>
            <a:gdLst/>
            <a:ahLst/>
            <a:cxnLst/>
            <a:rect l="l" t="t" r="r" b="b"/>
            <a:pathLst>
              <a:path w="1423363" h="523690">
                <a:moveTo>
                  <a:pt x="0" y="0"/>
                </a:moveTo>
                <a:lnTo>
                  <a:pt x="1423363" y="0"/>
                </a:lnTo>
                <a:lnTo>
                  <a:pt x="1423363" y="523691"/>
                </a:lnTo>
                <a:lnTo>
                  <a:pt x="0" y="523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51049" y="3951142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1048" y="4493070"/>
            <a:ext cx="6962173" cy="319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41" lvl="1" indent="-194321">
              <a:lnSpc>
                <a:spcPts val="2790"/>
              </a:lnSpc>
              <a:spcBef>
                <a:spcPct val="0"/>
              </a:spcBef>
              <a:buFont typeface="Arial"/>
              <a:buChar char="•"/>
            </a:pP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헤더에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유저가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접속할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페이지를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b="1" spc="122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1049" y="4965511"/>
            <a:ext cx="9855365" cy="67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41" lvl="1" indent="-194321">
              <a:lnSpc>
                <a:spcPts val="2790"/>
              </a:lnSpc>
              <a:spcBef>
                <a:spcPct val="0"/>
              </a:spcBef>
              <a:buFont typeface="Arial"/>
              <a:buChar char="•"/>
            </a:pP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헤더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오른편에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USER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등급이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접속하면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접속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바로가기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ADMIN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등급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접속하면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관리자페이지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접속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바로가기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b="1" spc="122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1049" y="5723700"/>
            <a:ext cx="9855365" cy="31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41" lvl="1" indent="-194321">
              <a:lnSpc>
                <a:spcPts val="2790"/>
              </a:lnSpc>
              <a:spcBef>
                <a:spcPct val="0"/>
              </a:spcBef>
              <a:buFont typeface="Arial"/>
              <a:buChar char="•"/>
            </a:pP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헤더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오른편에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로그아웃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구현하여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편의성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향상</a:t>
            </a:r>
            <a:endParaRPr lang="en-US" b="1" spc="122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71224" y="2188244"/>
            <a:ext cx="2042892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400" b="1" spc="117">
                <a:solidFill>
                  <a:srgbClr val="D924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</a:t>
            </a:r>
            <a:r>
              <a:rPr lang="ko-KR" altLang="en-US" sz="1400" b="1" spc="117">
                <a:solidFill>
                  <a:srgbClr val="D924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</a:t>
            </a:r>
            <a:r>
              <a:rPr lang="en-US" sz="1400" b="1" spc="117">
                <a:solidFill>
                  <a:srgbClr val="D924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에 </a:t>
            </a:r>
            <a:r>
              <a:rPr lang="en-US" sz="1400" b="1" spc="117" err="1">
                <a:solidFill>
                  <a:srgbClr val="D924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따라</a:t>
            </a:r>
            <a:r>
              <a:rPr lang="en-US" sz="1400" b="1" spc="117">
                <a:solidFill>
                  <a:srgbClr val="D924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400" b="1" spc="117" err="1">
                <a:solidFill>
                  <a:srgbClr val="D924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바뀜</a:t>
            </a:r>
            <a:r>
              <a:rPr lang="en-US" sz="1400" b="1" spc="117">
                <a:solidFill>
                  <a:srgbClr val="D924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3288729" y="534818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9310643" y="1554480"/>
            <a:ext cx="948909" cy="67699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83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976048" y="1505629"/>
            <a:ext cx="10239905" cy="533668"/>
          </a:xfrm>
          <a:custGeom>
            <a:avLst/>
            <a:gdLst/>
            <a:ahLst/>
            <a:cxnLst/>
            <a:rect l="l" t="t" r="r" b="b"/>
            <a:pathLst>
              <a:path w="15359858" h="800502">
                <a:moveTo>
                  <a:pt x="0" y="0"/>
                </a:moveTo>
                <a:lnTo>
                  <a:pt x="15359858" y="0"/>
                </a:lnTo>
                <a:lnTo>
                  <a:pt x="15359858" y="800502"/>
                </a:lnTo>
                <a:lnTo>
                  <a:pt x="0" y="800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992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98861" y="2039297"/>
            <a:ext cx="1369781" cy="1697474"/>
          </a:xfrm>
          <a:custGeom>
            <a:avLst/>
            <a:gdLst/>
            <a:ahLst/>
            <a:cxnLst/>
            <a:rect l="l" t="t" r="r" b="b"/>
            <a:pathLst>
              <a:path w="2054671" h="2546211">
                <a:moveTo>
                  <a:pt x="0" y="0"/>
                </a:moveTo>
                <a:lnTo>
                  <a:pt x="2054671" y="0"/>
                </a:lnTo>
                <a:lnTo>
                  <a:pt x="2054671" y="2546211"/>
                </a:lnTo>
                <a:lnTo>
                  <a:pt x="0" y="2546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37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568641" y="2039297"/>
            <a:ext cx="903263" cy="658688"/>
          </a:xfrm>
          <a:custGeom>
            <a:avLst/>
            <a:gdLst/>
            <a:ahLst/>
            <a:cxnLst/>
            <a:rect l="l" t="t" r="r" b="b"/>
            <a:pathLst>
              <a:path w="1354894" h="988032">
                <a:moveTo>
                  <a:pt x="0" y="0"/>
                </a:moveTo>
                <a:lnTo>
                  <a:pt x="1354894" y="0"/>
                </a:lnTo>
                <a:lnTo>
                  <a:pt x="1354894" y="988032"/>
                </a:lnTo>
                <a:lnTo>
                  <a:pt x="0" y="988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0956" r="-65696" b="-1952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68312" y="2039297"/>
            <a:ext cx="1427688" cy="1115894"/>
          </a:xfrm>
          <a:custGeom>
            <a:avLst/>
            <a:gdLst/>
            <a:ahLst/>
            <a:cxnLst/>
            <a:rect l="l" t="t" r="r" b="b"/>
            <a:pathLst>
              <a:path w="2141532" h="1673841">
                <a:moveTo>
                  <a:pt x="0" y="0"/>
                </a:moveTo>
                <a:lnTo>
                  <a:pt x="2141532" y="0"/>
                </a:lnTo>
                <a:lnTo>
                  <a:pt x="2141532" y="1673842"/>
                </a:lnTo>
                <a:lnTo>
                  <a:pt x="0" y="1673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201280" y="2039297"/>
            <a:ext cx="2990296" cy="471779"/>
          </a:xfrm>
          <a:custGeom>
            <a:avLst/>
            <a:gdLst/>
            <a:ahLst/>
            <a:cxnLst/>
            <a:rect l="l" t="t" r="r" b="b"/>
            <a:pathLst>
              <a:path w="4485444" h="707668">
                <a:moveTo>
                  <a:pt x="0" y="0"/>
                </a:moveTo>
                <a:lnTo>
                  <a:pt x="4485444" y="0"/>
                </a:lnTo>
                <a:lnTo>
                  <a:pt x="4485444" y="707668"/>
                </a:lnTo>
                <a:lnTo>
                  <a:pt x="0" y="7076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54" r="-733" b="-45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71180" y="2511076"/>
            <a:ext cx="2920397" cy="497089"/>
          </a:xfrm>
          <a:custGeom>
            <a:avLst/>
            <a:gdLst/>
            <a:ahLst/>
            <a:cxnLst/>
            <a:rect l="l" t="t" r="r" b="b"/>
            <a:pathLst>
              <a:path w="4380595" h="745633">
                <a:moveTo>
                  <a:pt x="0" y="0"/>
                </a:moveTo>
                <a:lnTo>
                  <a:pt x="4380595" y="0"/>
                </a:lnTo>
                <a:lnTo>
                  <a:pt x="4380595" y="745633"/>
                </a:lnTo>
                <a:lnTo>
                  <a:pt x="0" y="7456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288729" y="503265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51049" y="3951142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51049" y="4493070"/>
            <a:ext cx="5882378" cy="31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41" lvl="1" indent="-194321">
              <a:lnSpc>
                <a:spcPts val="2790"/>
              </a:lnSpc>
              <a:spcBef>
                <a:spcPct val="0"/>
              </a:spcBef>
              <a:buFont typeface="Arial"/>
              <a:buChar char="•"/>
            </a:pP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왼쪽에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귀여운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로고를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넣어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친근한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분위기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더함</a:t>
            </a:r>
            <a:endParaRPr lang="en-US" b="1" spc="122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51049" y="4965510"/>
            <a:ext cx="5549009" cy="319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41" lvl="1" indent="-194321">
              <a:lnSpc>
                <a:spcPts val="2790"/>
              </a:lnSpc>
              <a:spcBef>
                <a:spcPct val="0"/>
              </a:spcBef>
              <a:buFont typeface="Arial"/>
              <a:buChar char="•"/>
            </a:pP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등급에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따라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다르게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보이는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동적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UI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1049" y="5437950"/>
            <a:ext cx="9855365" cy="31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41" lvl="1" indent="-194321">
              <a:lnSpc>
                <a:spcPts val="2790"/>
              </a:lnSpc>
              <a:spcBef>
                <a:spcPct val="0"/>
              </a:spcBef>
              <a:buFont typeface="Arial"/>
              <a:buChar char="•"/>
            </a:pP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날씨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로그아웃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실사용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편의성</a:t>
            </a:r>
            <a:r>
              <a:rPr lang="en-US" b="1" spc="122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b="1" spc="122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강조</a:t>
            </a:r>
            <a:endParaRPr lang="en-US" b="1" spc="122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296039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61798" y="1591550"/>
            <a:ext cx="4645402" cy="4625183"/>
            <a:chOff x="0" y="0"/>
            <a:chExt cx="1835220" cy="1827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5221" cy="1827233"/>
            </a:xfrm>
            <a:custGeom>
              <a:avLst/>
              <a:gdLst/>
              <a:ahLst/>
              <a:cxnLst/>
              <a:rect l="l" t="t" r="r" b="b"/>
              <a:pathLst>
                <a:path w="1835221" h="1827233">
                  <a:moveTo>
                    <a:pt x="0" y="0"/>
                  </a:moveTo>
                  <a:lnTo>
                    <a:pt x="1835221" y="0"/>
                  </a:lnTo>
                  <a:lnTo>
                    <a:pt x="1835221" y="1827233"/>
                  </a:lnTo>
                  <a:lnTo>
                    <a:pt x="0" y="182723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35220" cy="18748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72736" y="3075206"/>
            <a:ext cx="2805494" cy="322044"/>
            <a:chOff x="0" y="0"/>
            <a:chExt cx="1108329" cy="1271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8329" cy="127171"/>
            </a:xfrm>
            <a:custGeom>
              <a:avLst/>
              <a:gdLst/>
              <a:ahLst/>
              <a:cxnLst/>
              <a:rect l="l" t="t" r="r" b="b"/>
              <a:pathLst>
                <a:path w="1108329" h="127171">
                  <a:moveTo>
                    <a:pt x="1108329" y="0"/>
                  </a:moveTo>
                  <a:lnTo>
                    <a:pt x="1108329" y="127171"/>
                  </a:lnTo>
                  <a:lnTo>
                    <a:pt x="0" y="127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108329" cy="17479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검색창</a:t>
              </a:r>
              <a:endParaRPr lang="en-US" sz="12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7385" y="5145190"/>
            <a:ext cx="2220358" cy="835928"/>
            <a:chOff x="0" y="0"/>
            <a:chExt cx="877178" cy="3302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7178" cy="330243"/>
            </a:xfrm>
            <a:custGeom>
              <a:avLst/>
              <a:gdLst/>
              <a:ahLst/>
              <a:cxnLst/>
              <a:rect l="l" t="t" r="r" b="b"/>
              <a:pathLst>
                <a:path w="877178" h="330243">
                  <a:moveTo>
                    <a:pt x="0" y="0"/>
                  </a:moveTo>
                  <a:lnTo>
                    <a:pt x="877178" y="0"/>
                  </a:lnTo>
                  <a:lnTo>
                    <a:pt x="877178" y="330243"/>
                  </a:lnTo>
                  <a:lnTo>
                    <a:pt x="0" y="33024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77178" cy="38739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519"/>
                </a:lnSpc>
              </a:pPr>
              <a:r>
                <a:rPr lang="en-US" sz="1799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광고</a:t>
              </a:r>
              <a:endParaRPr lang="en-US" sz="1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65533" y="5145190"/>
            <a:ext cx="1290295" cy="835928"/>
            <a:chOff x="0" y="0"/>
            <a:chExt cx="509746" cy="3302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9746" cy="330243"/>
            </a:xfrm>
            <a:custGeom>
              <a:avLst/>
              <a:gdLst/>
              <a:ahLst/>
              <a:cxnLst/>
              <a:rect l="l" t="t" r="r" b="b"/>
              <a:pathLst>
                <a:path w="509746" h="330243">
                  <a:moveTo>
                    <a:pt x="0" y="0"/>
                  </a:moveTo>
                  <a:lnTo>
                    <a:pt x="509746" y="0"/>
                  </a:lnTo>
                  <a:lnTo>
                    <a:pt x="509746" y="330243"/>
                  </a:lnTo>
                  <a:lnTo>
                    <a:pt x="0" y="33024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09746" cy="38739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519"/>
                </a:lnSpc>
              </a:pPr>
              <a:r>
                <a:rPr lang="en-US" sz="1799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날씨</a:t>
              </a:r>
              <a:endParaRPr lang="en-US" sz="179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288730" y="60960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94133" y="1793637"/>
            <a:ext cx="1052559" cy="53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  <a:spcBef>
                <a:spcPct val="0"/>
              </a:spcBef>
            </a:pPr>
            <a:r>
              <a:rPr lang="en-US" sz="1399" b="1" spc="9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버스이용안내</a:t>
            </a:r>
            <a:endParaRPr lang="en-US" sz="1399" b="1" spc="9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594867" y="2450234"/>
            <a:ext cx="1387724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배너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이미지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183036" y="1799987"/>
            <a:ext cx="621421" cy="45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9"/>
              </a:lnSpc>
              <a:spcBef>
                <a:spcPct val="0"/>
              </a:spcBef>
            </a:pPr>
            <a:r>
              <a:rPr lang="en-US" sz="1199" spc="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회원정보</a:t>
            </a:r>
            <a:endParaRPr lang="en-US" sz="1199" spc="8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49948" y="1799987"/>
            <a:ext cx="611759" cy="45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9"/>
              </a:lnSpc>
              <a:spcBef>
                <a:spcPct val="0"/>
              </a:spcBef>
            </a:pPr>
            <a:r>
              <a:rPr lang="en-US" sz="1199" spc="8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로그아웃</a:t>
            </a:r>
            <a:endParaRPr lang="en-US" sz="1199" spc="8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09191" y="3665823"/>
            <a:ext cx="2532583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7"/>
              </a:lnSpc>
              <a:spcBef>
                <a:spcPct val="0"/>
              </a:spcBef>
            </a:pP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주요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바로가기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046692" y="4466310"/>
            <a:ext cx="2532583" cy="377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7"/>
              </a:lnSpc>
              <a:spcBef>
                <a:spcPct val="0"/>
              </a:spcBef>
            </a:pP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공지사항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137480" y="1787287"/>
            <a:ext cx="946285" cy="53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  <a:spcBef>
                <a:spcPct val="0"/>
              </a:spcBef>
            </a:pPr>
            <a:r>
              <a:rPr lang="en-US" sz="1399" b="1" spc="9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399" b="1" spc="9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399" b="1" spc="9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센터</a:t>
            </a:r>
            <a:endParaRPr lang="en-US" sz="1399" b="1" spc="9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153615" y="1787287"/>
            <a:ext cx="748256" cy="53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9"/>
              </a:lnSpc>
              <a:spcBef>
                <a:spcPct val="0"/>
              </a:spcBef>
            </a:pPr>
            <a:r>
              <a:rPr lang="en-US" sz="1399" b="1" spc="9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알림마당</a:t>
            </a:r>
            <a:endParaRPr lang="en-US" sz="1399" b="1" spc="9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419985" y="1387155"/>
            <a:ext cx="5947764" cy="5033973"/>
          </a:xfrm>
          <a:custGeom>
            <a:avLst/>
            <a:gdLst/>
            <a:ahLst/>
            <a:cxnLst/>
            <a:rect l="l" t="t" r="r" b="b"/>
            <a:pathLst>
              <a:path w="8921646" h="7550960">
                <a:moveTo>
                  <a:pt x="0" y="0"/>
                </a:moveTo>
                <a:lnTo>
                  <a:pt x="8921645" y="0"/>
                </a:lnTo>
                <a:lnTo>
                  <a:pt x="8921645" y="7550959"/>
                </a:lnTo>
                <a:lnTo>
                  <a:pt x="0" y="7550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46" b="-6790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640798" y="1251409"/>
            <a:ext cx="5049552" cy="5417915"/>
          </a:xfrm>
          <a:custGeom>
            <a:avLst/>
            <a:gdLst/>
            <a:ahLst/>
            <a:cxnLst/>
            <a:rect l="l" t="t" r="r" b="b"/>
            <a:pathLst>
              <a:path w="7574328" h="8126872">
                <a:moveTo>
                  <a:pt x="0" y="0"/>
                </a:moveTo>
                <a:lnTo>
                  <a:pt x="7574328" y="0"/>
                </a:lnTo>
                <a:lnTo>
                  <a:pt x="7574328" y="8126872"/>
                </a:lnTo>
                <a:lnTo>
                  <a:pt x="0" y="8126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36" t="-1124" r="-1761" b="-31482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6430742" y="3429000"/>
            <a:ext cx="420113" cy="42011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</p:spTree>
    <p:extLst>
      <p:ext uri="{BB962C8B-B14F-4D97-AF65-F5344CB8AC3E}">
        <p14:creationId xmlns:p14="http://schemas.microsoft.com/office/powerpoint/2010/main" val="3394583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091931" y="1580752"/>
            <a:ext cx="10414269" cy="1457998"/>
          </a:xfrm>
          <a:custGeom>
            <a:avLst/>
            <a:gdLst/>
            <a:ahLst/>
            <a:cxnLst/>
            <a:rect l="l" t="t" r="r" b="b"/>
            <a:pathLst>
              <a:path w="15621404" h="2186997">
                <a:moveTo>
                  <a:pt x="0" y="0"/>
                </a:moveTo>
                <a:lnTo>
                  <a:pt x="15621404" y="0"/>
                </a:lnTo>
                <a:lnTo>
                  <a:pt x="15621404" y="2186997"/>
                </a:lnTo>
                <a:lnTo>
                  <a:pt x="0" y="2186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83978" y="3301532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83977" y="3964751"/>
            <a:ext cx="7007007" cy="35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23" lvl="1" indent="-215911">
              <a:lnSpc>
                <a:spcPts val="31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하단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고정</a:t>
            </a:r>
            <a:endParaRPr lang="en-US" sz="2000" b="1" spc="13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83977" y="4452854"/>
            <a:ext cx="7007007" cy="35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23" lvl="1" indent="-215911">
              <a:lnSpc>
                <a:spcPts val="31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반응형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레이아웃</a:t>
            </a:r>
            <a:endParaRPr lang="en-US" sz="2000" b="1" spc="13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83977" y="4940956"/>
            <a:ext cx="7007007" cy="35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23" lvl="1" indent="-215911">
              <a:lnSpc>
                <a:spcPts val="31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고객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지원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정책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2000" b="1" spc="13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53721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471711"/>
            <a:ext cx="5652819" cy="3737632"/>
          </a:xfrm>
          <a:custGeom>
            <a:avLst/>
            <a:gdLst/>
            <a:ahLst/>
            <a:cxnLst/>
            <a:rect l="l" t="t" r="r" b="b"/>
            <a:pathLst>
              <a:path w="8479228" h="5606448">
                <a:moveTo>
                  <a:pt x="0" y="0"/>
                </a:moveTo>
                <a:lnTo>
                  <a:pt x="8479228" y="0"/>
                </a:lnTo>
                <a:lnTo>
                  <a:pt x="8479228" y="5606448"/>
                </a:lnTo>
                <a:lnTo>
                  <a:pt x="0" y="560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73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95090" y="1668363"/>
            <a:ext cx="497223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리스트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95090" y="2217997"/>
            <a:ext cx="5499076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형태로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검색창을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ID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컬럼은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아이콘을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30013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091324" y="1773133"/>
            <a:ext cx="5739645" cy="3386390"/>
          </a:xfrm>
          <a:custGeom>
            <a:avLst/>
            <a:gdLst/>
            <a:ahLst/>
            <a:cxnLst/>
            <a:rect l="l" t="t" r="r" b="b"/>
            <a:pathLst>
              <a:path w="8609467" h="5079585">
                <a:moveTo>
                  <a:pt x="0" y="0"/>
                </a:moveTo>
                <a:lnTo>
                  <a:pt x="8609467" y="0"/>
                </a:lnTo>
                <a:lnTo>
                  <a:pt x="8609467" y="5079585"/>
                </a:lnTo>
                <a:lnTo>
                  <a:pt x="0" y="507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5134168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리스트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39857" y="2225260"/>
            <a:ext cx="5252143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형태로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할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검색창을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ID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컬럼은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아이콘을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988172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291848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471711"/>
            <a:ext cx="5652819" cy="3747463"/>
          </a:xfrm>
          <a:custGeom>
            <a:avLst/>
            <a:gdLst/>
            <a:ahLst/>
            <a:cxnLst/>
            <a:rect l="l" t="t" r="r" b="b"/>
            <a:pathLst>
              <a:path w="8479228" h="5621194">
                <a:moveTo>
                  <a:pt x="0" y="0"/>
                </a:moveTo>
                <a:lnTo>
                  <a:pt x="8479228" y="0"/>
                </a:lnTo>
                <a:lnTo>
                  <a:pt x="8479228" y="5621194"/>
                </a:lnTo>
                <a:lnTo>
                  <a:pt x="0" y="5621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45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97223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02661" y="2306898"/>
            <a:ext cx="5146847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특정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90178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813594" y="1686569"/>
            <a:ext cx="5861401" cy="3338679"/>
          </a:xfrm>
          <a:custGeom>
            <a:avLst/>
            <a:gdLst/>
            <a:ahLst/>
            <a:cxnLst/>
            <a:rect l="l" t="t" r="r" b="b"/>
            <a:pathLst>
              <a:path w="8792102" h="5008019">
                <a:moveTo>
                  <a:pt x="0" y="0"/>
                </a:moveTo>
                <a:lnTo>
                  <a:pt x="8792102" y="0"/>
                </a:lnTo>
                <a:lnTo>
                  <a:pt x="8792102" y="5008019"/>
                </a:lnTo>
                <a:lnTo>
                  <a:pt x="0" y="5008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" r="-29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80997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02661" y="2306898"/>
            <a:ext cx="5162699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특정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603907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471712"/>
            <a:ext cx="5652819" cy="3708141"/>
          </a:xfrm>
          <a:custGeom>
            <a:avLst/>
            <a:gdLst/>
            <a:ahLst/>
            <a:cxnLst/>
            <a:rect l="l" t="t" r="r" b="b"/>
            <a:pathLst>
              <a:path w="8479228" h="5562212">
                <a:moveTo>
                  <a:pt x="0" y="0"/>
                </a:moveTo>
                <a:lnTo>
                  <a:pt x="8479228" y="0"/>
                </a:lnTo>
                <a:lnTo>
                  <a:pt x="8479228" y="5562212"/>
                </a:lnTo>
                <a:lnTo>
                  <a:pt x="0" y="5562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56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20640" y="1471712"/>
            <a:ext cx="497223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44505" y="1994186"/>
            <a:ext cx="5252143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정/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역방향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설명을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할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저장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입력값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변경사항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저장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불가능하며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‘🔒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보호됨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’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추가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6365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919920" y="1669462"/>
            <a:ext cx="5914416" cy="3519077"/>
          </a:xfrm>
          <a:custGeom>
            <a:avLst/>
            <a:gdLst/>
            <a:ahLst/>
            <a:cxnLst/>
            <a:rect l="l" t="t" r="r" b="b"/>
            <a:pathLst>
              <a:path w="8871624" h="5278616">
                <a:moveTo>
                  <a:pt x="0" y="0"/>
                </a:moveTo>
                <a:lnTo>
                  <a:pt x="8871624" y="0"/>
                </a:lnTo>
                <a:lnTo>
                  <a:pt x="8871624" y="5278616"/>
                </a:lnTo>
                <a:lnTo>
                  <a:pt x="0" y="527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28264"/>
            <a:ext cx="463540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39857" y="2036658"/>
            <a:ext cx="5252143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정/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역방향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설명을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할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추가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불가능하며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‘🔒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보호됨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’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저장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입력값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변경사항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저장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362798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672122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052668"/>
            <a:ext cx="10039927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서비스를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이용하기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생성하고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함</a:t>
            </a: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식별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절차를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절차를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신뢰성과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보안을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소셜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(GOOGLE, KAKAO 등)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방식을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지원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가능하도록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연결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47584" y="5300212"/>
            <a:ext cx="10945019" cy="1009236"/>
            <a:chOff x="0" y="0"/>
            <a:chExt cx="4323958" cy="3987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23958" cy="398711"/>
            </a:xfrm>
            <a:custGeom>
              <a:avLst/>
              <a:gdLst/>
              <a:ahLst/>
              <a:cxnLst/>
              <a:rect l="l" t="t" r="r" b="b"/>
              <a:pathLst>
                <a:path w="4323958" h="398711">
                  <a:moveTo>
                    <a:pt x="8017" y="0"/>
                  </a:moveTo>
                  <a:lnTo>
                    <a:pt x="4315942" y="0"/>
                  </a:lnTo>
                  <a:cubicBezTo>
                    <a:pt x="4318068" y="0"/>
                    <a:pt x="4320107" y="845"/>
                    <a:pt x="4321610" y="2348"/>
                  </a:cubicBezTo>
                  <a:cubicBezTo>
                    <a:pt x="4323114" y="3851"/>
                    <a:pt x="4323958" y="5890"/>
                    <a:pt x="4323958" y="8017"/>
                  </a:cubicBezTo>
                  <a:lnTo>
                    <a:pt x="4323958" y="390694"/>
                  </a:lnTo>
                  <a:cubicBezTo>
                    <a:pt x="4323958" y="392820"/>
                    <a:pt x="4323114" y="394859"/>
                    <a:pt x="4321610" y="396363"/>
                  </a:cubicBezTo>
                  <a:cubicBezTo>
                    <a:pt x="4320107" y="397866"/>
                    <a:pt x="4318068" y="398711"/>
                    <a:pt x="4315942" y="398711"/>
                  </a:cubicBezTo>
                  <a:lnTo>
                    <a:pt x="8017" y="398711"/>
                  </a:lnTo>
                  <a:cubicBezTo>
                    <a:pt x="3589" y="398711"/>
                    <a:pt x="0" y="395121"/>
                    <a:pt x="0" y="390694"/>
                  </a:cubicBezTo>
                  <a:lnTo>
                    <a:pt x="0" y="8017"/>
                  </a:lnTo>
                  <a:cubicBezTo>
                    <a:pt x="0" y="5890"/>
                    <a:pt x="845" y="3851"/>
                    <a:pt x="2348" y="2348"/>
                  </a:cubicBezTo>
                  <a:cubicBezTo>
                    <a:pt x="3851" y="845"/>
                    <a:pt x="5890" y="0"/>
                    <a:pt x="80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4323958" cy="4939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47584" y="4168668"/>
            <a:ext cx="10945019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회원가입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↓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소셜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←┙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175934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484571" y="1310015"/>
            <a:ext cx="3067519" cy="4385103"/>
          </a:xfrm>
          <a:custGeom>
            <a:avLst/>
            <a:gdLst/>
            <a:ahLst/>
            <a:cxnLst/>
            <a:rect l="l" t="t" r="r" b="b"/>
            <a:pathLst>
              <a:path w="4601279" h="6577655">
                <a:moveTo>
                  <a:pt x="0" y="0"/>
                </a:moveTo>
                <a:lnTo>
                  <a:pt x="4601280" y="0"/>
                </a:lnTo>
                <a:lnTo>
                  <a:pt x="4601280" y="6577655"/>
                </a:lnTo>
                <a:lnTo>
                  <a:pt x="0" y="6577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94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728094" y="1705246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28094" y="2321462"/>
            <a:ext cx="5072033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새로운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생성할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회원가입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폼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실시간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길이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특수문자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포함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등)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절차를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포함하여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코드를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검증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완료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가입하기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활성화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892990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790277" y="1310014"/>
            <a:ext cx="2305205" cy="4777626"/>
          </a:xfrm>
          <a:custGeom>
            <a:avLst/>
            <a:gdLst/>
            <a:ahLst/>
            <a:cxnLst/>
            <a:rect l="l" t="t" r="r" b="b"/>
            <a:pathLst>
              <a:path w="3457807" h="7166439">
                <a:moveTo>
                  <a:pt x="0" y="0"/>
                </a:moveTo>
                <a:lnTo>
                  <a:pt x="3457807" y="0"/>
                </a:lnTo>
                <a:lnTo>
                  <a:pt x="3457807" y="7166439"/>
                </a:lnTo>
                <a:lnTo>
                  <a:pt x="0" y="7166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096000" y="1692029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49902" y="2308578"/>
            <a:ext cx="5853429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새로운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생성할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회원가입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폼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실시간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길이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특수문자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포함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등)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절차를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포함하여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코드를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검증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가입하기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활성화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841792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986892" y="1074088"/>
            <a:ext cx="4480106" cy="4661065"/>
          </a:xfrm>
          <a:custGeom>
            <a:avLst/>
            <a:gdLst/>
            <a:ahLst/>
            <a:cxnLst/>
            <a:rect l="l" t="t" r="r" b="b"/>
            <a:pathLst>
              <a:path w="6720159" h="6991597">
                <a:moveTo>
                  <a:pt x="0" y="0"/>
                </a:moveTo>
                <a:lnTo>
                  <a:pt x="6720159" y="0"/>
                </a:lnTo>
                <a:lnTo>
                  <a:pt x="6720159" y="6991597"/>
                </a:lnTo>
                <a:lnTo>
                  <a:pt x="0" y="6991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94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403897" y="1723858"/>
            <a:ext cx="4186998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57472" y="2148656"/>
            <a:ext cx="5005532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아이디와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입력값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소셜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0411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09" y="317218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721380" y="1534661"/>
            <a:ext cx="2708045" cy="4141199"/>
          </a:xfrm>
          <a:custGeom>
            <a:avLst/>
            <a:gdLst/>
            <a:ahLst/>
            <a:cxnLst/>
            <a:rect l="l" t="t" r="r" b="b"/>
            <a:pathLst>
              <a:path w="4062068" h="6211799">
                <a:moveTo>
                  <a:pt x="0" y="0"/>
                </a:moveTo>
                <a:lnTo>
                  <a:pt x="4062069" y="0"/>
                </a:lnTo>
                <a:lnTo>
                  <a:pt x="4062069" y="6211799"/>
                </a:lnTo>
                <a:lnTo>
                  <a:pt x="0" y="6211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420536" y="1726441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82411" y="2201768"/>
            <a:ext cx="4935033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아이디와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입력값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인증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소셜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115469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183744" y="1437567"/>
            <a:ext cx="4912256" cy="3373389"/>
          </a:xfrm>
          <a:custGeom>
            <a:avLst/>
            <a:gdLst/>
            <a:ahLst/>
            <a:cxnLst/>
            <a:rect l="l" t="t" r="r" b="b"/>
            <a:pathLst>
              <a:path w="7368384" h="5060084">
                <a:moveTo>
                  <a:pt x="0" y="0"/>
                </a:moveTo>
                <a:lnTo>
                  <a:pt x="7368384" y="0"/>
                </a:lnTo>
                <a:lnTo>
                  <a:pt x="7368384" y="5060084"/>
                </a:lnTo>
                <a:lnTo>
                  <a:pt x="0" y="5060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690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279206" y="1644970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453564" y="2262565"/>
            <a:ext cx="5325571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발급받을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보안을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일회성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유효기간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설정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085238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09" y="338590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64139" y="1773133"/>
            <a:ext cx="3270163" cy="3238103"/>
          </a:xfrm>
          <a:custGeom>
            <a:avLst/>
            <a:gdLst/>
            <a:ahLst/>
            <a:cxnLst/>
            <a:rect l="l" t="t" r="r" b="b"/>
            <a:pathLst>
              <a:path w="4905245" h="4857154">
                <a:moveTo>
                  <a:pt x="0" y="0"/>
                </a:moveTo>
                <a:lnTo>
                  <a:pt x="4905245" y="0"/>
                </a:lnTo>
                <a:lnTo>
                  <a:pt x="4905245" y="4857154"/>
                </a:lnTo>
                <a:lnTo>
                  <a:pt x="0" y="4857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301808" y="1773133"/>
            <a:ext cx="3600853" cy="3147531"/>
          </a:xfrm>
          <a:custGeom>
            <a:avLst/>
            <a:gdLst/>
            <a:ahLst/>
            <a:cxnLst/>
            <a:rect l="l" t="t" r="r" b="b"/>
            <a:pathLst>
              <a:path w="5401279" h="4721297">
                <a:moveTo>
                  <a:pt x="0" y="0"/>
                </a:moveTo>
                <a:lnTo>
                  <a:pt x="5401279" y="0"/>
                </a:lnTo>
                <a:lnTo>
                  <a:pt x="5401279" y="4721297"/>
                </a:lnTo>
                <a:lnTo>
                  <a:pt x="0" y="472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781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902661" y="2264786"/>
            <a:ext cx="5188411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발급받을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보안을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임시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유효기간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설정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129809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672122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211418"/>
            <a:ext cx="10482910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일반회원에게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부여하여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개인화된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정보수정,탈퇴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조회,삭제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노선,정류장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등록,수정,삭제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API키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조회,신청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나의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나의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993342" y="5207414"/>
            <a:ext cx="10150086" cy="1009236"/>
          </a:xfrm>
          <a:custGeom>
            <a:avLst/>
            <a:gdLst/>
            <a:ahLst/>
            <a:cxnLst/>
            <a:rect l="l" t="t" r="r" b="b"/>
            <a:pathLst>
              <a:path w="4226869" h="398711">
                <a:moveTo>
                  <a:pt x="8201" y="0"/>
                </a:moveTo>
                <a:lnTo>
                  <a:pt x="4218668" y="0"/>
                </a:lnTo>
                <a:cubicBezTo>
                  <a:pt x="4223197" y="0"/>
                  <a:pt x="4226869" y="3672"/>
                  <a:pt x="4226869" y="8201"/>
                </a:cubicBezTo>
                <a:lnTo>
                  <a:pt x="4226869" y="390510"/>
                </a:lnTo>
                <a:cubicBezTo>
                  <a:pt x="4226869" y="392685"/>
                  <a:pt x="4226005" y="394771"/>
                  <a:pt x="4224467" y="396309"/>
                </a:cubicBezTo>
                <a:cubicBezTo>
                  <a:pt x="4222929" y="397847"/>
                  <a:pt x="4220843" y="398711"/>
                  <a:pt x="4218668" y="398711"/>
                </a:cubicBezTo>
                <a:lnTo>
                  <a:pt x="8201" y="398711"/>
                </a:lnTo>
                <a:cubicBezTo>
                  <a:pt x="3672" y="398711"/>
                  <a:pt x="0" y="395039"/>
                  <a:pt x="0" y="390510"/>
                </a:cubicBezTo>
                <a:lnTo>
                  <a:pt x="0" y="8201"/>
                </a:lnTo>
                <a:cubicBezTo>
                  <a:pt x="0" y="3672"/>
                  <a:pt x="3672" y="0"/>
                  <a:pt x="8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747585" y="4172722"/>
            <a:ext cx="10395843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525282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685800" y="1440572"/>
            <a:ext cx="5655268" cy="4670001"/>
          </a:xfrm>
          <a:custGeom>
            <a:avLst/>
            <a:gdLst/>
            <a:ahLst/>
            <a:cxnLst/>
            <a:rect l="l" t="t" r="r" b="b"/>
            <a:pathLst>
              <a:path w="8482902" h="7005002">
                <a:moveTo>
                  <a:pt x="0" y="0"/>
                </a:moveTo>
                <a:lnTo>
                  <a:pt x="8482902" y="0"/>
                </a:lnTo>
                <a:lnTo>
                  <a:pt x="8482902" y="7005001"/>
                </a:lnTo>
                <a:lnTo>
                  <a:pt x="0" y="7005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83" b="-568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010726" y="2253748"/>
            <a:ext cx="4935033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환영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메시지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접속일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현황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건수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대기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건수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승인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여부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하단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45652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96311" y="2186306"/>
            <a:ext cx="6287231" cy="2884267"/>
          </a:xfrm>
          <a:custGeom>
            <a:avLst/>
            <a:gdLst/>
            <a:ahLst/>
            <a:cxnLst/>
            <a:rect l="l" t="t" r="r" b="b"/>
            <a:pathLst>
              <a:path w="9430846" h="4326400">
                <a:moveTo>
                  <a:pt x="0" y="0"/>
                </a:moveTo>
                <a:lnTo>
                  <a:pt x="9430846" y="0"/>
                </a:lnTo>
                <a:lnTo>
                  <a:pt x="9430846" y="4326400"/>
                </a:lnTo>
                <a:lnTo>
                  <a:pt x="0" y="4326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메인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056874" y="2172260"/>
            <a:ext cx="4997218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환영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메시지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접속일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현황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건수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대기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건수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승인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여부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하단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116119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490929"/>
            <a:ext cx="6008217" cy="3616728"/>
          </a:xfrm>
          <a:custGeom>
            <a:avLst/>
            <a:gdLst/>
            <a:ahLst/>
            <a:cxnLst/>
            <a:rect l="l" t="t" r="r" b="b"/>
            <a:pathLst>
              <a:path w="9012326" h="5425092">
                <a:moveTo>
                  <a:pt x="0" y="0"/>
                </a:moveTo>
                <a:lnTo>
                  <a:pt x="9012326" y="0"/>
                </a:lnTo>
                <a:lnTo>
                  <a:pt x="9012326" y="5425092"/>
                </a:lnTo>
                <a:lnTo>
                  <a:pt x="0" y="5425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64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39858" y="2105328"/>
            <a:ext cx="4935033" cy="314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입력창을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노선명,정류장명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아래에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구분하여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개별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MAP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805531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055680" y="1438075"/>
            <a:ext cx="5486518" cy="4529392"/>
          </a:xfrm>
          <a:custGeom>
            <a:avLst/>
            <a:gdLst/>
            <a:ahLst/>
            <a:cxnLst/>
            <a:rect l="l" t="t" r="r" b="b"/>
            <a:pathLst>
              <a:path w="8229777" h="6794088">
                <a:moveTo>
                  <a:pt x="0" y="0"/>
                </a:moveTo>
                <a:lnTo>
                  <a:pt x="8229777" y="0"/>
                </a:lnTo>
                <a:lnTo>
                  <a:pt x="8229777" y="6794087"/>
                </a:lnTo>
                <a:lnTo>
                  <a:pt x="0" y="6794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39858" y="2105328"/>
            <a:ext cx="4935033" cy="314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입력창을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노선명,정류장명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아래에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구분하여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개별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MAP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448010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1" y="1487944"/>
            <a:ext cx="5837763" cy="3538053"/>
          </a:xfrm>
          <a:custGeom>
            <a:avLst/>
            <a:gdLst/>
            <a:ahLst/>
            <a:cxnLst/>
            <a:rect l="l" t="t" r="r" b="b"/>
            <a:pathLst>
              <a:path w="8756645" h="5307079">
                <a:moveTo>
                  <a:pt x="0" y="0"/>
                </a:moveTo>
                <a:lnTo>
                  <a:pt x="8756645" y="0"/>
                </a:lnTo>
                <a:lnTo>
                  <a:pt x="8756645" y="5307079"/>
                </a:lnTo>
                <a:lnTo>
                  <a:pt x="0" y="5307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72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72341" y="2228379"/>
            <a:ext cx="5252142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형태로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나열되어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게시글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글은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제외됨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→ 화면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안내문구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0330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598909" y="1536103"/>
            <a:ext cx="5918047" cy="1679246"/>
          </a:xfrm>
          <a:custGeom>
            <a:avLst/>
            <a:gdLst/>
            <a:ahLst/>
            <a:cxnLst/>
            <a:rect l="l" t="t" r="r" b="b"/>
            <a:pathLst>
              <a:path w="8877070" h="2518869">
                <a:moveTo>
                  <a:pt x="0" y="0"/>
                </a:moveTo>
                <a:lnTo>
                  <a:pt x="8877071" y="0"/>
                </a:lnTo>
                <a:lnTo>
                  <a:pt x="8877071" y="2518869"/>
                </a:lnTo>
                <a:lnTo>
                  <a:pt x="0" y="2518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4975" y="3215349"/>
            <a:ext cx="5745913" cy="2621573"/>
          </a:xfrm>
          <a:custGeom>
            <a:avLst/>
            <a:gdLst/>
            <a:ahLst/>
            <a:cxnLst/>
            <a:rect l="l" t="t" r="r" b="b"/>
            <a:pathLst>
              <a:path w="8618870" h="3932360">
                <a:moveTo>
                  <a:pt x="0" y="0"/>
                </a:moveTo>
                <a:lnTo>
                  <a:pt x="8618870" y="0"/>
                </a:lnTo>
                <a:lnTo>
                  <a:pt x="8618870" y="3932360"/>
                </a:lnTo>
                <a:lnTo>
                  <a:pt x="0" y="3932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748202" y="153610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48202" y="2174643"/>
            <a:ext cx="5371291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형태로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나열되어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게시글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글은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제외됨→화면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안내문구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027591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1" y="1487945"/>
            <a:ext cx="5837763" cy="3547883"/>
          </a:xfrm>
          <a:custGeom>
            <a:avLst/>
            <a:gdLst/>
            <a:ahLst/>
            <a:cxnLst/>
            <a:rect l="l" t="t" r="r" b="b"/>
            <a:pathLst>
              <a:path w="8756645" h="5321825">
                <a:moveTo>
                  <a:pt x="0" y="0"/>
                </a:moveTo>
                <a:lnTo>
                  <a:pt x="8756645" y="0"/>
                </a:lnTo>
                <a:lnTo>
                  <a:pt x="8756645" y="5321824"/>
                </a:lnTo>
                <a:lnTo>
                  <a:pt x="0" y="5321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2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88730" y="60960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Q&amp;A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48945" y="2172260"/>
            <a:ext cx="4725946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비공개Q&amp;A인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경우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🔒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아이콘과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함께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글은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제외됨→화면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문구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885446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167483" y="1773133"/>
            <a:ext cx="5433663" cy="3742435"/>
          </a:xfrm>
          <a:custGeom>
            <a:avLst/>
            <a:gdLst/>
            <a:ahLst/>
            <a:cxnLst/>
            <a:rect l="l" t="t" r="r" b="b"/>
            <a:pathLst>
              <a:path w="8150494" h="5613653">
                <a:moveTo>
                  <a:pt x="0" y="0"/>
                </a:moveTo>
                <a:lnTo>
                  <a:pt x="8150494" y="0"/>
                </a:lnTo>
                <a:lnTo>
                  <a:pt x="8150494" y="5613652"/>
                </a:lnTo>
                <a:lnTo>
                  <a:pt x="0" y="5613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Q&amp;A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39858" y="2105328"/>
            <a:ext cx="4935033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비공개Q&amp;A인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경우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🔒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아이콘과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함께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글은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제외됨→화면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우측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문구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879092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343673" y="1310015"/>
            <a:ext cx="4118713" cy="4367075"/>
          </a:xfrm>
          <a:custGeom>
            <a:avLst/>
            <a:gdLst/>
            <a:ahLst/>
            <a:cxnLst/>
            <a:rect l="l" t="t" r="r" b="b"/>
            <a:pathLst>
              <a:path w="6178069" h="6550613">
                <a:moveTo>
                  <a:pt x="0" y="0"/>
                </a:moveTo>
                <a:lnTo>
                  <a:pt x="6178069" y="0"/>
                </a:lnTo>
                <a:lnTo>
                  <a:pt x="6178069" y="6550613"/>
                </a:lnTo>
                <a:lnTo>
                  <a:pt x="0" y="6550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37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333130" y="1678222"/>
            <a:ext cx="418699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API KEY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8949" y="2124162"/>
            <a:ext cx="5252142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마스킹된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(****)로 출력되며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키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현재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재발급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재발급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발급받은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SWAGGER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UI를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OPEN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호출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5596256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486" y="375405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97411" y="1678222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API KEY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71878" y="2220680"/>
            <a:ext cx="5604047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마스킹된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(****)로 출력되며</a:t>
            </a:r>
          </a:p>
          <a:p>
            <a:pPr algn="just">
              <a:lnSpc>
                <a:spcPts val="3467"/>
              </a:lnSpc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키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현재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상태,발급일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재발급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재발급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발급받은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SWAGGER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UI를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OPEN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호출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618144" y="1654107"/>
            <a:ext cx="5578233" cy="3549785"/>
          </a:xfrm>
          <a:custGeom>
            <a:avLst/>
            <a:gdLst/>
            <a:ahLst/>
            <a:cxnLst/>
            <a:rect l="l" t="t" r="r" b="b"/>
            <a:pathLst>
              <a:path w="8367350" h="5324677">
                <a:moveTo>
                  <a:pt x="0" y="0"/>
                </a:moveTo>
                <a:lnTo>
                  <a:pt x="8367350" y="0"/>
                </a:lnTo>
                <a:lnTo>
                  <a:pt x="8367350" y="5324678"/>
                </a:lnTo>
                <a:lnTo>
                  <a:pt x="0" y="5324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3901790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808412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키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211418"/>
            <a:ext cx="1002026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관리하기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OPEN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통제하고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승인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비활성화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수행할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있음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7585" y="4128272"/>
            <a:ext cx="10395843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[API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활성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307279" y="5162964"/>
            <a:ext cx="9859887" cy="1009236"/>
          </a:xfrm>
          <a:custGeom>
            <a:avLst/>
            <a:gdLst/>
            <a:ahLst/>
            <a:cxnLst/>
            <a:rect l="l" t="t" r="r" b="b"/>
            <a:pathLst>
              <a:path w="3895264" h="398711">
                <a:moveTo>
                  <a:pt x="8899" y="0"/>
                </a:moveTo>
                <a:lnTo>
                  <a:pt x="3886365" y="0"/>
                </a:lnTo>
                <a:cubicBezTo>
                  <a:pt x="3888725" y="0"/>
                  <a:pt x="3890989" y="938"/>
                  <a:pt x="3892658" y="2606"/>
                </a:cubicBezTo>
                <a:cubicBezTo>
                  <a:pt x="3894327" y="4275"/>
                  <a:pt x="3895264" y="6539"/>
                  <a:pt x="3895264" y="8899"/>
                </a:cubicBezTo>
                <a:lnTo>
                  <a:pt x="3895264" y="389812"/>
                </a:lnTo>
                <a:cubicBezTo>
                  <a:pt x="3895264" y="392172"/>
                  <a:pt x="3894327" y="394435"/>
                  <a:pt x="3892658" y="396104"/>
                </a:cubicBezTo>
                <a:cubicBezTo>
                  <a:pt x="3890989" y="397773"/>
                  <a:pt x="3888725" y="398711"/>
                  <a:pt x="3886365" y="398711"/>
                </a:cubicBezTo>
                <a:lnTo>
                  <a:pt x="8899" y="398711"/>
                </a:lnTo>
                <a:cubicBezTo>
                  <a:pt x="3984" y="398711"/>
                  <a:pt x="0" y="394726"/>
                  <a:pt x="0" y="389812"/>
                </a:cubicBezTo>
                <a:lnTo>
                  <a:pt x="0" y="8899"/>
                </a:lnTo>
                <a:cubicBezTo>
                  <a:pt x="0" y="3984"/>
                  <a:pt x="3984" y="0"/>
                  <a:pt x="88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576408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09" y="350469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491633"/>
            <a:ext cx="6000113" cy="3638807"/>
          </a:xfrm>
          <a:custGeom>
            <a:avLst/>
            <a:gdLst/>
            <a:ahLst/>
            <a:cxnLst/>
            <a:rect l="l" t="t" r="r" b="b"/>
            <a:pathLst>
              <a:path w="9000170" h="5458210">
                <a:moveTo>
                  <a:pt x="0" y="0"/>
                </a:moveTo>
                <a:lnTo>
                  <a:pt x="9000170" y="0"/>
                </a:lnTo>
                <a:lnTo>
                  <a:pt x="9000170" y="5458210"/>
                </a:lnTo>
                <a:lnTo>
                  <a:pt x="0" y="54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94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483094" cy="378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API 키 </a:t>
            </a: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2133" b="1" spc="145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36170" y="2172260"/>
            <a:ext cx="5047095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전용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화면으로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모든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키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</a:p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키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(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아이디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,키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등)</a:t>
            </a:r>
          </a:p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키는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보안상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마스킹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처리되며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보기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키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승인을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통하여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OPEN API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</a:t>
            </a:r>
          </a:p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통제</a:t>
            </a:r>
            <a:endParaRPr lang="en-US" sz="1733" b="1" spc="117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933995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784103" y="1935270"/>
            <a:ext cx="5925939" cy="2962970"/>
          </a:xfrm>
          <a:custGeom>
            <a:avLst/>
            <a:gdLst/>
            <a:ahLst/>
            <a:cxnLst/>
            <a:rect l="l" t="t" r="r" b="b"/>
            <a:pathLst>
              <a:path w="8888909" h="4444455">
                <a:moveTo>
                  <a:pt x="0" y="0"/>
                </a:moveTo>
                <a:lnTo>
                  <a:pt x="8888909" y="0"/>
                </a:lnTo>
                <a:lnTo>
                  <a:pt x="8888909" y="4444454"/>
                </a:lnTo>
                <a:lnTo>
                  <a:pt x="0" y="4444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294314" cy="378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API 키 </a:t>
            </a:r>
            <a:r>
              <a:rPr lang="en-US" sz="2133" b="1" spc="145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2133" b="1" spc="145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39858" y="2105328"/>
            <a:ext cx="4997218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(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,키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등)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보안상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마스킹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처리되며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API 키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승인을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OPEN API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3198283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7892935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회원관리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211418"/>
            <a:ext cx="10039927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한눈에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확인하고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주요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기반으로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효율적으로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다양한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속성을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비교하거나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대규모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데이터도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페이지네이션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편리하게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83541" y="5181626"/>
            <a:ext cx="9859887" cy="1009236"/>
          </a:xfrm>
          <a:custGeom>
            <a:avLst/>
            <a:gdLst/>
            <a:ahLst/>
            <a:cxnLst/>
            <a:rect l="l" t="t" r="r" b="b"/>
            <a:pathLst>
              <a:path w="3895264" h="398711">
                <a:moveTo>
                  <a:pt x="8899" y="0"/>
                </a:moveTo>
                <a:lnTo>
                  <a:pt x="3886365" y="0"/>
                </a:lnTo>
                <a:cubicBezTo>
                  <a:pt x="3888725" y="0"/>
                  <a:pt x="3890989" y="938"/>
                  <a:pt x="3892658" y="2606"/>
                </a:cubicBezTo>
                <a:cubicBezTo>
                  <a:pt x="3894327" y="4275"/>
                  <a:pt x="3895264" y="6539"/>
                  <a:pt x="3895264" y="8899"/>
                </a:cubicBezTo>
                <a:lnTo>
                  <a:pt x="3895264" y="389812"/>
                </a:lnTo>
                <a:cubicBezTo>
                  <a:pt x="3895264" y="392172"/>
                  <a:pt x="3894327" y="394435"/>
                  <a:pt x="3892658" y="396104"/>
                </a:cubicBezTo>
                <a:cubicBezTo>
                  <a:pt x="3890989" y="397773"/>
                  <a:pt x="3888725" y="398711"/>
                  <a:pt x="3886365" y="398711"/>
                </a:cubicBezTo>
                <a:lnTo>
                  <a:pt x="8899" y="398711"/>
                </a:lnTo>
                <a:cubicBezTo>
                  <a:pt x="3984" y="398711"/>
                  <a:pt x="0" y="394726"/>
                  <a:pt x="0" y="389812"/>
                </a:cubicBezTo>
                <a:lnTo>
                  <a:pt x="0" y="8899"/>
                </a:lnTo>
                <a:cubicBezTo>
                  <a:pt x="0" y="3984"/>
                  <a:pt x="3984" y="0"/>
                  <a:pt x="88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747585" y="4128272"/>
            <a:ext cx="10395843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22767662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501463"/>
            <a:ext cx="6000113" cy="3707619"/>
          </a:xfrm>
          <a:custGeom>
            <a:avLst/>
            <a:gdLst/>
            <a:ahLst/>
            <a:cxnLst/>
            <a:rect l="l" t="t" r="r" b="b"/>
            <a:pathLst>
              <a:path w="9000170" h="5561428">
                <a:moveTo>
                  <a:pt x="0" y="0"/>
                </a:moveTo>
                <a:lnTo>
                  <a:pt x="9000170" y="0"/>
                </a:lnTo>
                <a:lnTo>
                  <a:pt x="9000170" y="5561429"/>
                </a:lnTo>
                <a:lnTo>
                  <a:pt x="0" y="5561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97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36170" y="2172260"/>
            <a:ext cx="5047095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전화번호로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382882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892236" y="1885225"/>
            <a:ext cx="5859574" cy="2812595"/>
          </a:xfrm>
          <a:custGeom>
            <a:avLst/>
            <a:gdLst/>
            <a:ahLst/>
            <a:cxnLst/>
            <a:rect l="l" t="t" r="r" b="b"/>
            <a:pathLst>
              <a:path w="8789361" h="4218893">
                <a:moveTo>
                  <a:pt x="0" y="0"/>
                </a:moveTo>
                <a:lnTo>
                  <a:pt x="8789361" y="0"/>
                </a:lnTo>
                <a:lnTo>
                  <a:pt x="8789361" y="4218893"/>
                </a:lnTo>
                <a:lnTo>
                  <a:pt x="0" y="4218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02661" y="1696933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02661" y="2172260"/>
            <a:ext cx="5072033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전화번호로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권한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0378525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26437" y="1310015"/>
            <a:ext cx="4118683" cy="4273499"/>
          </a:xfrm>
          <a:custGeom>
            <a:avLst/>
            <a:gdLst/>
            <a:ahLst/>
            <a:cxnLst/>
            <a:rect l="l" t="t" r="r" b="b"/>
            <a:pathLst>
              <a:path w="6178024" h="6410249">
                <a:moveTo>
                  <a:pt x="0" y="0"/>
                </a:moveTo>
                <a:lnTo>
                  <a:pt x="6178023" y="0"/>
                </a:lnTo>
                <a:lnTo>
                  <a:pt x="6178023" y="6410249"/>
                </a:lnTo>
                <a:lnTo>
                  <a:pt x="0" y="6410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28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096000" y="1647057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27707" y="2230019"/>
            <a:ext cx="5756246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형식으로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않은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배경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색상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발생한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활동을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0747244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89801" y="1696933"/>
            <a:ext cx="4506199" cy="4031529"/>
          </a:xfrm>
          <a:custGeom>
            <a:avLst/>
            <a:gdLst/>
            <a:ahLst/>
            <a:cxnLst/>
            <a:rect l="l" t="t" r="r" b="b"/>
            <a:pathLst>
              <a:path w="6759299" h="6047294">
                <a:moveTo>
                  <a:pt x="0" y="0"/>
                </a:moveTo>
                <a:lnTo>
                  <a:pt x="6759299" y="0"/>
                </a:lnTo>
                <a:lnTo>
                  <a:pt x="6759299" y="6047294"/>
                </a:lnTo>
                <a:lnTo>
                  <a:pt x="0" y="6047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499330" y="1686364"/>
            <a:ext cx="418699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17929" y="2161691"/>
            <a:ext cx="4935033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형식으로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버튼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각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개별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않은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배경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색상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등으로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발생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ko-KR" alt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이벤트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768418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69670" y="1372890"/>
            <a:ext cx="3010923" cy="4724725"/>
          </a:xfrm>
          <a:custGeom>
            <a:avLst/>
            <a:gdLst/>
            <a:ahLst/>
            <a:cxnLst/>
            <a:rect l="l" t="t" r="r" b="b"/>
            <a:pathLst>
              <a:path w="4516385" h="7087087">
                <a:moveTo>
                  <a:pt x="0" y="0"/>
                </a:moveTo>
                <a:lnTo>
                  <a:pt x="4516385" y="0"/>
                </a:lnTo>
                <a:lnTo>
                  <a:pt x="4516385" y="7087087"/>
                </a:lnTo>
                <a:lnTo>
                  <a:pt x="0" y="708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180" r="-16650" b="-624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28157" y="1875370"/>
            <a:ext cx="3218569" cy="2890496"/>
          </a:xfrm>
          <a:custGeom>
            <a:avLst/>
            <a:gdLst/>
            <a:ahLst/>
            <a:cxnLst/>
            <a:rect l="l" t="t" r="r" b="b"/>
            <a:pathLst>
              <a:path w="4827853" h="4335744">
                <a:moveTo>
                  <a:pt x="0" y="0"/>
                </a:moveTo>
                <a:lnTo>
                  <a:pt x="4827853" y="0"/>
                </a:lnTo>
                <a:lnTo>
                  <a:pt x="4827853" y="4335744"/>
                </a:lnTo>
                <a:lnTo>
                  <a:pt x="0" y="433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827" r="-21685" b="-20243"/>
            </a:stretch>
          </a:blip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8"/>
          <p:cNvSpPr txBox="1"/>
          <p:nvPr/>
        </p:nvSpPr>
        <p:spPr>
          <a:xfrm>
            <a:off x="6096000" y="1682134"/>
            <a:ext cx="602363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회원정보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291465" y="2212288"/>
            <a:ext cx="5471044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본인정보를 확인 </a:t>
            </a:r>
            <a:r>
              <a:rPr lang="ko-KR" alt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및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수정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불가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필드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하단에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섹션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포함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회원</a:t>
            </a:r>
            <a:r>
              <a:rPr lang="ko-KR" alt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 확인- 비밀번호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버튼 활성화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경고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메세지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창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7124712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00593"/>
            <a:ext cx="11557781" cy="6107187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752033" y="1466967"/>
            <a:ext cx="2652819" cy="4642433"/>
          </a:xfrm>
          <a:custGeom>
            <a:avLst/>
            <a:gdLst/>
            <a:ahLst/>
            <a:cxnLst/>
            <a:rect l="l" t="t" r="r" b="b"/>
            <a:pathLst>
              <a:path w="3979228" h="6963649">
                <a:moveTo>
                  <a:pt x="0" y="0"/>
                </a:moveTo>
                <a:lnTo>
                  <a:pt x="3979228" y="0"/>
                </a:lnTo>
                <a:lnTo>
                  <a:pt x="3979228" y="6963649"/>
                </a:lnTo>
                <a:lnTo>
                  <a:pt x="0" y="6963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04852" y="1986282"/>
            <a:ext cx="2921133" cy="2402837"/>
          </a:xfrm>
          <a:custGeom>
            <a:avLst/>
            <a:gdLst/>
            <a:ahLst/>
            <a:cxnLst/>
            <a:rect l="l" t="t" r="r" b="b"/>
            <a:pathLst>
              <a:path w="4931951" h="3881503">
                <a:moveTo>
                  <a:pt x="0" y="0"/>
                </a:moveTo>
                <a:lnTo>
                  <a:pt x="4931951" y="0"/>
                </a:lnTo>
                <a:lnTo>
                  <a:pt x="4931951" y="3881503"/>
                </a:lnTo>
                <a:lnTo>
                  <a:pt x="0" y="3881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2476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8"/>
          <p:cNvSpPr txBox="1"/>
          <p:nvPr/>
        </p:nvSpPr>
        <p:spPr>
          <a:xfrm>
            <a:off x="6217021" y="1597105"/>
            <a:ext cx="565787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회원정보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04934" y="2154514"/>
            <a:ext cx="5369957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불가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읽기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필드로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하단에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변경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섹션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포함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진행할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별도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비밀번호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활성화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탈퇴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경고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메세지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창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467"/>
              </a:lnSpc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3698105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73815" y="2259430"/>
            <a:ext cx="5629829" cy="3917091"/>
          </a:xfrm>
          <a:custGeom>
            <a:avLst/>
            <a:gdLst/>
            <a:ahLst/>
            <a:cxnLst/>
            <a:rect l="l" t="t" r="r" b="b"/>
            <a:pathLst>
              <a:path w="8444743" h="5875636">
                <a:moveTo>
                  <a:pt x="0" y="0"/>
                </a:moveTo>
                <a:lnTo>
                  <a:pt x="8444743" y="0"/>
                </a:lnTo>
                <a:lnTo>
                  <a:pt x="8444743" y="5875636"/>
                </a:lnTo>
                <a:lnTo>
                  <a:pt x="0" y="5875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09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03644" y="2255109"/>
            <a:ext cx="5630241" cy="3917091"/>
          </a:xfrm>
          <a:custGeom>
            <a:avLst/>
            <a:gdLst/>
            <a:ahLst/>
            <a:cxnLst/>
            <a:rect l="l" t="t" r="r" b="b"/>
            <a:pathLst>
              <a:path w="8445361" h="5875636">
                <a:moveTo>
                  <a:pt x="0" y="0"/>
                </a:moveTo>
                <a:lnTo>
                  <a:pt x="8445362" y="0"/>
                </a:lnTo>
                <a:lnTo>
                  <a:pt x="8445362" y="5875636"/>
                </a:lnTo>
                <a:lnTo>
                  <a:pt x="0" y="587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06"/>
            </a:stretch>
          </a:blipFill>
        </p:spPr>
      </p:sp>
      <p:sp>
        <p:nvSpPr>
          <p:cNvPr id="9" name="Freeform 9"/>
          <p:cNvSpPr/>
          <p:nvPr/>
        </p:nvSpPr>
        <p:spPr>
          <a:xfrm rot="6000">
            <a:off x="684362" y="604351"/>
            <a:ext cx="1344566" cy="1651928"/>
          </a:xfrm>
          <a:custGeom>
            <a:avLst/>
            <a:gdLst/>
            <a:ahLst/>
            <a:cxnLst/>
            <a:rect l="l" t="t" r="r" b="b"/>
            <a:pathLst>
              <a:path w="2016849" h="2477892">
                <a:moveTo>
                  <a:pt x="0" y="3513"/>
                </a:moveTo>
                <a:lnTo>
                  <a:pt x="2012531" y="0"/>
                </a:lnTo>
                <a:lnTo>
                  <a:pt x="2016850" y="2474380"/>
                </a:lnTo>
                <a:lnTo>
                  <a:pt x="4319" y="2477892"/>
                </a:lnTo>
                <a:lnTo>
                  <a:pt x="0" y="3513"/>
                </a:lnTo>
                <a:close/>
              </a:path>
            </a:pathLst>
          </a:custGeom>
          <a:blipFill>
            <a:blip r:embed="rId5"/>
            <a:stretch>
              <a:fillRect l="-272831" t="-6810" r="-392163" b="-6052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47700" y="1096961"/>
            <a:ext cx="1341689" cy="720328"/>
            <a:chOff x="0" y="0"/>
            <a:chExt cx="530050" cy="2845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0050" cy="284574"/>
            </a:xfrm>
            <a:custGeom>
              <a:avLst/>
              <a:gdLst/>
              <a:ahLst/>
              <a:cxnLst/>
              <a:rect l="l" t="t" r="r" b="b"/>
              <a:pathLst>
                <a:path w="530050" h="284574">
                  <a:moveTo>
                    <a:pt x="65396" y="0"/>
                  </a:moveTo>
                  <a:lnTo>
                    <a:pt x="464654" y="0"/>
                  </a:lnTo>
                  <a:cubicBezTo>
                    <a:pt x="500771" y="0"/>
                    <a:pt x="530050" y="29279"/>
                    <a:pt x="530050" y="65396"/>
                  </a:cubicBezTo>
                  <a:lnTo>
                    <a:pt x="530050" y="219178"/>
                  </a:lnTo>
                  <a:cubicBezTo>
                    <a:pt x="530050" y="255295"/>
                    <a:pt x="500771" y="284574"/>
                    <a:pt x="464654" y="284574"/>
                  </a:cubicBezTo>
                  <a:lnTo>
                    <a:pt x="65396" y="284574"/>
                  </a:lnTo>
                  <a:cubicBezTo>
                    <a:pt x="29279" y="284574"/>
                    <a:pt x="0" y="255295"/>
                    <a:pt x="0" y="219178"/>
                  </a:cubicBezTo>
                  <a:lnTo>
                    <a:pt x="0" y="65396"/>
                  </a:lnTo>
                  <a:cubicBezTo>
                    <a:pt x="0" y="29279"/>
                    <a:pt x="29279" y="0"/>
                    <a:pt x="65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FDA8F"/>
              </a:solidFill>
              <a:prstDash val="dash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530050" cy="3798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818014" y="181728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공지사항 목록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5170" y="180577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공지사항 상세</a:t>
            </a:r>
          </a:p>
        </p:txBody>
      </p:sp>
      <p:sp>
        <p:nvSpPr>
          <p:cNvPr id="15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764544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840" y="342156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2164853"/>
            <a:ext cx="6239447" cy="3383973"/>
          </a:xfrm>
          <a:custGeom>
            <a:avLst/>
            <a:gdLst/>
            <a:ahLst/>
            <a:cxnLst/>
            <a:rect l="l" t="t" r="r" b="b"/>
            <a:pathLst>
              <a:path w="9359171" h="5075960">
                <a:moveTo>
                  <a:pt x="0" y="0"/>
                </a:moveTo>
                <a:lnTo>
                  <a:pt x="9359171" y="0"/>
                </a:lnTo>
                <a:lnTo>
                  <a:pt x="9359171" y="5075960"/>
                </a:lnTo>
                <a:lnTo>
                  <a:pt x="0" y="5075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56557" y="1730823"/>
            <a:ext cx="5240922" cy="3980447"/>
          </a:xfrm>
          <a:custGeom>
            <a:avLst/>
            <a:gdLst/>
            <a:ahLst/>
            <a:cxnLst/>
            <a:rect l="l" t="t" r="r" b="b"/>
            <a:pathLst>
              <a:path w="7861383" h="5970671">
                <a:moveTo>
                  <a:pt x="0" y="0"/>
                </a:moveTo>
                <a:lnTo>
                  <a:pt x="7861383" y="0"/>
                </a:lnTo>
                <a:lnTo>
                  <a:pt x="7861383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1537855" y="5245331"/>
            <a:ext cx="46218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위로 구부러진 화살표 10"/>
          <p:cNvSpPr/>
          <p:nvPr/>
        </p:nvSpPr>
        <p:spPr>
          <a:xfrm rot="20850566">
            <a:off x="6041138" y="5141775"/>
            <a:ext cx="931025" cy="413099"/>
          </a:xfrm>
          <a:prstGeom prst="curved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6417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09" y="408658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92415" y="1371303"/>
            <a:ext cx="6095972" cy="4961927"/>
          </a:xfrm>
          <a:custGeom>
            <a:avLst/>
            <a:gdLst/>
            <a:ahLst/>
            <a:cxnLst/>
            <a:rect l="l" t="t" r="r" b="b"/>
            <a:pathLst>
              <a:path w="9143958" h="7442891">
                <a:moveTo>
                  <a:pt x="0" y="0"/>
                </a:moveTo>
                <a:lnTo>
                  <a:pt x="9143959" y="0"/>
                </a:lnTo>
                <a:lnTo>
                  <a:pt x="9143959" y="7442891"/>
                </a:lnTo>
                <a:lnTo>
                  <a:pt x="0" y="7442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472"/>
            </a:stretch>
          </a:blip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6578261" y="1882589"/>
            <a:ext cx="5079999" cy="4450640"/>
          </a:xfrm>
          <a:custGeom>
            <a:avLst/>
            <a:gdLst/>
            <a:ahLst/>
            <a:cxnLst/>
            <a:rect l="l" t="t" r="r" b="b"/>
            <a:pathLst>
              <a:path w="7619998" h="6675960">
                <a:moveTo>
                  <a:pt x="0" y="0"/>
                </a:moveTo>
                <a:lnTo>
                  <a:pt x="7619999" y="0"/>
                </a:lnTo>
                <a:lnTo>
                  <a:pt x="7619999" y="6675960"/>
                </a:lnTo>
                <a:lnTo>
                  <a:pt x="0" y="6675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204" t="-15251" r="-4955" b="-34061"/>
            </a:stretch>
          </a:blip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9" name="TextBox 9"/>
          <p:cNvSpPr txBox="1"/>
          <p:nvPr/>
        </p:nvSpPr>
        <p:spPr>
          <a:xfrm>
            <a:off x="559605" y="892405"/>
            <a:ext cx="1913007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00"/>
              </a:lnSpc>
              <a:spcBef>
                <a:spcPct val="0"/>
              </a:spcBef>
            </a:pP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2000" b="1" spc="13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00" b="1" spc="13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endParaRPr lang="en-US" sz="2000" b="1" spc="13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왼쪽으로 구부러진 화살표 10"/>
          <p:cNvSpPr/>
          <p:nvPr/>
        </p:nvSpPr>
        <p:spPr>
          <a:xfrm rot="18157643">
            <a:off x="6687454" y="1046013"/>
            <a:ext cx="508415" cy="102686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8392394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292300"/>
            <a:ext cx="6991279" cy="2892642"/>
          </a:xfrm>
          <a:custGeom>
            <a:avLst/>
            <a:gdLst/>
            <a:ahLst/>
            <a:cxnLst/>
            <a:rect l="l" t="t" r="r" b="b"/>
            <a:pathLst>
              <a:path w="10486919" h="4338963">
                <a:moveTo>
                  <a:pt x="0" y="0"/>
                </a:moveTo>
                <a:lnTo>
                  <a:pt x="10486919" y="0"/>
                </a:lnTo>
                <a:lnTo>
                  <a:pt x="10486919" y="4338963"/>
                </a:lnTo>
                <a:lnTo>
                  <a:pt x="0" y="4338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538086" y="2853411"/>
            <a:ext cx="5697251" cy="3677403"/>
          </a:xfrm>
          <a:custGeom>
            <a:avLst/>
            <a:gdLst/>
            <a:ahLst/>
            <a:cxnLst/>
            <a:rect l="l" t="t" r="r" b="b"/>
            <a:pathLst>
              <a:path w="8545877" h="5516105">
                <a:moveTo>
                  <a:pt x="0" y="0"/>
                </a:moveTo>
                <a:lnTo>
                  <a:pt x="8545876" y="0"/>
                </a:lnTo>
                <a:lnTo>
                  <a:pt x="8545876" y="5516105"/>
                </a:lnTo>
                <a:lnTo>
                  <a:pt x="0" y="551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323" t="-11211" r="-8845" b="-78483"/>
            </a:stretch>
          </a:blip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656636" y="3729522"/>
            <a:ext cx="2241896" cy="2849513"/>
          </a:xfrm>
          <a:custGeom>
            <a:avLst/>
            <a:gdLst/>
            <a:ahLst/>
            <a:cxnLst/>
            <a:rect l="l" t="t" r="r" b="b"/>
            <a:pathLst>
              <a:path w="3362844" h="4274269">
                <a:moveTo>
                  <a:pt x="0" y="0"/>
                </a:moveTo>
                <a:lnTo>
                  <a:pt x="3362844" y="0"/>
                </a:lnTo>
                <a:lnTo>
                  <a:pt x="3362844" y="4274269"/>
                </a:lnTo>
                <a:lnTo>
                  <a:pt x="0" y="4274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9" name="Freeform 9"/>
          <p:cNvSpPr/>
          <p:nvPr/>
        </p:nvSpPr>
        <p:spPr>
          <a:xfrm>
            <a:off x="7911546" y="396128"/>
            <a:ext cx="3360188" cy="1221293"/>
          </a:xfrm>
          <a:custGeom>
            <a:avLst/>
            <a:gdLst/>
            <a:ahLst/>
            <a:cxnLst/>
            <a:rect l="l" t="t" r="r" b="b"/>
            <a:pathLst>
              <a:path w="5040282" h="1831940">
                <a:moveTo>
                  <a:pt x="0" y="0"/>
                </a:moveTo>
                <a:lnTo>
                  <a:pt x="5040282" y="0"/>
                </a:lnTo>
                <a:lnTo>
                  <a:pt x="5040282" y="1831940"/>
                </a:lnTo>
                <a:lnTo>
                  <a:pt x="0" y="18319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37" t="-7244"/>
            </a:stretch>
          </a:blip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8400424" y="1598784"/>
            <a:ext cx="3360188" cy="1120259"/>
          </a:xfrm>
          <a:custGeom>
            <a:avLst/>
            <a:gdLst/>
            <a:ahLst/>
            <a:cxnLst/>
            <a:rect l="l" t="t" r="r" b="b"/>
            <a:pathLst>
              <a:path w="5040282" h="1680388">
                <a:moveTo>
                  <a:pt x="0" y="0"/>
                </a:moveTo>
                <a:lnTo>
                  <a:pt x="5040282" y="0"/>
                </a:lnTo>
                <a:lnTo>
                  <a:pt x="5040282" y="1680388"/>
                </a:lnTo>
                <a:lnTo>
                  <a:pt x="0" y="16803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63" r="-41329"/>
            </a:stretch>
          </a:blip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12" name="왼쪽으로 구부러진 화살표 11"/>
          <p:cNvSpPr/>
          <p:nvPr/>
        </p:nvSpPr>
        <p:spPr>
          <a:xfrm rot="19979178">
            <a:off x="7152871" y="2467619"/>
            <a:ext cx="503853" cy="7398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7474393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580611" y="1405479"/>
            <a:ext cx="5076515" cy="4976409"/>
          </a:xfrm>
          <a:custGeom>
            <a:avLst/>
            <a:gdLst/>
            <a:ahLst/>
            <a:cxnLst/>
            <a:rect l="l" t="t" r="r" b="b"/>
            <a:pathLst>
              <a:path w="7614773" h="7464614">
                <a:moveTo>
                  <a:pt x="0" y="0"/>
                </a:moveTo>
                <a:lnTo>
                  <a:pt x="7614773" y="0"/>
                </a:lnTo>
                <a:lnTo>
                  <a:pt x="7614773" y="7464614"/>
                </a:lnTo>
                <a:lnTo>
                  <a:pt x="0" y="7464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90"/>
            </a:stretch>
          </a:blip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199323" y="1329279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69111" y="1952815"/>
            <a:ext cx="5337089" cy="65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QUILL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에디터를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쉽게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스타일을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적용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169111" y="3113171"/>
            <a:ext cx="533708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첨부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파일은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형식에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없이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첨부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ko-KR" alt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169111" y="2701268"/>
            <a:ext cx="556846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본문에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직접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삽입할땐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QUILL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에디터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69111" y="3570681"/>
            <a:ext cx="5468707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팝업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중요한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공지</a:t>
            </a:r>
            <a:r>
              <a:rPr lang="ko-KR" alt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를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3974010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581542" y="1683661"/>
            <a:ext cx="5514458" cy="3801219"/>
          </a:xfrm>
          <a:custGeom>
            <a:avLst/>
            <a:gdLst/>
            <a:ahLst/>
            <a:cxnLst/>
            <a:rect l="l" t="t" r="r" b="b"/>
            <a:pathLst>
              <a:path w="8271687" h="5701828">
                <a:moveTo>
                  <a:pt x="0" y="0"/>
                </a:moveTo>
                <a:lnTo>
                  <a:pt x="8271687" y="0"/>
                </a:lnTo>
                <a:lnTo>
                  <a:pt x="8271687" y="5701828"/>
                </a:lnTo>
                <a:lnTo>
                  <a:pt x="0" y="5701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083"/>
            </a:stretch>
          </a:blip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6" name="Freeform 6"/>
          <p:cNvSpPr/>
          <p:nvPr/>
        </p:nvSpPr>
        <p:spPr>
          <a:xfrm>
            <a:off x="6269987" y="1683661"/>
            <a:ext cx="5514458" cy="3801219"/>
          </a:xfrm>
          <a:custGeom>
            <a:avLst/>
            <a:gdLst/>
            <a:ahLst/>
            <a:cxnLst/>
            <a:rect l="l" t="t" r="r" b="b"/>
            <a:pathLst>
              <a:path w="8271687" h="5701828">
                <a:moveTo>
                  <a:pt x="0" y="0"/>
                </a:moveTo>
                <a:lnTo>
                  <a:pt x="8271687" y="0"/>
                </a:lnTo>
                <a:lnTo>
                  <a:pt x="8271687" y="5701828"/>
                </a:lnTo>
                <a:lnTo>
                  <a:pt x="0" y="5701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083"/>
            </a:stretch>
          </a:blip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5945196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8449" y="370264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ln>
              <a:noFill/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527956" y="1402960"/>
            <a:ext cx="7155629" cy="4769241"/>
          </a:xfrm>
          <a:custGeom>
            <a:avLst/>
            <a:gdLst/>
            <a:ahLst/>
            <a:cxnLst/>
            <a:rect l="l" t="t" r="r" b="b"/>
            <a:pathLst>
              <a:path w="10733443" h="7153861">
                <a:moveTo>
                  <a:pt x="0" y="0"/>
                </a:moveTo>
                <a:lnTo>
                  <a:pt x="10733443" y="0"/>
                </a:lnTo>
                <a:lnTo>
                  <a:pt x="10733443" y="7153861"/>
                </a:lnTo>
                <a:lnTo>
                  <a:pt x="0" y="7153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985"/>
            </a:stretch>
          </a:blip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951940" y="1326760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05860" y="2769448"/>
            <a:ext cx="3957735" cy="65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카테고리별로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명확히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구분하여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직관적인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탐색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05860" y="1918546"/>
            <a:ext cx="3957735" cy="65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기능들을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가능하도록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05860" y="3619500"/>
            <a:ext cx="395773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대시보드에서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핵심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한눈에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파악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6481128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09" y="370264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528863" y="1154239"/>
            <a:ext cx="6981915" cy="5328355"/>
          </a:xfrm>
          <a:custGeom>
            <a:avLst/>
            <a:gdLst/>
            <a:ahLst/>
            <a:cxnLst/>
            <a:rect l="l" t="t" r="r" b="b"/>
            <a:pathLst>
              <a:path w="10472872" h="7992532">
                <a:moveTo>
                  <a:pt x="0" y="0"/>
                </a:moveTo>
                <a:lnTo>
                  <a:pt x="10472872" y="0"/>
                </a:lnTo>
                <a:lnTo>
                  <a:pt x="10472872" y="7992532"/>
                </a:lnTo>
                <a:lnTo>
                  <a:pt x="0" y="7992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4" r="-2445" b="-6409"/>
            </a:stretch>
          </a:blip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765325" y="1326760"/>
            <a:ext cx="1893211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19245" y="2769448"/>
            <a:ext cx="3957735" cy="65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카테고리별로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명확히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구분하여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직관적인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탐색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619245" y="1918546"/>
            <a:ext cx="3957735" cy="65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기능들을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최소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가능하도록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19245" y="3619500"/>
            <a:ext cx="395773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대시보드에서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핵심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한눈에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파악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7039891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74318" y="1466136"/>
            <a:ext cx="6238411" cy="4787629"/>
          </a:xfrm>
          <a:custGeom>
            <a:avLst/>
            <a:gdLst/>
            <a:ahLst/>
            <a:cxnLst/>
            <a:rect l="l" t="t" r="r" b="b"/>
            <a:pathLst>
              <a:path w="9357616" h="7181443">
                <a:moveTo>
                  <a:pt x="0" y="0"/>
                </a:moveTo>
                <a:lnTo>
                  <a:pt x="9357616" y="0"/>
                </a:lnTo>
                <a:lnTo>
                  <a:pt x="9357616" y="7181443"/>
                </a:lnTo>
                <a:lnTo>
                  <a:pt x="0" y="7181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33" b="-8123"/>
            </a:stretch>
          </a:blip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463786" y="1448705"/>
            <a:ext cx="5162162" cy="4658185"/>
          </a:xfrm>
          <a:custGeom>
            <a:avLst/>
            <a:gdLst/>
            <a:ahLst/>
            <a:cxnLst/>
            <a:rect l="l" t="t" r="r" b="b"/>
            <a:pathLst>
              <a:path w="7743243" h="6987278">
                <a:moveTo>
                  <a:pt x="0" y="0"/>
                </a:moveTo>
                <a:lnTo>
                  <a:pt x="7743243" y="0"/>
                </a:lnTo>
                <a:lnTo>
                  <a:pt x="7743243" y="6987277"/>
                </a:lnTo>
                <a:lnTo>
                  <a:pt x="0" y="6987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9" name="아래로 구부러진 화살표 8"/>
          <p:cNvSpPr/>
          <p:nvPr/>
        </p:nvSpPr>
        <p:spPr>
          <a:xfrm rot="20280405">
            <a:off x="6003915" y="2263889"/>
            <a:ext cx="1136416" cy="59617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8806373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18577" y="1391802"/>
            <a:ext cx="5799659" cy="4849965"/>
          </a:xfrm>
          <a:custGeom>
            <a:avLst/>
            <a:gdLst/>
            <a:ahLst/>
            <a:cxnLst/>
            <a:rect l="l" t="t" r="r" b="b"/>
            <a:pathLst>
              <a:path w="8699489" h="7274948">
                <a:moveTo>
                  <a:pt x="0" y="0"/>
                </a:moveTo>
                <a:lnTo>
                  <a:pt x="8699490" y="0"/>
                </a:lnTo>
                <a:lnTo>
                  <a:pt x="8699490" y="7274948"/>
                </a:lnTo>
                <a:lnTo>
                  <a:pt x="0" y="7274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813094" y="1391802"/>
            <a:ext cx="4592549" cy="4978142"/>
          </a:xfrm>
          <a:custGeom>
            <a:avLst/>
            <a:gdLst/>
            <a:ahLst/>
            <a:cxnLst/>
            <a:rect l="l" t="t" r="r" b="b"/>
            <a:pathLst>
              <a:path w="6888823" h="7467213">
                <a:moveTo>
                  <a:pt x="0" y="0"/>
                </a:moveTo>
                <a:lnTo>
                  <a:pt x="6888823" y="0"/>
                </a:lnTo>
                <a:lnTo>
                  <a:pt x="6888823" y="7467213"/>
                </a:lnTo>
                <a:lnTo>
                  <a:pt x="0" y="7467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776" t="-4889" b="-5778"/>
            </a:stretch>
          </a:blip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2879646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74318" y="1384572"/>
            <a:ext cx="6238411" cy="4787629"/>
          </a:xfrm>
          <a:custGeom>
            <a:avLst/>
            <a:gdLst/>
            <a:ahLst/>
            <a:cxnLst/>
            <a:rect l="l" t="t" r="r" b="b"/>
            <a:pathLst>
              <a:path w="9357616" h="7181443">
                <a:moveTo>
                  <a:pt x="0" y="0"/>
                </a:moveTo>
                <a:lnTo>
                  <a:pt x="9357616" y="0"/>
                </a:lnTo>
                <a:lnTo>
                  <a:pt x="9357616" y="7181443"/>
                </a:lnTo>
                <a:lnTo>
                  <a:pt x="0" y="7181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33" b="-812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645177" y="1384572"/>
            <a:ext cx="5229714" cy="4787629"/>
          </a:xfrm>
          <a:custGeom>
            <a:avLst/>
            <a:gdLst/>
            <a:ahLst/>
            <a:cxnLst/>
            <a:rect l="l" t="t" r="r" b="b"/>
            <a:pathLst>
              <a:path w="7844571" h="7181443">
                <a:moveTo>
                  <a:pt x="0" y="0"/>
                </a:moveTo>
                <a:lnTo>
                  <a:pt x="7844571" y="0"/>
                </a:lnTo>
                <a:lnTo>
                  <a:pt x="7844571" y="7181443"/>
                </a:lnTo>
                <a:lnTo>
                  <a:pt x="0" y="7181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35" t="-8818" b="-5511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cxnSp>
        <p:nvCxnSpPr>
          <p:cNvPr id="10" name="꺾인 연결선 9"/>
          <p:cNvCxnSpPr>
            <a:endCxn id="12" idx="4"/>
          </p:cNvCxnSpPr>
          <p:nvPr/>
        </p:nvCxnSpPr>
        <p:spPr>
          <a:xfrm rot="10800000">
            <a:off x="3726533" y="4405741"/>
            <a:ext cx="6980261" cy="1438102"/>
          </a:xfrm>
          <a:prstGeom prst="bentConnector2">
            <a:avLst/>
          </a:prstGeom>
          <a:ln w="38100">
            <a:solidFill>
              <a:schemeClr val="bg1">
                <a:lumMod val="6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3352459" y="3657596"/>
            <a:ext cx="748145" cy="74814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6118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18577" y="1391802"/>
            <a:ext cx="5799659" cy="4849965"/>
          </a:xfrm>
          <a:custGeom>
            <a:avLst/>
            <a:gdLst/>
            <a:ahLst/>
            <a:cxnLst/>
            <a:rect l="l" t="t" r="r" b="b"/>
            <a:pathLst>
              <a:path w="8699489" h="7274948">
                <a:moveTo>
                  <a:pt x="0" y="0"/>
                </a:moveTo>
                <a:lnTo>
                  <a:pt x="8699490" y="0"/>
                </a:lnTo>
                <a:lnTo>
                  <a:pt x="8699490" y="7274948"/>
                </a:lnTo>
                <a:lnTo>
                  <a:pt x="0" y="7274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04839" y="1385452"/>
            <a:ext cx="3809565" cy="4849965"/>
          </a:xfrm>
          <a:custGeom>
            <a:avLst/>
            <a:gdLst/>
            <a:ahLst/>
            <a:cxnLst/>
            <a:rect l="l" t="t" r="r" b="b"/>
            <a:pathLst>
              <a:path w="5714347" h="7274948">
                <a:moveTo>
                  <a:pt x="0" y="0"/>
                </a:moveTo>
                <a:lnTo>
                  <a:pt x="5714347" y="0"/>
                </a:lnTo>
                <a:lnTo>
                  <a:pt x="5714347" y="7274948"/>
                </a:lnTo>
                <a:lnTo>
                  <a:pt x="0" y="7274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89" b="-38052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168806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81026" y="1322761"/>
            <a:ext cx="5954693" cy="5159833"/>
          </a:xfrm>
          <a:custGeom>
            <a:avLst/>
            <a:gdLst/>
            <a:ahLst/>
            <a:cxnLst/>
            <a:rect l="l" t="t" r="r" b="b"/>
            <a:pathLst>
              <a:path w="8932040" h="7739749">
                <a:moveTo>
                  <a:pt x="0" y="0"/>
                </a:moveTo>
                <a:lnTo>
                  <a:pt x="8932040" y="0"/>
                </a:lnTo>
                <a:lnTo>
                  <a:pt x="8932040" y="7739749"/>
                </a:lnTo>
                <a:lnTo>
                  <a:pt x="0" y="7739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91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04787" y="1469810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56514" y="2662025"/>
            <a:ext cx="5155872" cy="775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8933" lvl="1" indent="-219466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검색된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정류장을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선택하면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오른쪽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marL="219467" lvl="1">
              <a:lnSpc>
                <a:spcPts val="3151"/>
              </a:lnSpc>
              <a:spcBef>
                <a:spcPct val="0"/>
              </a:spcBef>
            </a:pP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지도에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표</a:t>
            </a:r>
            <a:r>
              <a:rPr lang="ko-KR" alt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</a:t>
            </a:r>
            <a:endParaRPr lang="en-US" sz="2033" b="1" spc="138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56513" y="2088684"/>
            <a:ext cx="5382293" cy="364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8933" lvl="1" indent="-219466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이름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번호를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2033" b="1" spc="138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4746" y="3522481"/>
            <a:ext cx="5278624" cy="775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8933" lvl="1" indent="-219466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하단부에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선택된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정류장의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2033" b="1" spc="13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033" b="1" spc="13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sz="2033" b="1" spc="138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564960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735" y="331600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927494" y="1349337"/>
            <a:ext cx="5682249" cy="5133257"/>
          </a:xfrm>
          <a:custGeom>
            <a:avLst/>
            <a:gdLst/>
            <a:ahLst/>
            <a:cxnLst/>
            <a:rect l="l" t="t" r="r" b="b"/>
            <a:pathLst>
              <a:path w="8523374" h="7699885">
                <a:moveTo>
                  <a:pt x="0" y="0"/>
                </a:moveTo>
                <a:lnTo>
                  <a:pt x="8523373" y="0"/>
                </a:lnTo>
                <a:lnTo>
                  <a:pt x="8523373" y="7699885"/>
                </a:lnTo>
                <a:lnTo>
                  <a:pt x="0" y="7699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293" t="-6856" r="-6588" b="-701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24404" y="1398102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✅요구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94192" y="2566892"/>
            <a:ext cx="423971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선택하면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오른쪽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지도에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94192" y="2021639"/>
            <a:ext cx="460231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63980" y="3385194"/>
            <a:ext cx="4300134" cy="65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하단부에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0049933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05235" y="1653150"/>
            <a:ext cx="5697764" cy="4446650"/>
          </a:xfrm>
          <a:custGeom>
            <a:avLst/>
            <a:gdLst/>
            <a:ahLst/>
            <a:cxnLst/>
            <a:rect l="l" t="t" r="r" b="b"/>
            <a:pathLst>
              <a:path w="8546646" h="6669975">
                <a:moveTo>
                  <a:pt x="0" y="0"/>
                </a:moveTo>
                <a:lnTo>
                  <a:pt x="8546646" y="0"/>
                </a:lnTo>
                <a:lnTo>
                  <a:pt x="8546646" y="6669975"/>
                </a:lnTo>
                <a:lnTo>
                  <a:pt x="0" y="666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237" b="-1026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99118" y="1780045"/>
            <a:ext cx="5007082" cy="4392155"/>
          </a:xfrm>
          <a:custGeom>
            <a:avLst/>
            <a:gdLst/>
            <a:ahLst/>
            <a:cxnLst/>
            <a:rect l="l" t="t" r="r" b="b"/>
            <a:pathLst>
              <a:path w="7510623" h="6588232">
                <a:moveTo>
                  <a:pt x="0" y="0"/>
                </a:moveTo>
                <a:lnTo>
                  <a:pt x="7510623" y="0"/>
                </a:lnTo>
                <a:lnTo>
                  <a:pt x="7510623" y="6588232"/>
                </a:lnTo>
                <a:lnTo>
                  <a:pt x="0" y="6588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295" t="-13161" r="-10748" b="-102156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516534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474303"/>
            <a:ext cx="6244715" cy="4925303"/>
          </a:xfrm>
          <a:custGeom>
            <a:avLst/>
            <a:gdLst/>
            <a:ahLst/>
            <a:cxnLst/>
            <a:rect l="l" t="t" r="r" b="b"/>
            <a:pathLst>
              <a:path w="9367072" h="7387955">
                <a:moveTo>
                  <a:pt x="0" y="0"/>
                </a:moveTo>
                <a:lnTo>
                  <a:pt x="9367072" y="0"/>
                </a:lnTo>
                <a:lnTo>
                  <a:pt x="9367072" y="7387955"/>
                </a:lnTo>
                <a:lnTo>
                  <a:pt x="0" y="7387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777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84729" y="1372890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001692" y="2375345"/>
            <a:ext cx="5082438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6848" lvl="1" indent="-228424">
              <a:lnSpc>
                <a:spcPts val="3279"/>
              </a:lnSpc>
              <a:buFont typeface="Arial"/>
              <a:buChar char="•"/>
            </a:pP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내용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활동한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ID 검색기능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11773" y="1938427"/>
            <a:ext cx="5000118" cy="376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6848" lvl="1" indent="-228424">
              <a:lnSpc>
                <a:spcPts val="3279"/>
              </a:lnSpc>
              <a:spcBef>
                <a:spcPct val="0"/>
              </a:spcBef>
              <a:buFont typeface="Arial"/>
              <a:buChar char="•"/>
            </a:pP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ADMIN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주요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활동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로그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기록</a:t>
            </a:r>
            <a:endParaRPr lang="en-US" sz="2115" b="1" spc="143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001692" y="2830521"/>
            <a:ext cx="4549338" cy="376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848" lvl="1" indent="-228424">
              <a:lnSpc>
                <a:spcPts val="3279"/>
              </a:lnSpc>
              <a:spcBef>
                <a:spcPct val="0"/>
              </a:spcBef>
              <a:buFont typeface="Arial"/>
              <a:buChar char="•"/>
            </a:pP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카테고리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분류해서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보기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2115" b="1" spc="143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001692" y="3394285"/>
            <a:ext cx="4658153" cy="79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848" lvl="1" indent="-228424">
              <a:lnSpc>
                <a:spcPts val="3279"/>
              </a:lnSpc>
              <a:spcBef>
                <a:spcPct val="0"/>
              </a:spcBef>
              <a:buFont typeface="Arial"/>
              <a:buChar char="•"/>
            </a:pP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활동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내역을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엑셀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파일로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저장할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2115" b="1" spc="14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15" b="1" spc="143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sz="2115" b="1" spc="143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0995912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64248" y="1217194"/>
            <a:ext cx="5504354" cy="5279619"/>
          </a:xfrm>
          <a:custGeom>
            <a:avLst/>
            <a:gdLst/>
            <a:ahLst/>
            <a:cxnLst/>
            <a:rect l="l" t="t" r="r" b="b"/>
            <a:pathLst>
              <a:path w="8256531" h="7919428">
                <a:moveTo>
                  <a:pt x="0" y="0"/>
                </a:moveTo>
                <a:lnTo>
                  <a:pt x="8256531" y="0"/>
                </a:lnTo>
                <a:lnTo>
                  <a:pt x="8256531" y="7919428"/>
                </a:lnTo>
                <a:lnTo>
                  <a:pt x="0" y="7919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404" t="-9704" r="-9829" b="-19255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11105" y="1251374"/>
            <a:ext cx="1354992" cy="2152215"/>
          </a:xfrm>
          <a:custGeom>
            <a:avLst/>
            <a:gdLst/>
            <a:ahLst/>
            <a:cxnLst/>
            <a:rect l="l" t="t" r="r" b="b"/>
            <a:pathLst>
              <a:path w="2032488" h="3228323">
                <a:moveTo>
                  <a:pt x="0" y="0"/>
                </a:moveTo>
                <a:lnTo>
                  <a:pt x="2032488" y="0"/>
                </a:lnTo>
                <a:lnTo>
                  <a:pt x="2032488" y="3228323"/>
                </a:lnTo>
                <a:lnTo>
                  <a:pt x="0" y="3228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4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68602" y="4216795"/>
            <a:ext cx="5906289" cy="1743738"/>
          </a:xfrm>
          <a:custGeom>
            <a:avLst/>
            <a:gdLst/>
            <a:ahLst/>
            <a:cxnLst/>
            <a:rect l="l" t="t" r="r" b="b"/>
            <a:pathLst>
              <a:path w="11301259" h="3390378">
                <a:moveTo>
                  <a:pt x="0" y="0"/>
                </a:moveTo>
                <a:lnTo>
                  <a:pt x="11301259" y="0"/>
                </a:lnTo>
                <a:lnTo>
                  <a:pt x="11301259" y="3390378"/>
                </a:lnTo>
                <a:lnTo>
                  <a:pt x="0" y="33903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98427" y="1414832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45611" y="2493872"/>
            <a:ext cx="458571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활동한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ID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45611" y="1993069"/>
            <a:ext cx="428072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ADMIN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주요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기록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45612" y="2904040"/>
            <a:ext cx="4651064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카테고리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분류해서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45611" y="3315942"/>
            <a:ext cx="4762312" cy="654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내역을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엑셀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파일로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저장할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</a:p>
          <a:p>
            <a:pPr marL="187124" lvl="1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2736098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29041" y="1318433"/>
            <a:ext cx="5319377" cy="1352123"/>
          </a:xfrm>
          <a:custGeom>
            <a:avLst/>
            <a:gdLst/>
            <a:ahLst/>
            <a:cxnLst/>
            <a:rect l="l" t="t" r="r" b="b"/>
            <a:pathLst>
              <a:path w="7979066" h="2028185">
                <a:moveTo>
                  <a:pt x="0" y="0"/>
                </a:moveTo>
                <a:lnTo>
                  <a:pt x="7979066" y="0"/>
                </a:lnTo>
                <a:lnTo>
                  <a:pt x="7979066" y="2028185"/>
                </a:lnTo>
                <a:lnTo>
                  <a:pt x="0" y="2028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883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5172" y="2590823"/>
            <a:ext cx="4727115" cy="3855973"/>
          </a:xfrm>
          <a:custGeom>
            <a:avLst/>
            <a:gdLst/>
            <a:ahLst/>
            <a:cxnLst/>
            <a:rect l="l" t="t" r="r" b="b"/>
            <a:pathLst>
              <a:path w="7090672" h="5783959">
                <a:moveTo>
                  <a:pt x="0" y="0"/>
                </a:moveTo>
                <a:lnTo>
                  <a:pt x="7090672" y="0"/>
                </a:lnTo>
                <a:lnTo>
                  <a:pt x="7090672" y="5783959"/>
                </a:lnTo>
                <a:lnTo>
                  <a:pt x="0" y="5783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71" b="-7289"/>
            </a:stretch>
          </a:blipFill>
        </p:spPr>
      </p:sp>
      <p:sp>
        <p:nvSpPr>
          <p:cNvPr id="7" name="AutoShape 7"/>
          <p:cNvSpPr/>
          <p:nvPr/>
        </p:nvSpPr>
        <p:spPr>
          <a:xfrm flipH="1">
            <a:off x="1978089" y="2388637"/>
            <a:ext cx="3060442" cy="1224945"/>
          </a:xfrm>
          <a:prstGeom prst="line">
            <a:avLst/>
          </a:prstGeom>
          <a:ln w="57150" cap="flat">
            <a:solidFill>
              <a:schemeClr val="bg1">
                <a:lumMod val="65000"/>
              </a:schemeClr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TextBox 9"/>
          <p:cNvSpPr txBox="1"/>
          <p:nvPr/>
        </p:nvSpPr>
        <p:spPr>
          <a:xfrm>
            <a:off x="6096001" y="1594057"/>
            <a:ext cx="1893211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✅요구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96000" y="2212341"/>
            <a:ext cx="5518440" cy="30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왼쪽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사이드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패널은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검색할때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열림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000" y="3683073"/>
            <a:ext cx="5841076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검색창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아래에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</a:t>
            </a:r>
          </a:p>
          <a:p>
            <a:pPr marL="187124" lvl="1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ko-KR" alt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예정인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096000" y="2751244"/>
            <a:ext cx="551844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이용하는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즐겨찾기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096000" y="4455309"/>
            <a:ext cx="5841076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결과를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루트와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실시간으로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어디를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지나가고있는지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096000" y="5229162"/>
            <a:ext cx="551844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결과를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클릭하면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예정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7555195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09" y="304075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543669" y="1525055"/>
            <a:ext cx="5490121" cy="4886207"/>
          </a:xfrm>
          <a:custGeom>
            <a:avLst/>
            <a:gdLst/>
            <a:ahLst/>
            <a:cxnLst/>
            <a:rect l="l" t="t" r="r" b="b"/>
            <a:pathLst>
              <a:path w="8235181" h="7329311">
                <a:moveTo>
                  <a:pt x="0" y="0"/>
                </a:moveTo>
                <a:lnTo>
                  <a:pt x="8235181" y="0"/>
                </a:lnTo>
                <a:lnTo>
                  <a:pt x="8235181" y="7329311"/>
                </a:lnTo>
                <a:lnTo>
                  <a:pt x="0" y="7329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89311" y="1594057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26525" y="2221549"/>
            <a:ext cx="588197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출발지·도착지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입력을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길찾기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길찾기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결과에서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경로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확인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지도에서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우클릭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출발지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지원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실시간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연계된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경로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857229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411" y="2127235"/>
            <a:ext cx="6489571" cy="2603531"/>
            <a:chOff x="0" y="0"/>
            <a:chExt cx="12979143" cy="5207062"/>
          </a:xfrm>
        </p:grpSpPr>
        <p:sp>
          <p:nvSpPr>
            <p:cNvPr id="7" name="Freeform 7"/>
            <p:cNvSpPr/>
            <p:nvPr/>
          </p:nvSpPr>
          <p:spPr>
            <a:xfrm rot="6000">
              <a:off x="-4534" y="-11322"/>
              <a:ext cx="12988212" cy="5229707"/>
            </a:xfrm>
            <a:custGeom>
              <a:avLst/>
              <a:gdLst/>
              <a:ahLst/>
              <a:cxnLst/>
              <a:rect l="l" t="t" r="r" b="b"/>
              <a:pathLst>
                <a:path w="12988212" h="5229707">
                  <a:moveTo>
                    <a:pt x="0" y="22652"/>
                  </a:moveTo>
                  <a:lnTo>
                    <a:pt x="12979123" y="0"/>
                  </a:lnTo>
                  <a:lnTo>
                    <a:pt x="12988211" y="5207054"/>
                  </a:lnTo>
                  <a:lnTo>
                    <a:pt x="9088" y="5229707"/>
                  </a:lnTo>
                  <a:lnTo>
                    <a:pt x="0" y="22652"/>
                  </a:lnTo>
                  <a:close/>
                </a:path>
              </a:pathLst>
            </a:custGeom>
            <a:blipFill>
              <a:blip r:embed="rId3"/>
              <a:stretch>
                <a:fillRect l="-1905" t="-5001" r="-84024" b="-19097"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2291751" y="0"/>
              <a:ext cx="3261961" cy="5207062"/>
              <a:chOff x="0" y="0"/>
              <a:chExt cx="644338" cy="10285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44338" cy="1028556"/>
              </a:xfrm>
              <a:custGeom>
                <a:avLst/>
                <a:gdLst/>
                <a:ahLst/>
                <a:cxnLst/>
                <a:rect l="l" t="t" r="r" b="b"/>
                <a:pathLst>
                  <a:path w="644338" h="1028556">
                    <a:moveTo>
                      <a:pt x="53797" y="0"/>
                    </a:moveTo>
                    <a:lnTo>
                      <a:pt x="590541" y="0"/>
                    </a:lnTo>
                    <a:cubicBezTo>
                      <a:pt x="604809" y="0"/>
                      <a:pt x="618492" y="5668"/>
                      <a:pt x="628581" y="15757"/>
                    </a:cubicBezTo>
                    <a:cubicBezTo>
                      <a:pt x="638670" y="25846"/>
                      <a:pt x="644338" y="39529"/>
                      <a:pt x="644338" y="53797"/>
                    </a:cubicBezTo>
                    <a:lnTo>
                      <a:pt x="644338" y="974759"/>
                    </a:lnTo>
                    <a:cubicBezTo>
                      <a:pt x="644338" y="1004470"/>
                      <a:pt x="620252" y="1028556"/>
                      <a:pt x="590541" y="1028556"/>
                    </a:cubicBezTo>
                    <a:lnTo>
                      <a:pt x="53797" y="1028556"/>
                    </a:lnTo>
                    <a:cubicBezTo>
                      <a:pt x="39529" y="1028556"/>
                      <a:pt x="25846" y="1022888"/>
                      <a:pt x="15757" y="1012799"/>
                    </a:cubicBezTo>
                    <a:cubicBezTo>
                      <a:pt x="5668" y="1002710"/>
                      <a:pt x="0" y="989026"/>
                      <a:pt x="0" y="974759"/>
                    </a:cubicBezTo>
                    <a:lnTo>
                      <a:pt x="0" y="53797"/>
                    </a:lnTo>
                    <a:cubicBezTo>
                      <a:pt x="0" y="24086"/>
                      <a:pt x="24086" y="0"/>
                      <a:pt x="5379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FFDA8F"/>
                </a:solidFill>
                <a:prstDash val="dash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95250"/>
                <a:ext cx="644338" cy="112380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687"/>
                  </a:lnSpc>
                </a:pPr>
                <a:endParaRPr sz="1200"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7036171" y="1723505"/>
            <a:ext cx="403638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✅버스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-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21937" y="2348268"/>
            <a:ext cx="4582383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이용하는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사용자도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빠르게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원하는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찾을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항목별로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정리된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메뉴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필요한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로그인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없이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누구나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공간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0076602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77689" y="1991595"/>
            <a:ext cx="4204441" cy="3639219"/>
          </a:xfrm>
          <a:custGeom>
            <a:avLst/>
            <a:gdLst/>
            <a:ahLst/>
            <a:cxnLst/>
            <a:rect l="l" t="t" r="r" b="b"/>
            <a:pathLst>
              <a:path w="6306662" h="5458829">
                <a:moveTo>
                  <a:pt x="0" y="0"/>
                </a:moveTo>
                <a:lnTo>
                  <a:pt x="6306661" y="0"/>
                </a:lnTo>
                <a:lnTo>
                  <a:pt x="6306661" y="5458829"/>
                </a:lnTo>
                <a:lnTo>
                  <a:pt x="0" y="5458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3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682130" y="2014493"/>
            <a:ext cx="3806654" cy="3616321"/>
          </a:xfrm>
          <a:custGeom>
            <a:avLst/>
            <a:gdLst/>
            <a:ahLst/>
            <a:cxnLst/>
            <a:rect l="l" t="t" r="r" b="b"/>
            <a:pathLst>
              <a:path w="5709981" h="5424482">
                <a:moveTo>
                  <a:pt x="0" y="0"/>
                </a:moveTo>
                <a:lnTo>
                  <a:pt x="5709981" y="0"/>
                </a:lnTo>
                <a:lnTo>
                  <a:pt x="5709981" y="5424481"/>
                </a:lnTo>
                <a:lnTo>
                  <a:pt x="0" y="5424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8"/>
          <p:cNvSpPr txBox="1"/>
          <p:nvPr/>
        </p:nvSpPr>
        <p:spPr>
          <a:xfrm>
            <a:off x="8736316" y="1915395"/>
            <a:ext cx="2532029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04565" y="2368240"/>
            <a:ext cx="3170325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요금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형태로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명확하게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이용자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안내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문구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유의사항을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함께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배치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200"/>
              </a:lnSpc>
            </a:pP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0600463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682130" y="2029380"/>
            <a:ext cx="3806654" cy="3435505"/>
          </a:xfrm>
          <a:custGeom>
            <a:avLst/>
            <a:gdLst/>
            <a:ahLst/>
            <a:cxnLst/>
            <a:rect l="l" t="t" r="r" b="b"/>
            <a:pathLst>
              <a:path w="5709981" h="5153257">
                <a:moveTo>
                  <a:pt x="0" y="0"/>
                </a:moveTo>
                <a:lnTo>
                  <a:pt x="5709981" y="0"/>
                </a:lnTo>
                <a:lnTo>
                  <a:pt x="5709981" y="5153257"/>
                </a:lnTo>
                <a:lnTo>
                  <a:pt x="0" y="5153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6" name="Freeform 6"/>
          <p:cNvSpPr/>
          <p:nvPr/>
        </p:nvSpPr>
        <p:spPr>
          <a:xfrm>
            <a:off x="477689" y="1991595"/>
            <a:ext cx="4204441" cy="3552181"/>
          </a:xfrm>
          <a:custGeom>
            <a:avLst/>
            <a:gdLst/>
            <a:ahLst/>
            <a:cxnLst/>
            <a:rect l="l" t="t" r="r" b="b"/>
            <a:pathLst>
              <a:path w="6306662" h="5328272">
                <a:moveTo>
                  <a:pt x="0" y="0"/>
                </a:moveTo>
                <a:lnTo>
                  <a:pt x="6306661" y="0"/>
                </a:lnTo>
                <a:lnTo>
                  <a:pt x="6306661" y="5328272"/>
                </a:lnTo>
                <a:lnTo>
                  <a:pt x="0" y="532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37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36316" y="1915395"/>
            <a:ext cx="2532029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04566" y="2368240"/>
            <a:ext cx="2763534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회사별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정보를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형식으로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운영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시각적으로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구분되도록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배치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운행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노선은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기능으로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빠르게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200"/>
              </a:lnSpc>
            </a:pP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8378219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77689" y="1997630"/>
            <a:ext cx="4204441" cy="3552018"/>
          </a:xfrm>
          <a:custGeom>
            <a:avLst/>
            <a:gdLst/>
            <a:ahLst/>
            <a:cxnLst/>
            <a:rect l="l" t="t" r="r" b="b"/>
            <a:pathLst>
              <a:path w="6306662" h="5328027">
                <a:moveTo>
                  <a:pt x="0" y="0"/>
                </a:moveTo>
                <a:lnTo>
                  <a:pt x="6306661" y="0"/>
                </a:lnTo>
                <a:lnTo>
                  <a:pt x="6306661" y="5328026"/>
                </a:lnTo>
                <a:lnTo>
                  <a:pt x="0" y="532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38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682130" y="2051274"/>
            <a:ext cx="3806654" cy="3179682"/>
          </a:xfrm>
          <a:custGeom>
            <a:avLst/>
            <a:gdLst/>
            <a:ahLst/>
            <a:cxnLst/>
            <a:rect l="l" t="t" r="r" b="b"/>
            <a:pathLst>
              <a:path w="5709981" h="4769523">
                <a:moveTo>
                  <a:pt x="0" y="0"/>
                </a:moveTo>
                <a:lnTo>
                  <a:pt x="5709981" y="0"/>
                </a:lnTo>
                <a:lnTo>
                  <a:pt x="5709981" y="4769523"/>
                </a:lnTo>
                <a:lnTo>
                  <a:pt x="0" y="4769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88" t="-1319" r="-1814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8"/>
          <p:cNvSpPr txBox="1"/>
          <p:nvPr/>
        </p:nvSpPr>
        <p:spPr>
          <a:xfrm>
            <a:off x="8736316" y="1915395"/>
            <a:ext cx="2532029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04565" y="2368240"/>
            <a:ext cx="3107819" cy="328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주소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정류소명을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포함한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형태으로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검색과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드롭다운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선택을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함께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지원해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탐색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편의성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강화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클릭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시,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위치를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지도에서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바로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확인할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연동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200"/>
              </a:lnSpc>
            </a:pP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57825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682130" y="1997629"/>
            <a:ext cx="3806654" cy="3132276"/>
          </a:xfrm>
          <a:custGeom>
            <a:avLst/>
            <a:gdLst/>
            <a:ahLst/>
            <a:cxnLst/>
            <a:rect l="l" t="t" r="r" b="b"/>
            <a:pathLst>
              <a:path w="5709981" h="4698414">
                <a:moveTo>
                  <a:pt x="0" y="0"/>
                </a:moveTo>
                <a:lnTo>
                  <a:pt x="5709981" y="0"/>
                </a:lnTo>
                <a:lnTo>
                  <a:pt x="5709981" y="4698413"/>
                </a:lnTo>
                <a:lnTo>
                  <a:pt x="0" y="4698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1" r="-871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514591" y="1997630"/>
            <a:ext cx="4167539" cy="3598634"/>
          </a:xfrm>
          <a:custGeom>
            <a:avLst/>
            <a:gdLst/>
            <a:ahLst/>
            <a:cxnLst/>
            <a:rect l="l" t="t" r="r" b="b"/>
            <a:pathLst>
              <a:path w="6251309" h="5397951">
                <a:moveTo>
                  <a:pt x="0" y="0"/>
                </a:moveTo>
                <a:lnTo>
                  <a:pt x="6251308" y="0"/>
                </a:lnTo>
                <a:lnTo>
                  <a:pt x="6251308" y="5397951"/>
                </a:lnTo>
                <a:lnTo>
                  <a:pt x="0" y="5397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08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36316" y="1915395"/>
            <a:ext cx="2532029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04565" y="2368240"/>
            <a:ext cx="3057943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노선과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방향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또는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방면을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주요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시간을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간략한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노선도를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시각적으로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함께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200"/>
              </a:lnSpc>
            </a:pP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1543098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682129" y="2026866"/>
            <a:ext cx="3770279" cy="3030361"/>
          </a:xfrm>
          <a:custGeom>
            <a:avLst/>
            <a:gdLst/>
            <a:ahLst/>
            <a:cxnLst/>
            <a:rect l="l" t="t" r="r" b="b"/>
            <a:pathLst>
              <a:path w="5655418" h="4545542">
                <a:moveTo>
                  <a:pt x="0" y="0"/>
                </a:moveTo>
                <a:lnTo>
                  <a:pt x="5655419" y="0"/>
                </a:lnTo>
                <a:lnTo>
                  <a:pt x="5655419" y="4545542"/>
                </a:lnTo>
                <a:lnTo>
                  <a:pt x="0" y="4545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14591" y="1997630"/>
            <a:ext cx="4167539" cy="3546773"/>
          </a:xfrm>
          <a:custGeom>
            <a:avLst/>
            <a:gdLst/>
            <a:ahLst/>
            <a:cxnLst/>
            <a:rect l="l" t="t" r="r" b="b"/>
            <a:pathLst>
              <a:path w="6251309" h="5320159">
                <a:moveTo>
                  <a:pt x="0" y="0"/>
                </a:moveTo>
                <a:lnTo>
                  <a:pt x="6251308" y="0"/>
                </a:lnTo>
                <a:lnTo>
                  <a:pt x="6251308" y="5320158"/>
                </a:lnTo>
                <a:lnTo>
                  <a:pt x="0" y="5320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60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8247" y="1898769"/>
            <a:ext cx="2532029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96496" y="2351615"/>
            <a:ext cx="3170325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시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해당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저상버스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주요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정류장의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도착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시간을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형태로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45459" lvl="1" indent="-172729" algn="just">
              <a:lnSpc>
                <a:spcPts val="3200"/>
              </a:lnSpc>
              <a:buFont typeface="Arial"/>
              <a:buChar char="•"/>
            </a:pP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버튼은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탭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전환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방식으로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구현하여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다른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데이터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탐색이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빠르게</a:t>
            </a:r>
            <a:r>
              <a:rPr lang="en-US" sz="1600" b="1" spc="10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600" b="1" spc="109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3200"/>
              </a:lnSpc>
            </a:pPr>
            <a:endParaRPr lang="en-US" sz="1600" b="1" spc="10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708310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3766" y="369640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8017933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043718"/>
            <a:ext cx="7685215" cy="1492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조회하고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직접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내 글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모아보기를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전용이며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563033" y="4898648"/>
            <a:ext cx="11065934" cy="1376469"/>
            <a:chOff x="0" y="0"/>
            <a:chExt cx="3825525" cy="6105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25525" cy="610557"/>
            </a:xfrm>
            <a:custGeom>
              <a:avLst/>
              <a:gdLst/>
              <a:ahLst/>
              <a:cxnLst/>
              <a:rect l="l" t="t" r="r" b="b"/>
              <a:pathLst>
                <a:path w="3825525" h="610557">
                  <a:moveTo>
                    <a:pt x="9061" y="0"/>
                  </a:moveTo>
                  <a:lnTo>
                    <a:pt x="3816464" y="0"/>
                  </a:lnTo>
                  <a:cubicBezTo>
                    <a:pt x="3821469" y="0"/>
                    <a:pt x="3825525" y="4057"/>
                    <a:pt x="3825525" y="9061"/>
                  </a:cubicBezTo>
                  <a:lnTo>
                    <a:pt x="3825525" y="601496"/>
                  </a:lnTo>
                  <a:cubicBezTo>
                    <a:pt x="3825525" y="603899"/>
                    <a:pt x="3824571" y="606204"/>
                    <a:pt x="3822871" y="607903"/>
                  </a:cubicBezTo>
                  <a:cubicBezTo>
                    <a:pt x="3821172" y="609602"/>
                    <a:pt x="3818868" y="610557"/>
                    <a:pt x="3816464" y="610557"/>
                  </a:cubicBezTo>
                  <a:lnTo>
                    <a:pt x="9061" y="610557"/>
                  </a:lnTo>
                  <a:cubicBezTo>
                    <a:pt x="4057" y="610557"/>
                    <a:pt x="0" y="606500"/>
                    <a:pt x="0" y="601496"/>
                  </a:cubicBezTo>
                  <a:lnTo>
                    <a:pt x="0" y="9061"/>
                  </a:lnTo>
                  <a:cubicBezTo>
                    <a:pt x="0" y="6658"/>
                    <a:pt x="955" y="4353"/>
                    <a:pt x="2654" y="2654"/>
                  </a:cubicBezTo>
                  <a:cubicBezTo>
                    <a:pt x="4353" y="955"/>
                    <a:pt x="6658" y="0"/>
                    <a:pt x="90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3825525" cy="7058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7584" y="3751042"/>
            <a:ext cx="11043963" cy="2451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흐름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센터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                                                                                      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완료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[내 글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모아보기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[습득물 상세보기] 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←┙ </a:t>
            </a:r>
          </a:p>
        </p:txBody>
      </p:sp>
    </p:spTree>
    <p:extLst>
      <p:ext uri="{BB962C8B-B14F-4D97-AF65-F5344CB8AC3E}">
        <p14:creationId xmlns:p14="http://schemas.microsoft.com/office/powerpoint/2010/main" val="4146816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526926" y="1398767"/>
            <a:ext cx="7671589" cy="4617171"/>
          </a:xfrm>
          <a:custGeom>
            <a:avLst/>
            <a:gdLst/>
            <a:ahLst/>
            <a:cxnLst/>
            <a:rect l="l" t="t" r="r" b="b"/>
            <a:pathLst>
              <a:path w="11507383" h="6925756">
                <a:moveTo>
                  <a:pt x="0" y="0"/>
                </a:moveTo>
                <a:lnTo>
                  <a:pt x="11507383" y="0"/>
                </a:lnTo>
                <a:lnTo>
                  <a:pt x="11507383" y="6925755"/>
                </a:lnTo>
                <a:lnTo>
                  <a:pt x="0" y="6925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28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98515" y="1322353"/>
            <a:ext cx="1893211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5" y="1815894"/>
            <a:ext cx="3676376" cy="4501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(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당일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3일 / 7일)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분실물명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버스회사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버스정보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버튼으로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직접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모아보기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9534331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30746" y="2148181"/>
            <a:ext cx="7679487" cy="3666955"/>
          </a:xfrm>
          <a:custGeom>
            <a:avLst/>
            <a:gdLst/>
            <a:ahLst/>
            <a:cxnLst/>
            <a:rect l="l" t="t" r="r" b="b"/>
            <a:pathLst>
              <a:path w="11519230" h="5500432">
                <a:moveTo>
                  <a:pt x="0" y="0"/>
                </a:moveTo>
                <a:lnTo>
                  <a:pt x="11519230" y="0"/>
                </a:lnTo>
                <a:lnTo>
                  <a:pt x="11519230" y="5500432"/>
                </a:lnTo>
                <a:lnTo>
                  <a:pt x="0" y="5500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240080" y="1362310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240080" y="1875844"/>
            <a:ext cx="3676376" cy="4501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(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당일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3일 / 7일)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분실물명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버스회사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버스정보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버튼으로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직접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내글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모아보기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51303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586837"/>
            <a:ext cx="5552075" cy="3684327"/>
          </a:xfrm>
          <a:custGeom>
            <a:avLst/>
            <a:gdLst/>
            <a:ahLst/>
            <a:cxnLst/>
            <a:rect l="l" t="t" r="r" b="b"/>
            <a:pathLst>
              <a:path w="8328113" h="5526491">
                <a:moveTo>
                  <a:pt x="0" y="0"/>
                </a:moveTo>
                <a:lnTo>
                  <a:pt x="8328113" y="0"/>
                </a:lnTo>
                <a:lnTo>
                  <a:pt x="8328113" y="5526492"/>
                </a:lnTo>
                <a:lnTo>
                  <a:pt x="0" y="5526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61" r="-3656" b="-654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27295" y="1586836"/>
            <a:ext cx="5751953" cy="3896948"/>
          </a:xfrm>
          <a:custGeom>
            <a:avLst/>
            <a:gdLst/>
            <a:ahLst/>
            <a:cxnLst/>
            <a:rect l="l" t="t" r="r" b="b"/>
            <a:pathLst>
              <a:path w="8627929" h="5845422">
                <a:moveTo>
                  <a:pt x="0" y="0"/>
                </a:moveTo>
                <a:lnTo>
                  <a:pt x="8627929" y="0"/>
                </a:lnTo>
                <a:lnTo>
                  <a:pt x="8627929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07182" y="3429000"/>
            <a:ext cx="420113" cy="4201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6908199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249489" y="1806169"/>
            <a:ext cx="5846511" cy="3624658"/>
          </a:xfrm>
          <a:custGeom>
            <a:avLst/>
            <a:gdLst/>
            <a:ahLst/>
            <a:cxnLst/>
            <a:rect l="l" t="t" r="r" b="b"/>
            <a:pathLst>
              <a:path w="8769767" h="5436987">
                <a:moveTo>
                  <a:pt x="0" y="0"/>
                </a:moveTo>
                <a:lnTo>
                  <a:pt x="8769767" y="0"/>
                </a:lnTo>
                <a:lnTo>
                  <a:pt x="8769767" y="5436986"/>
                </a:lnTo>
                <a:lnTo>
                  <a:pt x="0" y="543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7061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885944" y="3546440"/>
            <a:ext cx="420113" cy="4201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6306057" y="2238117"/>
            <a:ext cx="5568834" cy="3042849"/>
          </a:xfrm>
          <a:custGeom>
            <a:avLst/>
            <a:gdLst/>
            <a:ahLst/>
            <a:cxnLst/>
            <a:rect l="l" t="t" r="r" b="b"/>
            <a:pathLst>
              <a:path w="8353251" h="4564273">
                <a:moveTo>
                  <a:pt x="0" y="0"/>
                </a:moveTo>
                <a:lnTo>
                  <a:pt x="8353251" y="0"/>
                </a:lnTo>
                <a:lnTo>
                  <a:pt x="8353251" y="4564273"/>
                </a:lnTo>
                <a:lnTo>
                  <a:pt x="0" y="4564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7506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4658913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249489" y="1735827"/>
            <a:ext cx="5846511" cy="3677616"/>
          </a:xfrm>
          <a:custGeom>
            <a:avLst/>
            <a:gdLst/>
            <a:ahLst/>
            <a:cxnLst/>
            <a:rect l="l" t="t" r="r" b="b"/>
            <a:pathLst>
              <a:path w="8769767" h="5516424">
                <a:moveTo>
                  <a:pt x="0" y="0"/>
                </a:moveTo>
                <a:lnTo>
                  <a:pt x="8769767" y="0"/>
                </a:lnTo>
                <a:lnTo>
                  <a:pt x="8769767" y="5516424"/>
                </a:lnTo>
                <a:lnTo>
                  <a:pt x="0" y="5516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52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885944" y="3546440"/>
            <a:ext cx="420113" cy="4201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6306057" y="2545275"/>
            <a:ext cx="5568834" cy="2422443"/>
          </a:xfrm>
          <a:custGeom>
            <a:avLst/>
            <a:gdLst/>
            <a:ahLst/>
            <a:cxnLst/>
            <a:rect l="l" t="t" r="r" b="b"/>
            <a:pathLst>
              <a:path w="8353251" h="3633664">
                <a:moveTo>
                  <a:pt x="0" y="0"/>
                </a:moveTo>
                <a:lnTo>
                  <a:pt x="8353251" y="0"/>
                </a:lnTo>
                <a:lnTo>
                  <a:pt x="8353251" y="3633664"/>
                </a:lnTo>
                <a:lnTo>
                  <a:pt x="0" y="3633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2743242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249489" y="1781124"/>
            <a:ext cx="5918242" cy="3713802"/>
          </a:xfrm>
          <a:custGeom>
            <a:avLst/>
            <a:gdLst/>
            <a:ahLst/>
            <a:cxnLst/>
            <a:rect l="l" t="t" r="r" b="b"/>
            <a:pathLst>
              <a:path w="8877363" h="5570703">
                <a:moveTo>
                  <a:pt x="0" y="0"/>
                </a:moveTo>
                <a:lnTo>
                  <a:pt x="8877363" y="0"/>
                </a:lnTo>
                <a:lnTo>
                  <a:pt x="8877363" y="5570703"/>
                </a:lnTo>
                <a:lnTo>
                  <a:pt x="0" y="5570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77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14227" y="1606130"/>
            <a:ext cx="5429708" cy="4486297"/>
          </a:xfrm>
          <a:custGeom>
            <a:avLst/>
            <a:gdLst/>
            <a:ahLst/>
            <a:cxnLst/>
            <a:rect l="l" t="t" r="r" b="b"/>
            <a:pathLst>
              <a:path w="8144562" h="6729445">
                <a:moveTo>
                  <a:pt x="0" y="0"/>
                </a:moveTo>
                <a:lnTo>
                  <a:pt x="8144563" y="0"/>
                </a:lnTo>
                <a:lnTo>
                  <a:pt x="8144563" y="6729445"/>
                </a:lnTo>
                <a:lnTo>
                  <a:pt x="0" y="6729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grpSp>
        <p:nvGrpSpPr>
          <p:cNvPr id="7" name="Group 7"/>
          <p:cNvGrpSpPr/>
          <p:nvPr/>
        </p:nvGrpSpPr>
        <p:grpSpPr>
          <a:xfrm>
            <a:off x="5894114" y="3572920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9118266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87720" y="1435732"/>
            <a:ext cx="7810794" cy="4866037"/>
          </a:xfrm>
          <a:custGeom>
            <a:avLst/>
            <a:gdLst/>
            <a:ahLst/>
            <a:cxnLst/>
            <a:rect l="l" t="t" r="r" b="b"/>
            <a:pathLst>
              <a:path w="11716191" h="7299055">
                <a:moveTo>
                  <a:pt x="0" y="0"/>
                </a:moveTo>
                <a:lnTo>
                  <a:pt x="11716192" y="0"/>
                </a:lnTo>
                <a:lnTo>
                  <a:pt x="11716192" y="7299054"/>
                </a:lnTo>
                <a:lnTo>
                  <a:pt x="0" y="7299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54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98515" y="1719753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5" y="2390983"/>
            <a:ext cx="3476376" cy="311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동일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동일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+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사진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불가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(※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관리자만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0882880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620689"/>
            <a:ext cx="7778762" cy="4492235"/>
          </a:xfrm>
          <a:custGeom>
            <a:avLst/>
            <a:gdLst/>
            <a:ahLst/>
            <a:cxnLst/>
            <a:rect l="l" t="t" r="r" b="b"/>
            <a:pathLst>
              <a:path w="11668143" h="6738353">
                <a:moveTo>
                  <a:pt x="0" y="0"/>
                </a:moveTo>
                <a:lnTo>
                  <a:pt x="11668144" y="0"/>
                </a:lnTo>
                <a:lnTo>
                  <a:pt x="11668144" y="6738353"/>
                </a:lnTo>
                <a:lnTo>
                  <a:pt x="0" y="6738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353538" y="1704853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08561" y="2321402"/>
            <a:ext cx="3476376" cy="311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동일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동일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+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사진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불가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(※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관리자만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4127882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826728"/>
            <a:ext cx="5846511" cy="3624658"/>
          </a:xfrm>
          <a:custGeom>
            <a:avLst/>
            <a:gdLst/>
            <a:ahLst/>
            <a:cxnLst/>
            <a:rect l="l" t="t" r="r" b="b"/>
            <a:pathLst>
              <a:path w="8769767" h="5436987">
                <a:moveTo>
                  <a:pt x="0" y="0"/>
                </a:moveTo>
                <a:lnTo>
                  <a:pt x="8769767" y="0"/>
                </a:lnTo>
                <a:lnTo>
                  <a:pt x="8769767" y="5436986"/>
                </a:lnTo>
                <a:lnTo>
                  <a:pt x="0" y="543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706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63621" y="1746199"/>
            <a:ext cx="5711269" cy="4627780"/>
          </a:xfrm>
          <a:custGeom>
            <a:avLst/>
            <a:gdLst/>
            <a:ahLst/>
            <a:cxnLst/>
            <a:rect l="l" t="t" r="r" b="b"/>
            <a:pathLst>
              <a:path w="8566904" h="6941670">
                <a:moveTo>
                  <a:pt x="0" y="0"/>
                </a:moveTo>
                <a:lnTo>
                  <a:pt x="8566905" y="0"/>
                </a:lnTo>
                <a:lnTo>
                  <a:pt x="8566905" y="6941670"/>
                </a:lnTo>
                <a:lnTo>
                  <a:pt x="0" y="6941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4900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grpSp>
        <p:nvGrpSpPr>
          <p:cNvPr id="7" name="Group 7"/>
          <p:cNvGrpSpPr/>
          <p:nvPr/>
        </p:nvGrpSpPr>
        <p:grpSpPr>
          <a:xfrm>
            <a:off x="5885944" y="3481958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2488392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838" y="369640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788462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043718"/>
            <a:ext cx="9263209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게시글을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버스회사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)가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등록하고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매칭하거나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148659" y="4756542"/>
            <a:ext cx="9859887" cy="1231274"/>
          </a:xfrm>
          <a:custGeom>
            <a:avLst/>
            <a:gdLst/>
            <a:ahLst/>
            <a:cxnLst/>
            <a:rect l="l" t="t" r="r" b="b"/>
            <a:pathLst>
              <a:path w="3895264" h="486429">
                <a:moveTo>
                  <a:pt x="8899" y="0"/>
                </a:moveTo>
                <a:lnTo>
                  <a:pt x="3886365" y="0"/>
                </a:lnTo>
                <a:cubicBezTo>
                  <a:pt x="3888725" y="0"/>
                  <a:pt x="3890989" y="938"/>
                  <a:pt x="3892658" y="2606"/>
                </a:cubicBezTo>
                <a:cubicBezTo>
                  <a:pt x="3894327" y="4275"/>
                  <a:pt x="3895264" y="6539"/>
                  <a:pt x="3895264" y="8899"/>
                </a:cubicBezTo>
                <a:lnTo>
                  <a:pt x="3895264" y="477530"/>
                </a:lnTo>
                <a:cubicBezTo>
                  <a:pt x="3895264" y="482445"/>
                  <a:pt x="3891280" y="486429"/>
                  <a:pt x="3886365" y="486429"/>
                </a:cubicBezTo>
                <a:lnTo>
                  <a:pt x="8899" y="486429"/>
                </a:lnTo>
                <a:cubicBezTo>
                  <a:pt x="6539" y="486429"/>
                  <a:pt x="4275" y="485492"/>
                  <a:pt x="2606" y="483823"/>
                </a:cubicBezTo>
                <a:cubicBezTo>
                  <a:pt x="938" y="482154"/>
                  <a:pt x="0" y="479890"/>
                  <a:pt x="0" y="477530"/>
                </a:cubicBezTo>
                <a:lnTo>
                  <a:pt x="0" y="8899"/>
                </a:lnTo>
                <a:cubicBezTo>
                  <a:pt x="0" y="3984"/>
                  <a:pt x="3984" y="0"/>
                  <a:pt x="88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685800" y="3623826"/>
            <a:ext cx="10419581" cy="311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7" b="1" spc="118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</a:t>
            </a:r>
          </a:p>
          <a:p>
            <a:pPr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                                                                                       </a:t>
            </a:r>
          </a:p>
          <a:p>
            <a:pPr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[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altLang="ko-KR" sz="1737" b="1" spc="118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→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[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[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7" b="1" spc="118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매칭</a:t>
            </a: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 ←┙</a:t>
            </a:r>
            <a:endParaRPr lang="en-US" sz="1737" b="1" spc="118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692"/>
              </a:lnSpc>
              <a:spcBef>
                <a:spcPct val="0"/>
              </a:spcBef>
            </a:pPr>
            <a:endParaRPr lang="en-US" sz="1737" b="1" spc="118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</a:t>
            </a:r>
          </a:p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737" b="1" spc="11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190247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507373"/>
            <a:ext cx="7881257" cy="4920791"/>
          </a:xfrm>
          <a:custGeom>
            <a:avLst/>
            <a:gdLst/>
            <a:ahLst/>
            <a:cxnLst/>
            <a:rect l="l" t="t" r="r" b="b"/>
            <a:pathLst>
              <a:path w="11821885" h="7381186">
                <a:moveTo>
                  <a:pt x="0" y="0"/>
                </a:moveTo>
                <a:lnTo>
                  <a:pt x="11821886" y="0"/>
                </a:lnTo>
                <a:lnTo>
                  <a:pt x="11821886" y="7381186"/>
                </a:lnTo>
                <a:lnTo>
                  <a:pt x="0" y="7381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30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98515" y="1719753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4" y="2249762"/>
            <a:ext cx="3993485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버튼:전체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이름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게시글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삭제는 SOFT-DELETE 방식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(한 달 후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예정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6817023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2120190"/>
            <a:ext cx="7753925" cy="3847885"/>
          </a:xfrm>
          <a:custGeom>
            <a:avLst/>
            <a:gdLst/>
            <a:ahLst/>
            <a:cxnLst/>
            <a:rect l="l" t="t" r="r" b="b"/>
            <a:pathLst>
              <a:path w="11630887" h="5771828">
                <a:moveTo>
                  <a:pt x="0" y="0"/>
                </a:moveTo>
                <a:lnTo>
                  <a:pt x="11630887" y="0"/>
                </a:lnTo>
                <a:lnTo>
                  <a:pt x="11630887" y="5771827"/>
                </a:lnTo>
                <a:lnTo>
                  <a:pt x="0" y="5771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198515" y="1719753"/>
            <a:ext cx="1893211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5" y="2249762"/>
            <a:ext cx="3993486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버튼:전체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분실물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신고자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이름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게시글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· 삭제는 SOFT-DELETE 방식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(한 달 후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예정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8172860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249489" y="1751704"/>
            <a:ext cx="5846511" cy="3880622"/>
          </a:xfrm>
          <a:custGeom>
            <a:avLst/>
            <a:gdLst/>
            <a:ahLst/>
            <a:cxnLst/>
            <a:rect l="l" t="t" r="r" b="b"/>
            <a:pathLst>
              <a:path w="8769767" h="5820933">
                <a:moveTo>
                  <a:pt x="0" y="0"/>
                </a:moveTo>
                <a:lnTo>
                  <a:pt x="8769767" y="0"/>
                </a:lnTo>
                <a:lnTo>
                  <a:pt x="8769767" y="5820932"/>
                </a:lnTo>
                <a:lnTo>
                  <a:pt x="0" y="5820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56436" y="1751704"/>
            <a:ext cx="5718455" cy="3902845"/>
          </a:xfrm>
          <a:custGeom>
            <a:avLst/>
            <a:gdLst/>
            <a:ahLst/>
            <a:cxnLst/>
            <a:rect l="l" t="t" r="r" b="b"/>
            <a:pathLst>
              <a:path w="8577682" h="5854268">
                <a:moveTo>
                  <a:pt x="0" y="0"/>
                </a:moveTo>
                <a:lnTo>
                  <a:pt x="8577682" y="0"/>
                </a:lnTo>
                <a:lnTo>
                  <a:pt x="8577682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806506" y="3561396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5711933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563809"/>
            <a:ext cx="7881405" cy="4918785"/>
          </a:xfrm>
          <a:custGeom>
            <a:avLst/>
            <a:gdLst/>
            <a:ahLst/>
            <a:cxnLst/>
            <a:rect l="l" t="t" r="r" b="b"/>
            <a:pathLst>
              <a:path w="11822107" h="7378178">
                <a:moveTo>
                  <a:pt x="0" y="0"/>
                </a:moveTo>
                <a:lnTo>
                  <a:pt x="11822108" y="0"/>
                </a:lnTo>
                <a:lnTo>
                  <a:pt x="11822108" y="7378177"/>
                </a:lnTo>
                <a:lnTo>
                  <a:pt x="0" y="73781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35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98515" y="1719753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4" y="2249762"/>
            <a:ext cx="3993485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버튼:보관중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수령완료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필수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게시글은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시각적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삭제는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SOFT-DELETE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방식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(한 달 후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예정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8496029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439223"/>
            <a:ext cx="7749010" cy="4955433"/>
          </a:xfrm>
          <a:custGeom>
            <a:avLst/>
            <a:gdLst/>
            <a:ahLst/>
            <a:cxnLst/>
            <a:rect l="l" t="t" r="r" b="b"/>
            <a:pathLst>
              <a:path w="11623515" h="7433150">
                <a:moveTo>
                  <a:pt x="0" y="0"/>
                </a:moveTo>
                <a:lnTo>
                  <a:pt x="11623515" y="0"/>
                </a:lnTo>
                <a:lnTo>
                  <a:pt x="11623515" y="7433150"/>
                </a:lnTo>
                <a:lnTo>
                  <a:pt x="0" y="743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708"/>
            </a:stretch>
          </a:blipFill>
          <a:ln w="952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198515" y="1327873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5" y="1857882"/>
            <a:ext cx="3476376" cy="450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 </a:t>
            </a:r>
            <a:r>
              <a:rPr lang="en-US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버튼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(보관중/수령완료)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습득물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사진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필수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수령완료 된 게시글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ko-KR" alt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각적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삭제는 SOFT-DELETE 방식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(한 달 후 </a:t>
            </a:r>
            <a:r>
              <a:rPr lang="en-US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예정</a:t>
            </a:r>
            <a:r>
              <a:rPr lang="en-US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52157979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832834"/>
            <a:ext cx="5911285" cy="3718361"/>
          </a:xfrm>
          <a:custGeom>
            <a:avLst/>
            <a:gdLst/>
            <a:ahLst/>
            <a:cxnLst/>
            <a:rect l="l" t="t" r="r" b="b"/>
            <a:pathLst>
              <a:path w="8866928" h="5577541">
                <a:moveTo>
                  <a:pt x="0" y="0"/>
                </a:moveTo>
                <a:lnTo>
                  <a:pt x="8866929" y="0"/>
                </a:lnTo>
                <a:lnTo>
                  <a:pt x="8866929" y="5577542"/>
                </a:lnTo>
                <a:lnTo>
                  <a:pt x="0" y="5577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52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41971" y="1563645"/>
            <a:ext cx="5632920" cy="4608555"/>
          </a:xfrm>
          <a:custGeom>
            <a:avLst/>
            <a:gdLst/>
            <a:ahLst/>
            <a:cxnLst/>
            <a:rect l="l" t="t" r="r" b="b"/>
            <a:pathLst>
              <a:path w="8449380" h="6912833">
                <a:moveTo>
                  <a:pt x="0" y="0"/>
                </a:moveTo>
                <a:lnTo>
                  <a:pt x="8449380" y="0"/>
                </a:lnTo>
                <a:lnTo>
                  <a:pt x="8449380" y="6912833"/>
                </a:lnTo>
                <a:lnTo>
                  <a:pt x="0" y="6912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231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grpSp>
        <p:nvGrpSpPr>
          <p:cNvPr id="7" name="Group 7"/>
          <p:cNvGrpSpPr/>
          <p:nvPr/>
        </p:nvGrpSpPr>
        <p:grpSpPr>
          <a:xfrm>
            <a:off x="6018339" y="3543743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7038066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724561"/>
            <a:ext cx="5911285" cy="3860537"/>
          </a:xfrm>
          <a:custGeom>
            <a:avLst/>
            <a:gdLst/>
            <a:ahLst/>
            <a:cxnLst/>
            <a:rect l="l" t="t" r="r" b="b"/>
            <a:pathLst>
              <a:path w="8866928" h="5790806">
                <a:moveTo>
                  <a:pt x="0" y="0"/>
                </a:moveTo>
                <a:lnTo>
                  <a:pt x="8866929" y="0"/>
                </a:lnTo>
                <a:lnTo>
                  <a:pt x="8866929" y="5790806"/>
                </a:lnTo>
                <a:lnTo>
                  <a:pt x="0" y="5790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553" b="-524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17930" y="1890380"/>
            <a:ext cx="5356961" cy="3528898"/>
          </a:xfrm>
          <a:custGeom>
            <a:avLst/>
            <a:gdLst/>
            <a:ahLst/>
            <a:cxnLst/>
            <a:rect l="l" t="t" r="r" b="b"/>
            <a:pathLst>
              <a:path w="8035441" h="5293347">
                <a:moveTo>
                  <a:pt x="0" y="0"/>
                </a:moveTo>
                <a:lnTo>
                  <a:pt x="8035441" y="0"/>
                </a:lnTo>
                <a:lnTo>
                  <a:pt x="8035441" y="5293347"/>
                </a:lnTo>
                <a:lnTo>
                  <a:pt x="0" y="5293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grpSp>
        <p:nvGrpSpPr>
          <p:cNvPr id="7" name="Group 7"/>
          <p:cNvGrpSpPr/>
          <p:nvPr/>
        </p:nvGrpSpPr>
        <p:grpSpPr>
          <a:xfrm>
            <a:off x="6097817" y="3579048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56000657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816114"/>
            <a:ext cx="6299234" cy="3971901"/>
          </a:xfrm>
          <a:custGeom>
            <a:avLst/>
            <a:gdLst/>
            <a:ahLst/>
            <a:cxnLst/>
            <a:rect l="l" t="t" r="r" b="b"/>
            <a:pathLst>
              <a:path w="9448851" h="5957851">
                <a:moveTo>
                  <a:pt x="0" y="0"/>
                </a:moveTo>
                <a:lnTo>
                  <a:pt x="9448851" y="0"/>
                </a:lnTo>
                <a:lnTo>
                  <a:pt x="9448851" y="5957851"/>
                </a:lnTo>
                <a:lnTo>
                  <a:pt x="0" y="595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26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19404" y="3592008"/>
            <a:ext cx="420113" cy="4201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7177020" y="5541319"/>
            <a:ext cx="4589117" cy="941275"/>
          </a:xfrm>
          <a:custGeom>
            <a:avLst/>
            <a:gdLst/>
            <a:ahLst/>
            <a:cxnLst/>
            <a:rect l="l" t="t" r="r" b="b"/>
            <a:pathLst>
              <a:path w="6883675" h="1411913">
                <a:moveTo>
                  <a:pt x="0" y="0"/>
                </a:moveTo>
                <a:lnTo>
                  <a:pt x="6883675" y="0"/>
                </a:lnTo>
                <a:lnTo>
                  <a:pt x="6883675" y="1411913"/>
                </a:lnTo>
                <a:lnTo>
                  <a:pt x="0" y="1411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332" t="-656562" r="-51213" b="-7488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69606" y="1464214"/>
            <a:ext cx="3947037" cy="4216315"/>
          </a:xfrm>
          <a:custGeom>
            <a:avLst/>
            <a:gdLst/>
            <a:ahLst/>
            <a:cxnLst/>
            <a:rect l="l" t="t" r="r" b="b"/>
            <a:pathLst>
              <a:path w="5920555" h="6324473">
                <a:moveTo>
                  <a:pt x="0" y="0"/>
                </a:moveTo>
                <a:lnTo>
                  <a:pt x="5920555" y="0"/>
                </a:lnTo>
                <a:lnTo>
                  <a:pt x="5920555" y="6324473"/>
                </a:lnTo>
                <a:lnTo>
                  <a:pt x="0" y="6324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411" t="-20184" r="-28255" b="-32023"/>
            </a:stretch>
          </a:blipFill>
        </p:spPr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6310921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672122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043718"/>
            <a:ext cx="792259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**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관리자에게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문의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(Q&amp;A)**를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질문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비공개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설정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(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열람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</p:txBody>
      </p:sp>
      <p:sp>
        <p:nvSpPr>
          <p:cNvPr id="9" name="Freeform 9"/>
          <p:cNvSpPr/>
          <p:nvPr/>
        </p:nvSpPr>
        <p:spPr>
          <a:xfrm>
            <a:off x="1307279" y="4614352"/>
            <a:ext cx="9859887" cy="1231274"/>
          </a:xfrm>
          <a:custGeom>
            <a:avLst/>
            <a:gdLst/>
            <a:ahLst/>
            <a:cxnLst/>
            <a:rect l="l" t="t" r="r" b="b"/>
            <a:pathLst>
              <a:path w="3895264" h="486429">
                <a:moveTo>
                  <a:pt x="8899" y="0"/>
                </a:moveTo>
                <a:lnTo>
                  <a:pt x="3886365" y="0"/>
                </a:lnTo>
                <a:cubicBezTo>
                  <a:pt x="3888725" y="0"/>
                  <a:pt x="3890989" y="938"/>
                  <a:pt x="3892658" y="2606"/>
                </a:cubicBezTo>
                <a:cubicBezTo>
                  <a:pt x="3894327" y="4275"/>
                  <a:pt x="3895264" y="6539"/>
                  <a:pt x="3895264" y="8899"/>
                </a:cubicBezTo>
                <a:lnTo>
                  <a:pt x="3895264" y="477530"/>
                </a:lnTo>
                <a:cubicBezTo>
                  <a:pt x="3895264" y="482445"/>
                  <a:pt x="3891280" y="486429"/>
                  <a:pt x="3886365" y="486429"/>
                </a:cubicBezTo>
                <a:lnTo>
                  <a:pt x="8899" y="486429"/>
                </a:lnTo>
                <a:cubicBezTo>
                  <a:pt x="6539" y="486429"/>
                  <a:pt x="4275" y="485492"/>
                  <a:pt x="2606" y="483823"/>
                </a:cubicBezTo>
                <a:cubicBezTo>
                  <a:pt x="938" y="482154"/>
                  <a:pt x="0" y="479890"/>
                  <a:pt x="0" y="477530"/>
                </a:cubicBezTo>
                <a:lnTo>
                  <a:pt x="0" y="8899"/>
                </a:lnTo>
                <a:cubicBezTo>
                  <a:pt x="0" y="3984"/>
                  <a:pt x="3984" y="0"/>
                  <a:pt x="88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747584" y="3579659"/>
            <a:ext cx="10598439" cy="2531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알림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마당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[QNA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질문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반영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상세보기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→ 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*[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마이페이지에서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보기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←┙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276343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407380"/>
            <a:ext cx="7666905" cy="4764821"/>
          </a:xfrm>
          <a:custGeom>
            <a:avLst/>
            <a:gdLst/>
            <a:ahLst/>
            <a:cxnLst/>
            <a:rect l="l" t="t" r="r" b="b"/>
            <a:pathLst>
              <a:path w="11500357" h="7147231">
                <a:moveTo>
                  <a:pt x="0" y="0"/>
                </a:moveTo>
                <a:lnTo>
                  <a:pt x="11500357" y="0"/>
                </a:lnTo>
                <a:lnTo>
                  <a:pt x="11500357" y="7147231"/>
                </a:lnTo>
                <a:lnTo>
                  <a:pt x="0" y="7147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80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89184" y="1487208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89184" y="2017217"/>
            <a:ext cx="3838314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답변상태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비공개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글은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잠금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아이콘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본인글만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530118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2018872"/>
            <a:ext cx="7810775" cy="3739409"/>
          </a:xfrm>
          <a:custGeom>
            <a:avLst/>
            <a:gdLst/>
            <a:ahLst/>
            <a:cxnLst/>
            <a:rect l="l" t="t" r="r" b="b"/>
            <a:pathLst>
              <a:path w="11716163" h="5609113">
                <a:moveTo>
                  <a:pt x="0" y="0"/>
                </a:moveTo>
                <a:lnTo>
                  <a:pt x="11716163" y="0"/>
                </a:lnTo>
                <a:lnTo>
                  <a:pt x="11716163" y="5609113"/>
                </a:lnTo>
                <a:lnTo>
                  <a:pt x="0" y="5609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198515" y="1719753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5" y="2249762"/>
            <a:ext cx="3879878" cy="3808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답변상태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비공개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글은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잠금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아이콘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본인글만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19540758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2024917"/>
            <a:ext cx="5862773" cy="3797299"/>
          </a:xfrm>
          <a:custGeom>
            <a:avLst/>
            <a:gdLst/>
            <a:ahLst/>
            <a:cxnLst/>
            <a:rect l="l" t="t" r="r" b="b"/>
            <a:pathLst>
              <a:path w="8794160" h="5695949">
                <a:moveTo>
                  <a:pt x="0" y="0"/>
                </a:moveTo>
                <a:lnTo>
                  <a:pt x="8794161" y="0"/>
                </a:lnTo>
                <a:lnTo>
                  <a:pt x="8794161" y="5695949"/>
                </a:lnTo>
                <a:lnTo>
                  <a:pt x="0" y="5695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52" r="-1195" b="-590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06057" y="2024917"/>
            <a:ext cx="5368130" cy="3754309"/>
          </a:xfrm>
          <a:custGeom>
            <a:avLst/>
            <a:gdLst/>
            <a:ahLst/>
            <a:cxnLst/>
            <a:rect l="l" t="t" r="r" b="b"/>
            <a:pathLst>
              <a:path w="8052195" h="5631463">
                <a:moveTo>
                  <a:pt x="0" y="0"/>
                </a:moveTo>
                <a:lnTo>
                  <a:pt x="8052195" y="0"/>
                </a:lnTo>
                <a:lnTo>
                  <a:pt x="8052195" y="5631464"/>
                </a:lnTo>
                <a:lnTo>
                  <a:pt x="0" y="5631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30" t="-16237" r="-12801" b="-50189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grpSp>
        <p:nvGrpSpPr>
          <p:cNvPr id="7" name="Group 7"/>
          <p:cNvGrpSpPr/>
          <p:nvPr/>
        </p:nvGrpSpPr>
        <p:grpSpPr>
          <a:xfrm>
            <a:off x="6096000" y="3713510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15923089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909574"/>
            <a:ext cx="5988947" cy="3911559"/>
          </a:xfrm>
          <a:custGeom>
            <a:avLst/>
            <a:gdLst/>
            <a:ahLst/>
            <a:cxnLst/>
            <a:rect l="l" t="t" r="r" b="b"/>
            <a:pathLst>
              <a:path w="8983421" h="5867338">
                <a:moveTo>
                  <a:pt x="0" y="0"/>
                </a:moveTo>
                <a:lnTo>
                  <a:pt x="8983421" y="0"/>
                </a:lnTo>
                <a:lnTo>
                  <a:pt x="8983421" y="5867338"/>
                </a:lnTo>
                <a:lnTo>
                  <a:pt x="0" y="5867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81" b="-577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06057" y="1916996"/>
            <a:ext cx="5521691" cy="3782233"/>
          </a:xfrm>
          <a:custGeom>
            <a:avLst/>
            <a:gdLst/>
            <a:ahLst/>
            <a:cxnLst/>
            <a:rect l="l" t="t" r="r" b="b"/>
            <a:pathLst>
              <a:path w="8282536" h="5673349">
                <a:moveTo>
                  <a:pt x="0" y="0"/>
                </a:moveTo>
                <a:lnTo>
                  <a:pt x="8282536" y="0"/>
                </a:lnTo>
                <a:lnTo>
                  <a:pt x="8282536" y="5673349"/>
                </a:lnTo>
                <a:lnTo>
                  <a:pt x="0" y="56733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681" t="-17618" r="-12477" b="-49570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grpSp>
        <p:nvGrpSpPr>
          <p:cNvPr id="7" name="Group 7"/>
          <p:cNvGrpSpPr/>
          <p:nvPr/>
        </p:nvGrpSpPr>
        <p:grpSpPr>
          <a:xfrm>
            <a:off x="6031616" y="3598056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803431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306057" y="2387429"/>
            <a:ext cx="5568834" cy="2921973"/>
          </a:xfrm>
          <a:custGeom>
            <a:avLst/>
            <a:gdLst/>
            <a:ahLst/>
            <a:cxnLst/>
            <a:rect l="l" t="t" r="r" b="b"/>
            <a:pathLst>
              <a:path w="8353251" h="4382959">
                <a:moveTo>
                  <a:pt x="0" y="0"/>
                </a:moveTo>
                <a:lnTo>
                  <a:pt x="8353251" y="0"/>
                </a:lnTo>
                <a:lnTo>
                  <a:pt x="8353251" y="4382959"/>
                </a:lnTo>
                <a:lnTo>
                  <a:pt x="0" y="438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936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6" name="Freeform 6"/>
          <p:cNvSpPr/>
          <p:nvPr/>
        </p:nvSpPr>
        <p:spPr>
          <a:xfrm>
            <a:off x="317110" y="1945884"/>
            <a:ext cx="5846511" cy="3686442"/>
          </a:xfrm>
          <a:custGeom>
            <a:avLst/>
            <a:gdLst/>
            <a:ahLst/>
            <a:cxnLst/>
            <a:rect l="l" t="t" r="r" b="b"/>
            <a:pathLst>
              <a:path w="8769767" h="5529663">
                <a:moveTo>
                  <a:pt x="0" y="0"/>
                </a:moveTo>
                <a:lnTo>
                  <a:pt x="8769767" y="0"/>
                </a:lnTo>
                <a:lnTo>
                  <a:pt x="8769767" y="5529663"/>
                </a:lnTo>
                <a:lnTo>
                  <a:pt x="0" y="5529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267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953564" y="3640832"/>
            <a:ext cx="420113" cy="4201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1974943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17110" y="375407"/>
            <a:ext cx="11557781" cy="6107187"/>
          </a:xfrm>
          <a:custGeom>
            <a:avLst/>
            <a:gdLst/>
            <a:ahLst/>
            <a:cxnLst/>
            <a:rect l="l" t="t" r="r" b="b"/>
            <a:pathLst>
              <a:path w="4566037" h="2412716">
                <a:moveTo>
                  <a:pt x="0" y="0"/>
                </a:moveTo>
                <a:lnTo>
                  <a:pt x="4566037" y="0"/>
                </a:lnTo>
                <a:lnTo>
                  <a:pt x="4566037" y="2412716"/>
                </a:lnTo>
                <a:lnTo>
                  <a:pt x="0" y="2412716"/>
                </a:lnTo>
                <a:close/>
              </a:path>
            </a:pathLst>
          </a:custGeom>
          <a:solidFill>
            <a:srgbClr val="FEFCF9"/>
          </a:solidFill>
        </p:spPr>
      </p:sp>
      <p:sp>
        <p:nvSpPr>
          <p:cNvPr id="4" name="TextBox 4"/>
          <p:cNvSpPr txBox="1"/>
          <p:nvPr/>
        </p:nvSpPr>
        <p:spPr>
          <a:xfrm>
            <a:off x="317110" y="278966"/>
            <a:ext cx="11557781" cy="6203628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6" name="TextBox 6"/>
          <p:cNvSpPr txBox="1"/>
          <p:nvPr/>
        </p:nvSpPr>
        <p:spPr>
          <a:xfrm>
            <a:off x="685800" y="1440000"/>
            <a:ext cx="672122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211418"/>
            <a:ext cx="1049580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일반회원이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Q&amp;A를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열람하고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숨김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처리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수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있도록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구성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7585" y="3579659"/>
            <a:ext cx="10397354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                                                                                                                              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[QNA 목록] → [상세보기] → [답변 작성 / 수정] → [상태 변경]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307279" y="4614352"/>
            <a:ext cx="9859887" cy="1231274"/>
          </a:xfrm>
          <a:custGeom>
            <a:avLst/>
            <a:gdLst/>
            <a:ahLst/>
            <a:cxnLst/>
            <a:rect l="l" t="t" r="r" b="b"/>
            <a:pathLst>
              <a:path w="3895264" h="486429">
                <a:moveTo>
                  <a:pt x="8899" y="0"/>
                </a:moveTo>
                <a:lnTo>
                  <a:pt x="3886365" y="0"/>
                </a:lnTo>
                <a:cubicBezTo>
                  <a:pt x="3888725" y="0"/>
                  <a:pt x="3890989" y="938"/>
                  <a:pt x="3892658" y="2606"/>
                </a:cubicBezTo>
                <a:cubicBezTo>
                  <a:pt x="3894327" y="4275"/>
                  <a:pt x="3895264" y="6539"/>
                  <a:pt x="3895264" y="8899"/>
                </a:cubicBezTo>
                <a:lnTo>
                  <a:pt x="3895264" y="477530"/>
                </a:lnTo>
                <a:cubicBezTo>
                  <a:pt x="3895264" y="482445"/>
                  <a:pt x="3891280" y="486429"/>
                  <a:pt x="3886365" y="486429"/>
                </a:cubicBezTo>
                <a:lnTo>
                  <a:pt x="8899" y="486429"/>
                </a:lnTo>
                <a:cubicBezTo>
                  <a:pt x="6539" y="486429"/>
                  <a:pt x="4275" y="485492"/>
                  <a:pt x="2606" y="483823"/>
                </a:cubicBezTo>
                <a:cubicBezTo>
                  <a:pt x="938" y="482154"/>
                  <a:pt x="0" y="479890"/>
                  <a:pt x="0" y="477530"/>
                </a:cubicBezTo>
                <a:lnTo>
                  <a:pt x="0" y="8899"/>
                </a:lnTo>
                <a:cubicBezTo>
                  <a:pt x="0" y="3984"/>
                  <a:pt x="3984" y="0"/>
                  <a:pt x="88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54065529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488690"/>
            <a:ext cx="7881405" cy="4878229"/>
          </a:xfrm>
          <a:custGeom>
            <a:avLst/>
            <a:gdLst/>
            <a:ahLst/>
            <a:cxnLst/>
            <a:rect l="l" t="t" r="r" b="b"/>
            <a:pathLst>
              <a:path w="11822107" h="7317343">
                <a:moveTo>
                  <a:pt x="0" y="0"/>
                </a:moveTo>
                <a:lnTo>
                  <a:pt x="11822108" y="0"/>
                </a:lnTo>
                <a:lnTo>
                  <a:pt x="11822108" y="7317343"/>
                </a:lnTo>
                <a:lnTo>
                  <a:pt x="0" y="7317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723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98515" y="1719753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98515" y="2249762"/>
            <a:ext cx="3904816" cy="4501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작성일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답변상태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상태는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텍스트로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표현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가능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모든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회원의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글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80524" y="3138029"/>
            <a:ext cx="691758" cy="246440"/>
            <a:chOff x="0" y="0"/>
            <a:chExt cx="273287" cy="97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3287" cy="97359"/>
            </a:xfrm>
            <a:custGeom>
              <a:avLst/>
              <a:gdLst/>
              <a:ahLst/>
              <a:cxnLst/>
              <a:rect l="l" t="t" r="r" b="b"/>
              <a:pathLst>
                <a:path w="273287" h="97359">
                  <a:moveTo>
                    <a:pt x="0" y="0"/>
                  </a:moveTo>
                  <a:lnTo>
                    <a:pt x="273287" y="0"/>
                  </a:lnTo>
                  <a:lnTo>
                    <a:pt x="273287" y="97359"/>
                  </a:lnTo>
                  <a:lnTo>
                    <a:pt x="0" y="97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73287" cy="19260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7630037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31852" y="1795953"/>
            <a:ext cx="7678399" cy="4541659"/>
          </a:xfrm>
          <a:custGeom>
            <a:avLst/>
            <a:gdLst/>
            <a:ahLst/>
            <a:cxnLst/>
            <a:rect l="l" t="t" r="r" b="b"/>
            <a:pathLst>
              <a:path w="11517598" h="6812489">
                <a:moveTo>
                  <a:pt x="0" y="0"/>
                </a:moveTo>
                <a:lnTo>
                  <a:pt x="11517598" y="0"/>
                </a:lnTo>
                <a:lnTo>
                  <a:pt x="11517598" y="6812489"/>
                </a:lnTo>
                <a:lnTo>
                  <a:pt x="0" y="6812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643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235839" y="1542470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235839" y="2072479"/>
            <a:ext cx="3476376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조건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선택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제공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Q&amp;A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번호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작성자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작성일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답변상태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답변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상태는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텍스트로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표현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전체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Q&amp;A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확인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가능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(모든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회원의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글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접근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가능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)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2237953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909618"/>
            <a:ext cx="6407337" cy="3996905"/>
          </a:xfrm>
          <a:custGeom>
            <a:avLst/>
            <a:gdLst/>
            <a:ahLst/>
            <a:cxnLst/>
            <a:rect l="l" t="t" r="r" b="b"/>
            <a:pathLst>
              <a:path w="9611005" h="5995358">
                <a:moveTo>
                  <a:pt x="0" y="0"/>
                </a:moveTo>
                <a:lnTo>
                  <a:pt x="9611005" y="0"/>
                </a:lnTo>
                <a:lnTo>
                  <a:pt x="9611005" y="5995359"/>
                </a:lnTo>
                <a:lnTo>
                  <a:pt x="0" y="5995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404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389" y="3258008"/>
            <a:ext cx="579417" cy="196511"/>
            <a:chOff x="0" y="0"/>
            <a:chExt cx="228906" cy="776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906" cy="77634"/>
            </a:xfrm>
            <a:custGeom>
              <a:avLst/>
              <a:gdLst/>
              <a:ahLst/>
              <a:cxnLst/>
              <a:rect l="l" t="t" r="r" b="b"/>
              <a:pathLst>
                <a:path w="228906" h="77634">
                  <a:moveTo>
                    <a:pt x="0" y="0"/>
                  </a:moveTo>
                  <a:lnTo>
                    <a:pt x="228906" y="0"/>
                  </a:lnTo>
                  <a:lnTo>
                    <a:pt x="228906" y="77634"/>
                  </a:lnTo>
                  <a:lnTo>
                    <a:pt x="0" y="77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28906" cy="17288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6782193" y="2173448"/>
            <a:ext cx="4950319" cy="3786994"/>
          </a:xfrm>
          <a:custGeom>
            <a:avLst/>
            <a:gdLst/>
            <a:ahLst/>
            <a:cxnLst/>
            <a:rect l="l" t="t" r="r" b="b"/>
            <a:pathLst>
              <a:path w="7425479" h="5680491">
                <a:moveTo>
                  <a:pt x="0" y="0"/>
                </a:moveTo>
                <a:lnTo>
                  <a:pt x="7425480" y="0"/>
                </a:lnTo>
                <a:lnTo>
                  <a:pt x="7425480" y="5680491"/>
                </a:lnTo>
                <a:lnTo>
                  <a:pt x="0" y="5680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452605" y="3593058"/>
            <a:ext cx="420113" cy="42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4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2933464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6872718" y="2359328"/>
            <a:ext cx="5002172" cy="3307687"/>
          </a:xfrm>
          <a:custGeom>
            <a:avLst/>
            <a:gdLst/>
            <a:ahLst/>
            <a:cxnLst/>
            <a:rect l="l" t="t" r="r" b="b"/>
            <a:pathLst>
              <a:path w="7503258" h="4961530">
                <a:moveTo>
                  <a:pt x="0" y="0"/>
                </a:moveTo>
                <a:lnTo>
                  <a:pt x="7503259" y="0"/>
                </a:lnTo>
                <a:lnTo>
                  <a:pt x="7503259" y="4961530"/>
                </a:lnTo>
                <a:lnTo>
                  <a:pt x="0" y="4961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7109" y="1923292"/>
            <a:ext cx="6297188" cy="3885861"/>
          </a:xfrm>
          <a:custGeom>
            <a:avLst/>
            <a:gdLst/>
            <a:ahLst/>
            <a:cxnLst/>
            <a:rect l="l" t="t" r="r" b="b"/>
            <a:pathLst>
              <a:path w="9445782" h="5828791">
                <a:moveTo>
                  <a:pt x="0" y="0"/>
                </a:moveTo>
                <a:lnTo>
                  <a:pt x="9445782" y="0"/>
                </a:lnTo>
                <a:lnTo>
                  <a:pt x="9445782" y="5828791"/>
                </a:lnTo>
                <a:lnTo>
                  <a:pt x="0" y="582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563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96092" y="3232489"/>
            <a:ext cx="579417" cy="196511"/>
            <a:chOff x="0" y="0"/>
            <a:chExt cx="228906" cy="776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906" cy="77634"/>
            </a:xfrm>
            <a:custGeom>
              <a:avLst/>
              <a:gdLst/>
              <a:ahLst/>
              <a:cxnLst/>
              <a:rect l="l" t="t" r="r" b="b"/>
              <a:pathLst>
                <a:path w="228906" h="77634">
                  <a:moveTo>
                    <a:pt x="0" y="0"/>
                  </a:moveTo>
                  <a:lnTo>
                    <a:pt x="228906" y="0"/>
                  </a:lnTo>
                  <a:lnTo>
                    <a:pt x="228906" y="77634"/>
                  </a:lnTo>
                  <a:lnTo>
                    <a:pt x="0" y="77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228906" cy="17288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2605" y="3593058"/>
            <a:ext cx="420113" cy="42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4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07790630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7779" y="369640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440000"/>
            <a:ext cx="8109065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/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광고회사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–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&amp;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7585" y="2211418"/>
            <a:ext cx="10039927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🔹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목적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데이터를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삭제하고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팝업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여부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,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제어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marL="374248" lvl="1" indent="-187124" algn="just">
              <a:lnSpc>
                <a:spcPts val="2687"/>
              </a:lnSpc>
              <a:spcBef>
                <a:spcPct val="0"/>
              </a:spcBef>
              <a:buFont typeface="Arial"/>
              <a:buChar char="•"/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연결된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광고회사를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사전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83541" y="4614352"/>
            <a:ext cx="9859887" cy="1231274"/>
          </a:xfrm>
          <a:custGeom>
            <a:avLst/>
            <a:gdLst/>
            <a:ahLst/>
            <a:cxnLst/>
            <a:rect l="l" t="t" r="r" b="b"/>
            <a:pathLst>
              <a:path w="3895264" h="486429">
                <a:moveTo>
                  <a:pt x="8899" y="0"/>
                </a:moveTo>
                <a:lnTo>
                  <a:pt x="3886365" y="0"/>
                </a:lnTo>
                <a:cubicBezTo>
                  <a:pt x="3888725" y="0"/>
                  <a:pt x="3890989" y="938"/>
                  <a:pt x="3892658" y="2606"/>
                </a:cubicBezTo>
                <a:cubicBezTo>
                  <a:pt x="3894327" y="4275"/>
                  <a:pt x="3895264" y="6539"/>
                  <a:pt x="3895264" y="8899"/>
                </a:cubicBezTo>
                <a:lnTo>
                  <a:pt x="3895264" y="477530"/>
                </a:lnTo>
                <a:cubicBezTo>
                  <a:pt x="3895264" y="482445"/>
                  <a:pt x="3891280" y="486429"/>
                  <a:pt x="3886365" y="486429"/>
                </a:cubicBezTo>
                <a:lnTo>
                  <a:pt x="8899" y="486429"/>
                </a:lnTo>
                <a:cubicBezTo>
                  <a:pt x="6539" y="486429"/>
                  <a:pt x="4275" y="485492"/>
                  <a:pt x="2606" y="483823"/>
                </a:cubicBezTo>
                <a:cubicBezTo>
                  <a:pt x="938" y="482154"/>
                  <a:pt x="0" y="479890"/>
                  <a:pt x="0" y="477530"/>
                </a:cubicBezTo>
                <a:lnTo>
                  <a:pt x="0" y="8899"/>
                </a:lnTo>
                <a:cubicBezTo>
                  <a:pt x="0" y="3984"/>
                  <a:pt x="3984" y="0"/>
                  <a:pt x="88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>
                <a:lumMod val="75000"/>
              </a:schemeClr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747585" y="3579659"/>
            <a:ext cx="10395843" cy="213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🔸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이용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흐름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[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관리자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페이지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진입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]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↓      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</a:t>
            </a:r>
          </a:p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[광고 목록] → [등록 / 수정/ 연장] → [노출 여부 설정] → [자동 종료됨]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 →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                                  [광고와 연결]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 [등록 / 수정 / 삭제] [광고회사 목록] ←┙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3631489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529409"/>
            <a:ext cx="7881405" cy="4887055"/>
          </a:xfrm>
          <a:custGeom>
            <a:avLst/>
            <a:gdLst/>
            <a:ahLst/>
            <a:cxnLst/>
            <a:rect l="l" t="t" r="r" b="b"/>
            <a:pathLst>
              <a:path w="11822107" h="7330583">
                <a:moveTo>
                  <a:pt x="0" y="0"/>
                </a:moveTo>
                <a:lnTo>
                  <a:pt x="11822108" y="0"/>
                </a:lnTo>
                <a:lnTo>
                  <a:pt x="11822108" y="7330583"/>
                </a:lnTo>
                <a:lnTo>
                  <a:pt x="0" y="73305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704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9216" y="3429000"/>
            <a:ext cx="862113" cy="560392"/>
            <a:chOff x="0" y="0"/>
            <a:chExt cx="340588" cy="2213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0588" cy="221389"/>
            </a:xfrm>
            <a:custGeom>
              <a:avLst/>
              <a:gdLst/>
              <a:ahLst/>
              <a:cxnLst/>
              <a:rect l="l" t="t" r="r" b="b"/>
              <a:pathLst>
                <a:path w="340588" h="221389">
                  <a:moveTo>
                    <a:pt x="0" y="0"/>
                  </a:moveTo>
                  <a:lnTo>
                    <a:pt x="340588" y="0"/>
                  </a:lnTo>
                  <a:lnTo>
                    <a:pt x="340588" y="221389"/>
                  </a:lnTo>
                  <a:lnTo>
                    <a:pt x="0" y="221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340588" cy="3166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98515" y="1570459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198515" y="2100468"/>
            <a:ext cx="3676376" cy="450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ID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회사명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사업자번호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담당자명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연락처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이메일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등록일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버튼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(수정 / 삭제)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삭제되지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않은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드롭다운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노출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8701311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09" y="1795953"/>
            <a:ext cx="7766663" cy="4029368"/>
          </a:xfrm>
          <a:custGeom>
            <a:avLst/>
            <a:gdLst/>
            <a:ahLst/>
            <a:cxnLst/>
            <a:rect l="l" t="t" r="r" b="b"/>
            <a:pathLst>
              <a:path w="11649994" h="6044052">
                <a:moveTo>
                  <a:pt x="0" y="0"/>
                </a:moveTo>
                <a:lnTo>
                  <a:pt x="11649994" y="0"/>
                </a:lnTo>
                <a:lnTo>
                  <a:pt x="11649994" y="6044052"/>
                </a:lnTo>
                <a:lnTo>
                  <a:pt x="0" y="604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477"/>
            </a:stretch>
          </a:blipFill>
          <a:ln w="9525"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360360" y="1276388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360359" y="1806397"/>
            <a:ext cx="3738561" cy="4501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 키워드 검색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 ID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회사명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사업자번호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담당자명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연락처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이메일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   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등록일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: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altLang="ko-KR" sz="1733" b="1" spc="117">
                <a:solidFill>
                  <a:srgbClr val="2B4B8B"/>
                </a:solidFill>
                <a:latin typeface="맑은 고딕" panose="020B0503020000020004" pitchFamily="50" charset="-127"/>
                <a:cs typeface="Paperlogy Semi-Bold"/>
                <a:sym typeface="Paperlogy Semi-Bold"/>
              </a:rPr>
              <a:t>·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삭제되지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않은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드롭다운에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노출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87642573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652747"/>
            <a:ext cx="6490138" cy="4087171"/>
          </a:xfrm>
          <a:custGeom>
            <a:avLst/>
            <a:gdLst/>
            <a:ahLst/>
            <a:cxnLst/>
            <a:rect l="l" t="t" r="r" b="b"/>
            <a:pathLst>
              <a:path w="9735207" h="6130756">
                <a:moveTo>
                  <a:pt x="0" y="0"/>
                </a:moveTo>
                <a:lnTo>
                  <a:pt x="9735207" y="0"/>
                </a:lnTo>
                <a:lnTo>
                  <a:pt x="9735207" y="6130755"/>
                </a:lnTo>
                <a:lnTo>
                  <a:pt x="0" y="6130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398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05564" y="3593058"/>
            <a:ext cx="420113" cy="4201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04918" y="3178993"/>
            <a:ext cx="844665" cy="535320"/>
            <a:chOff x="0" y="0"/>
            <a:chExt cx="333695" cy="2114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3695" cy="211484"/>
            </a:xfrm>
            <a:custGeom>
              <a:avLst/>
              <a:gdLst/>
              <a:ahLst/>
              <a:cxnLst/>
              <a:rect l="l" t="t" r="r" b="b"/>
              <a:pathLst>
                <a:path w="333695" h="211484">
                  <a:moveTo>
                    <a:pt x="0" y="0"/>
                  </a:moveTo>
                  <a:lnTo>
                    <a:pt x="333695" y="0"/>
                  </a:lnTo>
                  <a:lnTo>
                    <a:pt x="333695" y="211484"/>
                  </a:lnTo>
                  <a:lnTo>
                    <a:pt x="0" y="21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333695" cy="30673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925676" y="2517559"/>
            <a:ext cx="4949214" cy="2728254"/>
          </a:xfrm>
          <a:custGeom>
            <a:avLst/>
            <a:gdLst/>
            <a:ahLst/>
            <a:cxnLst/>
            <a:rect l="l" t="t" r="r" b="b"/>
            <a:pathLst>
              <a:path w="7423821" h="4092381">
                <a:moveTo>
                  <a:pt x="0" y="0"/>
                </a:moveTo>
                <a:lnTo>
                  <a:pt x="7423822" y="0"/>
                </a:lnTo>
                <a:lnTo>
                  <a:pt x="7423822" y="4092381"/>
                </a:lnTo>
                <a:lnTo>
                  <a:pt x="0" y="4092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14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8854764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251410"/>
            <a:ext cx="7993873" cy="4997011"/>
          </a:xfrm>
          <a:custGeom>
            <a:avLst/>
            <a:gdLst/>
            <a:ahLst/>
            <a:cxnLst/>
            <a:rect l="l" t="t" r="r" b="b"/>
            <a:pathLst>
              <a:path w="11990810" h="7495517">
                <a:moveTo>
                  <a:pt x="0" y="0"/>
                </a:moveTo>
                <a:lnTo>
                  <a:pt x="11990810" y="0"/>
                </a:lnTo>
                <a:lnTo>
                  <a:pt x="11990810" y="7495517"/>
                </a:lnTo>
                <a:lnTo>
                  <a:pt x="0" y="7495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18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207846" y="1645106"/>
            <a:ext cx="1893211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207845" y="2175115"/>
            <a:ext cx="3993486" cy="3808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ID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이미지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회사명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시작일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종료일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팝업여부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버튼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: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연장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삭제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상태는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계산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59216" y="3189523"/>
            <a:ext cx="862113" cy="560392"/>
            <a:chOff x="0" y="0"/>
            <a:chExt cx="340588" cy="2213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0588" cy="221389"/>
            </a:xfrm>
            <a:custGeom>
              <a:avLst/>
              <a:gdLst/>
              <a:ahLst/>
              <a:cxnLst/>
              <a:rect l="l" t="t" r="r" b="b"/>
              <a:pathLst>
                <a:path w="340588" h="221389">
                  <a:moveTo>
                    <a:pt x="0" y="0"/>
                  </a:moveTo>
                  <a:lnTo>
                    <a:pt x="340588" y="0"/>
                  </a:lnTo>
                  <a:lnTo>
                    <a:pt x="340588" y="221389"/>
                  </a:lnTo>
                  <a:lnTo>
                    <a:pt x="0" y="221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340588" cy="3166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2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56944963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251409"/>
            <a:ext cx="8015575" cy="5200104"/>
          </a:xfrm>
          <a:custGeom>
            <a:avLst/>
            <a:gdLst/>
            <a:ahLst/>
            <a:cxnLst/>
            <a:rect l="l" t="t" r="r" b="b"/>
            <a:pathLst>
              <a:path w="12023363" h="7800156">
                <a:moveTo>
                  <a:pt x="0" y="0"/>
                </a:moveTo>
                <a:lnTo>
                  <a:pt x="12023363" y="0"/>
                </a:lnTo>
                <a:lnTo>
                  <a:pt x="12023363" y="7800156"/>
                </a:lnTo>
                <a:lnTo>
                  <a:pt x="0" y="7800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394462" y="1150584"/>
            <a:ext cx="1704478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7"/>
              </a:lnSpc>
              <a:spcBef>
                <a:spcPct val="0"/>
              </a:spcBef>
            </a:pP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✅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요구</a:t>
            </a:r>
            <a:r>
              <a:rPr lang="en-US" sz="2133" b="1" spc="145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2133" b="1" spc="145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사항</a:t>
            </a:r>
            <a:endParaRPr lang="en-US" sz="2133" b="1" spc="145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394460" y="1680593"/>
            <a:ext cx="3595377" cy="4501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필터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통합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키워드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검색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목록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테이블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ID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제목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이미지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광고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회사명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시작일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종료일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  팝업여부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관리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버튼 (연장 /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수정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/ 삭제)</a:t>
            </a: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기타</a:t>
            </a: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b="1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제한</a:t>
            </a: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r>
              <a:rPr lang="en-US" sz="1733" b="1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·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광고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상태는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자동</a:t>
            </a:r>
            <a:r>
              <a:rPr lang="en-US" sz="1733" spc="1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1733" spc="117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계산</a:t>
            </a:r>
            <a:endParaRPr lang="en-US" sz="1733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  <a:p>
            <a:pPr algn="just">
              <a:lnSpc>
                <a:spcPts val="2687"/>
              </a:lnSpc>
              <a:spcBef>
                <a:spcPct val="0"/>
              </a:spcBef>
            </a:pPr>
            <a:endParaRPr lang="en-US" sz="1733" b="1" spc="1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9288017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588527"/>
            <a:ext cx="6407337" cy="3988079"/>
          </a:xfrm>
          <a:custGeom>
            <a:avLst/>
            <a:gdLst/>
            <a:ahLst/>
            <a:cxnLst/>
            <a:rect l="l" t="t" r="r" b="b"/>
            <a:pathLst>
              <a:path w="9611005" h="5982119">
                <a:moveTo>
                  <a:pt x="0" y="0"/>
                </a:moveTo>
                <a:lnTo>
                  <a:pt x="9611005" y="0"/>
                </a:lnTo>
                <a:lnTo>
                  <a:pt x="9611005" y="5982119"/>
                </a:lnTo>
                <a:lnTo>
                  <a:pt x="0" y="5982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63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96091" y="3124310"/>
            <a:ext cx="755944" cy="487780"/>
            <a:chOff x="0" y="0"/>
            <a:chExt cx="298645" cy="1927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645" cy="192703"/>
            </a:xfrm>
            <a:custGeom>
              <a:avLst/>
              <a:gdLst/>
              <a:ahLst/>
              <a:cxnLst/>
              <a:rect l="l" t="t" r="r" b="b"/>
              <a:pathLst>
                <a:path w="298645" h="192703">
                  <a:moveTo>
                    <a:pt x="0" y="0"/>
                  </a:moveTo>
                  <a:lnTo>
                    <a:pt x="298645" y="0"/>
                  </a:lnTo>
                  <a:lnTo>
                    <a:pt x="298645" y="192703"/>
                  </a:lnTo>
                  <a:lnTo>
                    <a:pt x="0" y="192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98645" cy="2879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6724446" y="1950521"/>
            <a:ext cx="5150445" cy="3482988"/>
          </a:xfrm>
          <a:custGeom>
            <a:avLst/>
            <a:gdLst/>
            <a:ahLst/>
            <a:cxnLst/>
            <a:rect l="l" t="t" r="r" b="b"/>
            <a:pathLst>
              <a:path w="7725667" h="5224482">
                <a:moveTo>
                  <a:pt x="0" y="0"/>
                </a:moveTo>
                <a:lnTo>
                  <a:pt x="7725667" y="0"/>
                </a:lnTo>
                <a:lnTo>
                  <a:pt x="7725667" y="5224482"/>
                </a:lnTo>
                <a:lnTo>
                  <a:pt x="0" y="5224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grpSp>
        <p:nvGrpSpPr>
          <p:cNvPr id="10" name="Group 10"/>
          <p:cNvGrpSpPr/>
          <p:nvPr/>
        </p:nvGrpSpPr>
        <p:grpSpPr>
          <a:xfrm>
            <a:off x="6514390" y="3481958"/>
            <a:ext cx="420113" cy="42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4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99742667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09" y="1541648"/>
            <a:ext cx="6336963" cy="3891861"/>
          </a:xfrm>
          <a:custGeom>
            <a:avLst/>
            <a:gdLst/>
            <a:ahLst/>
            <a:cxnLst/>
            <a:rect l="l" t="t" r="r" b="b"/>
            <a:pathLst>
              <a:path w="9505444" h="5837792">
                <a:moveTo>
                  <a:pt x="0" y="0"/>
                </a:moveTo>
                <a:lnTo>
                  <a:pt x="9505444" y="0"/>
                </a:lnTo>
                <a:lnTo>
                  <a:pt x="9505444" y="5837792"/>
                </a:lnTo>
                <a:lnTo>
                  <a:pt x="0" y="5837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07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14390" y="3481958"/>
            <a:ext cx="420113" cy="4201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6091" y="3062525"/>
            <a:ext cx="755944" cy="487780"/>
            <a:chOff x="0" y="0"/>
            <a:chExt cx="298645" cy="1927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8645" cy="192703"/>
            </a:xfrm>
            <a:custGeom>
              <a:avLst/>
              <a:gdLst/>
              <a:ahLst/>
              <a:cxnLst/>
              <a:rect l="l" t="t" r="r" b="b"/>
              <a:pathLst>
                <a:path w="298645" h="192703">
                  <a:moveTo>
                    <a:pt x="0" y="0"/>
                  </a:moveTo>
                  <a:lnTo>
                    <a:pt x="298645" y="0"/>
                  </a:lnTo>
                  <a:lnTo>
                    <a:pt x="298645" y="192703"/>
                  </a:lnTo>
                  <a:lnTo>
                    <a:pt x="0" y="192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98645" cy="2879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934503" y="1804290"/>
            <a:ext cx="4899890" cy="4511414"/>
          </a:xfrm>
          <a:custGeom>
            <a:avLst/>
            <a:gdLst/>
            <a:ahLst/>
            <a:cxnLst/>
            <a:rect l="l" t="t" r="r" b="b"/>
            <a:pathLst>
              <a:path w="7349835" h="6767121">
                <a:moveTo>
                  <a:pt x="0" y="0"/>
                </a:moveTo>
                <a:lnTo>
                  <a:pt x="7349835" y="0"/>
                </a:lnTo>
                <a:lnTo>
                  <a:pt x="7349835" y="6767120"/>
                </a:lnTo>
                <a:lnTo>
                  <a:pt x="0" y="6767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373" t="-24096" r="-20731" b="-65573"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14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767577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09" y="1762306"/>
            <a:ext cx="6345552" cy="3955896"/>
          </a:xfrm>
          <a:custGeom>
            <a:avLst/>
            <a:gdLst/>
            <a:ahLst/>
            <a:cxnLst/>
            <a:rect l="l" t="t" r="r" b="b"/>
            <a:pathLst>
              <a:path w="9518328" h="5933844">
                <a:moveTo>
                  <a:pt x="0" y="0"/>
                </a:moveTo>
                <a:lnTo>
                  <a:pt x="9518328" y="0"/>
                </a:lnTo>
                <a:lnTo>
                  <a:pt x="9518328" y="5933844"/>
                </a:lnTo>
                <a:lnTo>
                  <a:pt x="0" y="5933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47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96092" y="3232490"/>
            <a:ext cx="844665" cy="570625"/>
            <a:chOff x="0" y="0"/>
            <a:chExt cx="333695" cy="225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3695" cy="225432"/>
            </a:xfrm>
            <a:custGeom>
              <a:avLst/>
              <a:gdLst/>
              <a:ahLst/>
              <a:cxnLst/>
              <a:rect l="l" t="t" r="r" b="b"/>
              <a:pathLst>
                <a:path w="333695" h="225432">
                  <a:moveTo>
                    <a:pt x="0" y="0"/>
                  </a:moveTo>
                  <a:lnTo>
                    <a:pt x="333695" y="0"/>
                  </a:lnTo>
                  <a:lnTo>
                    <a:pt x="333695" y="225432"/>
                  </a:lnTo>
                  <a:lnTo>
                    <a:pt x="0" y="225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333695" cy="32068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6872718" y="1762306"/>
            <a:ext cx="4541401" cy="4155382"/>
          </a:xfrm>
          <a:custGeom>
            <a:avLst/>
            <a:gdLst/>
            <a:ahLst/>
            <a:cxnLst/>
            <a:rect l="l" t="t" r="r" b="b"/>
            <a:pathLst>
              <a:path w="6812102" h="6233073">
                <a:moveTo>
                  <a:pt x="0" y="0"/>
                </a:moveTo>
                <a:lnTo>
                  <a:pt x="6812102" y="0"/>
                </a:lnTo>
                <a:lnTo>
                  <a:pt x="6812102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05564" y="3593058"/>
            <a:ext cx="420113" cy="42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88730" y="60960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51594244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7110" y="1251410"/>
            <a:ext cx="11557781" cy="5359921"/>
          </a:xfrm>
          <a:custGeom>
            <a:avLst/>
            <a:gdLst/>
            <a:ahLst/>
            <a:cxnLst/>
            <a:rect l="l" t="t" r="r" b="b"/>
            <a:pathLst>
              <a:path w="17336671" h="8039881">
                <a:moveTo>
                  <a:pt x="0" y="0"/>
                </a:moveTo>
                <a:lnTo>
                  <a:pt x="17336672" y="0"/>
                </a:lnTo>
                <a:lnTo>
                  <a:pt x="17336672" y="8039881"/>
                </a:lnTo>
                <a:lnTo>
                  <a:pt x="0" y="8039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7109" y="2073725"/>
            <a:ext cx="5852728" cy="3399004"/>
            <a:chOff x="0" y="0"/>
            <a:chExt cx="2312189" cy="13428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12189" cy="1342816"/>
            </a:xfrm>
            <a:custGeom>
              <a:avLst/>
              <a:gdLst/>
              <a:ahLst/>
              <a:cxnLst/>
              <a:rect l="l" t="t" r="r" b="b"/>
              <a:pathLst>
                <a:path w="2312189" h="1342816">
                  <a:moveTo>
                    <a:pt x="14992" y="0"/>
                  </a:moveTo>
                  <a:lnTo>
                    <a:pt x="2297197" y="0"/>
                  </a:lnTo>
                  <a:cubicBezTo>
                    <a:pt x="2301173" y="0"/>
                    <a:pt x="2304986" y="1579"/>
                    <a:pt x="2307798" y="4391"/>
                  </a:cubicBezTo>
                  <a:cubicBezTo>
                    <a:pt x="2310609" y="7202"/>
                    <a:pt x="2312189" y="11016"/>
                    <a:pt x="2312189" y="14992"/>
                  </a:cubicBezTo>
                  <a:lnTo>
                    <a:pt x="2312189" y="1327825"/>
                  </a:lnTo>
                  <a:cubicBezTo>
                    <a:pt x="2312189" y="1331801"/>
                    <a:pt x="2310609" y="1335614"/>
                    <a:pt x="2307798" y="1338426"/>
                  </a:cubicBezTo>
                  <a:cubicBezTo>
                    <a:pt x="2304986" y="1341237"/>
                    <a:pt x="2301173" y="1342816"/>
                    <a:pt x="2297197" y="1342816"/>
                  </a:cubicBezTo>
                  <a:lnTo>
                    <a:pt x="14992" y="1342816"/>
                  </a:lnTo>
                  <a:cubicBezTo>
                    <a:pt x="11016" y="1342816"/>
                    <a:pt x="7202" y="1341237"/>
                    <a:pt x="4391" y="1338426"/>
                  </a:cubicBezTo>
                  <a:cubicBezTo>
                    <a:pt x="1579" y="1335614"/>
                    <a:pt x="0" y="1331801"/>
                    <a:pt x="0" y="1327825"/>
                  </a:cubicBezTo>
                  <a:lnTo>
                    <a:pt x="0" y="14992"/>
                  </a:lnTo>
                  <a:cubicBezTo>
                    <a:pt x="0" y="11016"/>
                    <a:pt x="1579" y="7202"/>
                    <a:pt x="4391" y="4391"/>
                  </a:cubicBezTo>
                  <a:cubicBezTo>
                    <a:pt x="7202" y="1579"/>
                    <a:pt x="11016" y="0"/>
                    <a:pt x="149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D9242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2312189" cy="14380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42479605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2789987" y="1331085"/>
            <a:ext cx="6612027" cy="5151509"/>
          </a:xfrm>
          <a:custGeom>
            <a:avLst/>
            <a:gdLst/>
            <a:ahLst/>
            <a:cxnLst/>
            <a:rect l="l" t="t" r="r" b="b"/>
            <a:pathLst>
              <a:path w="9918040" h="7727264">
                <a:moveTo>
                  <a:pt x="0" y="0"/>
                </a:moveTo>
                <a:lnTo>
                  <a:pt x="9918040" y="0"/>
                </a:lnTo>
                <a:lnTo>
                  <a:pt x="9918040" y="7727263"/>
                </a:lnTo>
                <a:lnTo>
                  <a:pt x="0" y="7727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00" t="-13307" r="-5724" b="-4646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609550" y="4026520"/>
            <a:ext cx="3617441" cy="1216129"/>
            <a:chOff x="0" y="0"/>
            <a:chExt cx="1429113" cy="4804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9113" cy="480446"/>
            </a:xfrm>
            <a:custGeom>
              <a:avLst/>
              <a:gdLst/>
              <a:ahLst/>
              <a:cxnLst/>
              <a:rect l="l" t="t" r="r" b="b"/>
              <a:pathLst>
                <a:path w="1429113" h="480446">
                  <a:moveTo>
                    <a:pt x="24255" y="0"/>
                  </a:moveTo>
                  <a:lnTo>
                    <a:pt x="1404858" y="0"/>
                  </a:lnTo>
                  <a:cubicBezTo>
                    <a:pt x="1411291" y="0"/>
                    <a:pt x="1417460" y="2555"/>
                    <a:pt x="1422009" y="7104"/>
                  </a:cubicBezTo>
                  <a:cubicBezTo>
                    <a:pt x="1426557" y="11653"/>
                    <a:pt x="1429113" y="17822"/>
                    <a:pt x="1429113" y="24255"/>
                  </a:cubicBezTo>
                  <a:lnTo>
                    <a:pt x="1429113" y="456191"/>
                  </a:lnTo>
                  <a:cubicBezTo>
                    <a:pt x="1429113" y="462624"/>
                    <a:pt x="1426557" y="468793"/>
                    <a:pt x="1422009" y="473342"/>
                  </a:cubicBezTo>
                  <a:cubicBezTo>
                    <a:pt x="1417460" y="477891"/>
                    <a:pt x="1411291" y="480446"/>
                    <a:pt x="1404858" y="480446"/>
                  </a:cubicBezTo>
                  <a:lnTo>
                    <a:pt x="24255" y="480446"/>
                  </a:lnTo>
                  <a:cubicBezTo>
                    <a:pt x="17822" y="480446"/>
                    <a:pt x="11653" y="477891"/>
                    <a:pt x="7104" y="473342"/>
                  </a:cubicBezTo>
                  <a:cubicBezTo>
                    <a:pt x="2555" y="468793"/>
                    <a:pt x="0" y="462624"/>
                    <a:pt x="0" y="456191"/>
                  </a:cubicBezTo>
                  <a:lnTo>
                    <a:pt x="0" y="24255"/>
                  </a:lnTo>
                  <a:cubicBezTo>
                    <a:pt x="0" y="17822"/>
                    <a:pt x="2555" y="11653"/>
                    <a:pt x="7104" y="7104"/>
                  </a:cubicBezTo>
                  <a:cubicBezTo>
                    <a:pt x="11653" y="2555"/>
                    <a:pt x="17822" y="0"/>
                    <a:pt x="242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D9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429113" cy="57569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87"/>
                </a:lnSpc>
              </a:pPr>
              <a:endParaRPr sz="1200"/>
            </a:p>
          </p:txBody>
        </p:sp>
      </p:grpSp>
      <p:sp>
        <p:nvSpPr>
          <p:cNvPr id="10" name="TextBox 7"/>
          <p:cNvSpPr txBox="1"/>
          <p:nvPr/>
        </p:nvSpPr>
        <p:spPr>
          <a:xfrm>
            <a:off x="3352459" y="369640"/>
            <a:ext cx="561454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ko-KR" altLang="en-US" sz="3734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화면 구성</a:t>
            </a:r>
            <a:endParaRPr lang="en-US" sz="3734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85081075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110" y="375407"/>
            <a:ext cx="11557781" cy="6107187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597004" y="1239015"/>
            <a:ext cx="5561002" cy="2455460"/>
            <a:chOff x="773297" y="3848940"/>
            <a:chExt cx="5561002" cy="2455460"/>
          </a:xfrm>
        </p:grpSpPr>
        <p:grpSp>
          <p:nvGrpSpPr>
            <p:cNvPr id="5" name="Group 5"/>
            <p:cNvGrpSpPr/>
            <p:nvPr/>
          </p:nvGrpSpPr>
          <p:grpSpPr>
            <a:xfrm>
              <a:off x="773297" y="3848940"/>
              <a:ext cx="5561002" cy="2455460"/>
              <a:chOff x="0" y="-47625"/>
              <a:chExt cx="2320168" cy="85117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320168" cy="803548"/>
              </a:xfrm>
              <a:custGeom>
                <a:avLst/>
                <a:gdLst/>
                <a:ahLst/>
                <a:cxnLst/>
                <a:rect l="l" t="t" r="r" b="b"/>
                <a:pathLst>
                  <a:path w="2320168" h="759162">
                    <a:moveTo>
                      <a:pt x="14940" y="0"/>
                    </a:moveTo>
                    <a:lnTo>
                      <a:pt x="2305228" y="0"/>
                    </a:lnTo>
                    <a:cubicBezTo>
                      <a:pt x="2313479" y="0"/>
                      <a:pt x="2320168" y="6689"/>
                      <a:pt x="2320168" y="14940"/>
                    </a:cubicBezTo>
                    <a:lnTo>
                      <a:pt x="2320168" y="744222"/>
                    </a:lnTo>
                    <a:cubicBezTo>
                      <a:pt x="2320168" y="748184"/>
                      <a:pt x="2318594" y="751984"/>
                      <a:pt x="2315792" y="754786"/>
                    </a:cubicBezTo>
                    <a:cubicBezTo>
                      <a:pt x="2312990" y="757588"/>
                      <a:pt x="2309190" y="759162"/>
                      <a:pt x="2305228" y="759162"/>
                    </a:cubicBezTo>
                    <a:lnTo>
                      <a:pt x="14940" y="759162"/>
                    </a:lnTo>
                    <a:cubicBezTo>
                      <a:pt x="10978" y="759162"/>
                      <a:pt x="7178" y="757588"/>
                      <a:pt x="4376" y="754786"/>
                    </a:cubicBezTo>
                    <a:cubicBezTo>
                      <a:pt x="1574" y="751984"/>
                      <a:pt x="0" y="748184"/>
                      <a:pt x="0" y="744222"/>
                    </a:cubicBezTo>
                    <a:lnTo>
                      <a:pt x="0" y="14940"/>
                    </a:lnTo>
                    <a:cubicBezTo>
                      <a:pt x="0" y="10978"/>
                      <a:pt x="1574" y="7178"/>
                      <a:pt x="4376" y="4376"/>
                    </a:cubicBezTo>
                    <a:cubicBezTo>
                      <a:pt x="7178" y="1574"/>
                      <a:pt x="10978" y="0"/>
                      <a:pt x="1494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320168" cy="80678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909235" y="4076342"/>
              <a:ext cx="5425063" cy="21929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81"/>
                </a:lnSpc>
                <a:spcBef>
                  <a:spcPct val="0"/>
                </a:spcBef>
              </a:pP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✅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활용방안</a:t>
              </a:r>
              <a:endParaRPr lang="en-US" sz="1343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 marL="290053" lvl="1" indent="-145026">
                <a:lnSpc>
                  <a:spcPts val="18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QnA·분실물은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사용자와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직접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상호작용하는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기능으로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,</a:t>
              </a:r>
            </a:p>
            <a:p>
              <a:pPr>
                <a:lnSpc>
                  <a:spcPts val="1881"/>
                </a:lnSpc>
                <a:spcBef>
                  <a:spcPct val="0"/>
                </a:spcBef>
              </a:pP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향후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서비스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확장이나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실무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경험에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활용도가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높을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것으로</a:t>
              </a:r>
              <a:endParaRPr lang="en-US" sz="1343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>
                <a:lnSpc>
                  <a:spcPts val="1881"/>
                </a:lnSpc>
                <a:spcBef>
                  <a:spcPct val="0"/>
                </a:spcBef>
              </a:pP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생각됨</a:t>
              </a:r>
              <a:endParaRPr lang="en-US" sz="1343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>
                <a:lnSpc>
                  <a:spcPts val="1881"/>
                </a:lnSpc>
                <a:spcBef>
                  <a:spcPct val="0"/>
                </a:spcBef>
              </a:pP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⚠️ 2차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구현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후기</a:t>
              </a:r>
              <a:endParaRPr lang="en-US" sz="1343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 marL="290053" lvl="1" indent="-145026">
                <a:lnSpc>
                  <a:spcPts val="18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게시글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삭제는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soft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delete로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처리되지만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,</a:t>
              </a:r>
            </a:p>
            <a:p>
              <a:pPr>
                <a:lnSpc>
                  <a:spcPts val="1881"/>
                </a:lnSpc>
                <a:spcBef>
                  <a:spcPct val="0"/>
                </a:spcBef>
              </a:pP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 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복구·숨김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해제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UI가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없어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관리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편의성에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아쉬움</a:t>
              </a:r>
              <a:endParaRPr lang="en-US" sz="1343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 marL="290053" lvl="1" indent="-145026">
                <a:lnSpc>
                  <a:spcPts val="18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향후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복원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/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상태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전환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기능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등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운영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중심의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고도화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필요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</a:p>
            <a:p>
              <a:pPr marL="145027" lvl="1">
                <a:lnSpc>
                  <a:spcPts val="1881"/>
                </a:lnSpc>
                <a:spcBef>
                  <a:spcPct val="0"/>
                </a:spcBef>
              </a:pP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                                                                - </a:t>
              </a:r>
              <a:r>
                <a:rPr lang="en-US" sz="1343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현진</a:t>
              </a:r>
              <a:r>
                <a:rPr lang="en-US" sz="1343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- 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85800" y="609600"/>
            <a:ext cx="5845605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7"/>
              </a:lnSpc>
            </a:pPr>
            <a:r>
              <a:rPr 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활용방안</a:t>
            </a:r>
            <a:r>
              <a:rPr lang="en-US" sz="3734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및 </a:t>
            </a:r>
            <a:r>
              <a:rPr 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구현</a:t>
            </a:r>
            <a:r>
              <a:rPr lang="en-US" sz="3734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 </a:t>
            </a:r>
            <a:r>
              <a:rPr lang="en-US" sz="3734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후기</a:t>
            </a:r>
            <a:endParaRPr lang="en-US" sz="3734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597004" y="4043529"/>
            <a:ext cx="5561001" cy="2132825"/>
            <a:chOff x="6844230" y="4043529"/>
            <a:chExt cx="5093509" cy="2132825"/>
          </a:xfrm>
        </p:grpSpPr>
        <p:grpSp>
          <p:nvGrpSpPr>
            <p:cNvPr id="10" name="Group 10"/>
            <p:cNvGrpSpPr/>
            <p:nvPr/>
          </p:nvGrpSpPr>
          <p:grpSpPr>
            <a:xfrm>
              <a:off x="6844230" y="4043529"/>
              <a:ext cx="5093509" cy="2132825"/>
              <a:chOff x="0" y="0"/>
              <a:chExt cx="1957318" cy="58665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57318" cy="586657"/>
              </a:xfrm>
              <a:custGeom>
                <a:avLst/>
                <a:gdLst/>
                <a:ahLst/>
                <a:cxnLst/>
                <a:rect l="l" t="t" r="r" b="b"/>
                <a:pathLst>
                  <a:path w="1957318" h="586657">
                    <a:moveTo>
                      <a:pt x="17710" y="0"/>
                    </a:moveTo>
                    <a:lnTo>
                      <a:pt x="1939608" y="0"/>
                    </a:lnTo>
                    <a:cubicBezTo>
                      <a:pt x="1944305" y="0"/>
                      <a:pt x="1948810" y="1866"/>
                      <a:pt x="1952131" y="5187"/>
                    </a:cubicBezTo>
                    <a:cubicBezTo>
                      <a:pt x="1955452" y="8508"/>
                      <a:pt x="1957318" y="13013"/>
                      <a:pt x="1957318" y="17710"/>
                    </a:cubicBezTo>
                    <a:lnTo>
                      <a:pt x="1957318" y="568948"/>
                    </a:lnTo>
                    <a:cubicBezTo>
                      <a:pt x="1957318" y="573644"/>
                      <a:pt x="1955452" y="578149"/>
                      <a:pt x="1952131" y="581470"/>
                    </a:cubicBezTo>
                    <a:cubicBezTo>
                      <a:pt x="1948810" y="584791"/>
                      <a:pt x="1944305" y="586657"/>
                      <a:pt x="1939608" y="586657"/>
                    </a:cubicBezTo>
                    <a:lnTo>
                      <a:pt x="17710" y="586657"/>
                    </a:lnTo>
                    <a:cubicBezTo>
                      <a:pt x="13013" y="586657"/>
                      <a:pt x="8508" y="584791"/>
                      <a:pt x="5187" y="581470"/>
                    </a:cubicBezTo>
                    <a:cubicBezTo>
                      <a:pt x="1866" y="578149"/>
                      <a:pt x="0" y="573644"/>
                      <a:pt x="0" y="568948"/>
                    </a:cubicBezTo>
                    <a:lnTo>
                      <a:pt x="0" y="17710"/>
                    </a:lnTo>
                    <a:cubicBezTo>
                      <a:pt x="0" y="13013"/>
                      <a:pt x="1866" y="8508"/>
                      <a:pt x="5187" y="5187"/>
                    </a:cubicBezTo>
                    <a:cubicBezTo>
                      <a:pt x="8508" y="1866"/>
                      <a:pt x="13013" y="0"/>
                      <a:pt x="1771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957318" cy="63428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953842" y="4233381"/>
              <a:ext cx="4791633" cy="1615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9"/>
                </a:lnSpc>
              </a:pP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일반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사용자가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이용하는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메인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페이지와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관리자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전용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어드민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페이지를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직접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구현할때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사용자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경험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(UX)과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운영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편의성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모두를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고려하도록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노력했다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. </a:t>
              </a:r>
            </a:p>
            <a:p>
              <a:pPr>
                <a:lnSpc>
                  <a:spcPts val="1809"/>
                </a:lnSpc>
              </a:pPr>
              <a:endParaRPr lang="en-US" sz="1292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>
                <a:lnSpc>
                  <a:spcPts val="1809"/>
                </a:lnSpc>
              </a:pP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프로젝트를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진행하면서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서비스를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바라보는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시야와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개발에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대한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식견을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넓힐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수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있는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계기가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된 것 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같다</a:t>
              </a:r>
              <a:endParaRPr lang="en-US" sz="1292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>
                <a:lnSpc>
                  <a:spcPts val="1809"/>
                </a:lnSpc>
              </a:pP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                                                                         -</a:t>
              </a:r>
              <a:r>
                <a:rPr lang="en-US" sz="1292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민경</a:t>
              </a:r>
              <a:r>
                <a:rPr lang="en-US" sz="1292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-</a:t>
              </a: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6425263" y="4233381"/>
            <a:ext cx="5233171" cy="1942973"/>
            <a:chOff x="7169712" y="2193479"/>
            <a:chExt cx="4443270" cy="1350797"/>
          </a:xfrm>
        </p:grpSpPr>
        <p:grpSp>
          <p:nvGrpSpPr>
            <p:cNvPr id="14" name="Group 14"/>
            <p:cNvGrpSpPr/>
            <p:nvPr/>
          </p:nvGrpSpPr>
          <p:grpSpPr>
            <a:xfrm>
              <a:off x="7169712" y="2193479"/>
              <a:ext cx="4443270" cy="1350797"/>
              <a:chOff x="0" y="0"/>
              <a:chExt cx="1755366" cy="53364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755366" cy="533648"/>
              </a:xfrm>
              <a:custGeom>
                <a:avLst/>
                <a:gdLst/>
                <a:ahLst/>
                <a:cxnLst/>
                <a:rect l="l" t="t" r="r" b="b"/>
                <a:pathLst>
                  <a:path w="1755366" h="533648">
                    <a:moveTo>
                      <a:pt x="19747" y="0"/>
                    </a:moveTo>
                    <a:lnTo>
                      <a:pt x="1735619" y="0"/>
                    </a:lnTo>
                    <a:cubicBezTo>
                      <a:pt x="1740856" y="0"/>
                      <a:pt x="1745879" y="2080"/>
                      <a:pt x="1749582" y="5784"/>
                    </a:cubicBezTo>
                    <a:cubicBezTo>
                      <a:pt x="1753285" y="9487"/>
                      <a:pt x="1755366" y="14510"/>
                      <a:pt x="1755366" y="19747"/>
                    </a:cubicBezTo>
                    <a:lnTo>
                      <a:pt x="1755366" y="513901"/>
                    </a:lnTo>
                    <a:cubicBezTo>
                      <a:pt x="1755366" y="524807"/>
                      <a:pt x="1746525" y="533648"/>
                      <a:pt x="1735619" y="533648"/>
                    </a:cubicBezTo>
                    <a:lnTo>
                      <a:pt x="19747" y="533648"/>
                    </a:lnTo>
                    <a:cubicBezTo>
                      <a:pt x="8841" y="533648"/>
                      <a:pt x="0" y="524807"/>
                      <a:pt x="0" y="513901"/>
                    </a:cubicBezTo>
                    <a:lnTo>
                      <a:pt x="0" y="19747"/>
                    </a:lnTo>
                    <a:cubicBezTo>
                      <a:pt x="0" y="14510"/>
                      <a:pt x="2080" y="9487"/>
                      <a:pt x="5784" y="5784"/>
                    </a:cubicBezTo>
                    <a:cubicBezTo>
                      <a:pt x="9487" y="2080"/>
                      <a:pt x="14510" y="0"/>
                      <a:pt x="1974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755366" cy="58127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7259833" y="2291796"/>
              <a:ext cx="4192765" cy="962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73"/>
                </a:lnSpc>
              </a:pP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실시간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도착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정보와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경로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안내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기능을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통해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사용자가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버스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위치와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이동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동선을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직관적으로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파악할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수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있도록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구성했습니다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.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반응형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처리와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최적화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과정에서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UX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설계의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중요성을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체감했습니다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.</a:t>
              </a:r>
            </a:p>
            <a:p>
              <a:pPr>
                <a:lnSpc>
                  <a:spcPts val="1773"/>
                </a:lnSpc>
              </a:pPr>
              <a:endParaRPr lang="en-US" sz="12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>
                <a:lnSpc>
                  <a:spcPts val="1773"/>
                </a:lnSpc>
              </a:pPr>
              <a:endParaRPr lang="en-US" sz="12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>
                <a:lnSpc>
                  <a:spcPts val="1773"/>
                </a:lnSpc>
              </a:pP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                                                                  -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상륜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-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25264" y="1356126"/>
            <a:ext cx="5233171" cy="2509285"/>
            <a:chOff x="-5664" y="28631"/>
            <a:chExt cx="2345868" cy="493271"/>
          </a:xfrm>
        </p:grpSpPr>
        <p:sp>
          <p:nvSpPr>
            <p:cNvPr id="19" name="Freeform 19"/>
            <p:cNvSpPr/>
            <p:nvPr/>
          </p:nvSpPr>
          <p:spPr>
            <a:xfrm>
              <a:off x="-5664" y="28631"/>
              <a:ext cx="2345868" cy="488299"/>
            </a:xfrm>
            <a:custGeom>
              <a:avLst/>
              <a:gdLst/>
              <a:ahLst/>
              <a:cxnLst/>
              <a:rect l="l" t="t" r="r" b="b"/>
              <a:pathLst>
                <a:path w="2492825" h="686324">
                  <a:moveTo>
                    <a:pt x="13905" y="0"/>
                  </a:moveTo>
                  <a:lnTo>
                    <a:pt x="2478920" y="0"/>
                  </a:lnTo>
                  <a:cubicBezTo>
                    <a:pt x="2486599" y="0"/>
                    <a:pt x="2492825" y="6226"/>
                    <a:pt x="2492825" y="13905"/>
                  </a:cubicBezTo>
                  <a:lnTo>
                    <a:pt x="2492825" y="672418"/>
                  </a:lnTo>
                  <a:cubicBezTo>
                    <a:pt x="2492825" y="680098"/>
                    <a:pt x="2486599" y="686324"/>
                    <a:pt x="2478920" y="686324"/>
                  </a:cubicBezTo>
                  <a:lnTo>
                    <a:pt x="13905" y="686324"/>
                  </a:lnTo>
                  <a:cubicBezTo>
                    <a:pt x="6226" y="686324"/>
                    <a:pt x="0" y="680098"/>
                    <a:pt x="0" y="672418"/>
                  </a:cubicBezTo>
                  <a:lnTo>
                    <a:pt x="0" y="13905"/>
                  </a:lnTo>
                  <a:cubicBezTo>
                    <a:pt x="0" y="6226"/>
                    <a:pt x="6226" y="0"/>
                    <a:pt x="139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703" y="41240"/>
              <a:ext cx="2246175" cy="48066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1773"/>
                </a:lnSpc>
              </a:pP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✅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활용방안</a:t>
              </a:r>
              <a:endParaRPr lang="en-US" sz="12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 marL="273486" lvl="1" indent="-136744">
                <a:lnSpc>
                  <a:spcPts val="1773"/>
                </a:lnSpc>
                <a:buFont typeface="Arial"/>
                <a:buChar char="•"/>
              </a:pP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버스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정보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제공과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함께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관리자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기능과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OPEN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API를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통해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공공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데이터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서비스로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확장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가능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.</a:t>
              </a:r>
            </a:p>
            <a:p>
              <a:pPr marL="273486" lvl="1" indent="-136744">
                <a:lnSpc>
                  <a:spcPts val="1773"/>
                </a:lnSpc>
                <a:buFont typeface="Arial"/>
                <a:buChar char="•"/>
              </a:pP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일반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사용자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,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외부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개발자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,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공공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관리자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모두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활용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가능한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다용도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교통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플랫폼으로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사용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가능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.</a:t>
              </a:r>
            </a:p>
            <a:p>
              <a:pPr>
                <a:lnSpc>
                  <a:spcPts val="1773"/>
                </a:lnSpc>
              </a:pP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⚠️ 2차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구현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후기</a:t>
              </a:r>
              <a:endParaRPr lang="en-US" sz="1266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endParaRPr>
            </a:p>
            <a:p>
              <a:pPr marL="273486" lvl="1" indent="-136744" algn="just">
                <a:lnSpc>
                  <a:spcPts val="1773"/>
                </a:lnSpc>
                <a:buFont typeface="Arial"/>
                <a:buChar char="•"/>
              </a:pP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Vue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+ Spring Boot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기반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SPA를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안정화하여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완성도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높은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서비스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구조를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갖추려고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했으나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처음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하는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프로젝트라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미흡한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점이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많아서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향후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업무시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많은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보완이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필요하다고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</a:t>
              </a:r>
              <a:r>
                <a:rPr lang="en-US" sz="1266" b="1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생각함</a:t>
              </a: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.</a:t>
              </a:r>
            </a:p>
            <a:p>
              <a:pPr marL="136742" lvl="1" algn="just">
                <a:lnSpc>
                  <a:spcPts val="1773"/>
                </a:lnSpc>
              </a:pPr>
              <a:r>
                <a:rPr 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                                                               - </a:t>
              </a:r>
              <a:r>
                <a:rPr lang="ko-KR" altLang="en-US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영빈 </a:t>
              </a:r>
              <a:r>
                <a:rPr lang="en-US" altLang="ko-KR" sz="1266" b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- </a:t>
              </a:r>
              <a:r>
                <a:rPr lang="en-US" sz="1266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aperlogy Semi-Bold"/>
                  <a:sym typeface="Paperlogy Semi-Bold"/>
                </a:rPr>
                <a:t>                                                                                                                                             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257198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0642" y="2604933"/>
            <a:ext cx="5830718" cy="773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9"/>
              </a:lnSpc>
              <a:spcBef>
                <a:spcPct val="0"/>
              </a:spcBef>
            </a:pPr>
            <a:r>
              <a:rPr lang="en-US" sz="4806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감사합니다</a:t>
            </a:r>
            <a:endParaRPr lang="en-US" sz="4806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75401" y="781920"/>
            <a:ext cx="1028700" cy="10287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9755" y="565950"/>
            <a:ext cx="730320" cy="73032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5220998"/>
            <a:ext cx="12192000" cy="672074"/>
            <a:chOff x="0" y="0"/>
            <a:chExt cx="4816593" cy="2655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65511"/>
            </a:xfrm>
            <a:custGeom>
              <a:avLst/>
              <a:gdLst/>
              <a:ahLst/>
              <a:cxnLst/>
              <a:rect l="l" t="t" r="r" b="b"/>
              <a:pathLst>
                <a:path w="4816592" h="265511">
                  <a:moveTo>
                    <a:pt x="0" y="0"/>
                  </a:moveTo>
                  <a:lnTo>
                    <a:pt x="4816592" y="0"/>
                  </a:lnTo>
                  <a:lnTo>
                    <a:pt x="4816592" y="265511"/>
                  </a:lnTo>
                  <a:lnTo>
                    <a:pt x="0" y="265511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816593" cy="31313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77083" y="5368123"/>
            <a:ext cx="4285855" cy="29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59"/>
              </a:lnSpc>
              <a:spcBef>
                <a:spcPct val="0"/>
              </a:spcBef>
            </a:pPr>
            <a:r>
              <a:rPr lang="en-US" sz="1828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영남인재교육원</a:t>
            </a:r>
            <a:endParaRPr lang="en-US" sz="1828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aperlogy Semi-Bold"/>
              <a:sym typeface="Paperlogy Semi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6337" y="5385984"/>
            <a:ext cx="335505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b="1" spc="12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aperlogy Semi-Bold"/>
                <a:sym typeface="Paperlogy Semi-Bold"/>
              </a:rPr>
              <a:t>+053-555-1333</a:t>
            </a:r>
          </a:p>
        </p:txBody>
      </p:sp>
    </p:spTree>
    <p:extLst>
      <p:ext uri="{BB962C8B-B14F-4D97-AF65-F5344CB8AC3E}">
        <p14:creationId xmlns:p14="http://schemas.microsoft.com/office/powerpoint/2010/main" val="359957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4940</Words>
  <Application>Microsoft Office PowerPoint</Application>
  <PresentationFormat>와이드스크린</PresentationFormat>
  <Paragraphs>1128</Paragraphs>
  <Slides>117</Slides>
  <Notes>113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117</vt:i4>
      </vt:variant>
    </vt:vector>
  </HeadingPairs>
  <TitlesOfParts>
    <vt:vector size="1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jyoni</cp:lastModifiedBy>
  <cp:revision>36</cp:revision>
  <dcterms:created xsi:type="dcterms:W3CDTF">2025-07-08T06:16:22Z</dcterms:created>
  <dcterms:modified xsi:type="dcterms:W3CDTF">2025-11-20T15:01:42Z</dcterms:modified>
</cp:coreProperties>
</file>