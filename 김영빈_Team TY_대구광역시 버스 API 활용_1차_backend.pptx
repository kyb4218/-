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31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91" r:id="rId15"/>
    <p:sldId id="308" r:id="rId16"/>
    <p:sldId id="309" r:id="rId17"/>
    <p:sldId id="294" r:id="rId18"/>
    <p:sldId id="293" r:id="rId19"/>
    <p:sldId id="295" r:id="rId20"/>
    <p:sldId id="287" r:id="rId21"/>
    <p:sldId id="310" r:id="rId22"/>
    <p:sldId id="288" r:id="rId23"/>
    <p:sldId id="289" r:id="rId24"/>
    <p:sldId id="290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316" r:id="rId35"/>
    <p:sldId id="277" r:id="rId36"/>
    <p:sldId id="314" r:id="rId37"/>
    <p:sldId id="304" r:id="rId38"/>
    <p:sldId id="278" r:id="rId39"/>
    <p:sldId id="325" r:id="rId40"/>
    <p:sldId id="326" r:id="rId41"/>
    <p:sldId id="279" r:id="rId42"/>
    <p:sldId id="319" r:id="rId43"/>
    <p:sldId id="322" r:id="rId44"/>
    <p:sldId id="281" r:id="rId45"/>
    <p:sldId id="311" r:id="rId46"/>
    <p:sldId id="282" r:id="rId47"/>
    <p:sldId id="283" r:id="rId48"/>
    <p:sldId id="330" r:id="rId49"/>
    <p:sldId id="329" r:id="rId50"/>
    <p:sldId id="327" r:id="rId51"/>
    <p:sldId id="328" r:id="rId52"/>
    <p:sldId id="285" r:id="rId53"/>
    <p:sldId id="332" r:id="rId54"/>
    <p:sldId id="286" r:id="rId55"/>
    <p:sldId id="331" r:id="rId56"/>
    <p:sldId id="299" r:id="rId57"/>
    <p:sldId id="298" r:id="rId5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F185DEE9-2EB0-497D-95D0-E1334F2878B2}">
          <p14:sldIdLst>
            <p14:sldId id="256"/>
            <p14:sldId id="257"/>
            <p14:sldId id="31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김영빈" id="{DD880734-41B5-4FD9-A2F8-521F5FC8D8A3}">
          <p14:sldIdLst>
            <p14:sldId id="291"/>
            <p14:sldId id="308"/>
            <p14:sldId id="309"/>
            <p14:sldId id="294"/>
            <p14:sldId id="293"/>
            <p14:sldId id="295"/>
            <p14:sldId id="287"/>
            <p14:sldId id="310"/>
            <p14:sldId id="288"/>
            <p14:sldId id="289"/>
            <p14:sldId id="290"/>
          </p14:sldIdLst>
        </p14:section>
        <p14:section name="기본 구역" id="{BB8A06A4-3E16-430F-8BD8-747D0753083C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316"/>
            <p14:sldId id="277"/>
            <p14:sldId id="314"/>
            <p14:sldId id="304"/>
            <p14:sldId id="278"/>
            <p14:sldId id="325"/>
            <p14:sldId id="326"/>
            <p14:sldId id="279"/>
            <p14:sldId id="319"/>
            <p14:sldId id="322"/>
            <p14:sldId id="281"/>
            <p14:sldId id="311"/>
            <p14:sldId id="282"/>
            <p14:sldId id="283"/>
            <p14:sldId id="330"/>
            <p14:sldId id="329"/>
            <p14:sldId id="327"/>
            <p14:sldId id="328"/>
            <p14:sldId id="285"/>
            <p14:sldId id="332"/>
            <p14:sldId id="286"/>
            <p14:sldId id="331"/>
            <p14:sldId id="299"/>
            <p14:sldId id="2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22" autoAdjust="0"/>
  </p:normalViewPr>
  <p:slideViewPr>
    <p:cSldViewPr>
      <p:cViewPr varScale="1">
        <p:scale>
          <a:sx n="81" d="100"/>
          <a:sy n="81" d="100"/>
        </p:scale>
        <p:origin x="138" y="2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gency FB" panose="020B0503020202020204" pitchFamily="34" charset="0"/>
              </a:defRPr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gency FB" panose="020B0503020202020204" pitchFamily="34" charset="0"/>
              </a:defRPr>
            </a:lvl1pPr>
          </a:lstStyle>
          <a:p>
            <a:fld id="{B7268E1E-0E44-426D-905E-8AD9B19D2182}" type="datetimeFigureOut">
              <a:rPr lang="cs-CZ" smtClean="0"/>
              <a:pPr/>
              <a:t>20.11.2025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gency FB" panose="020B0503020202020204" pitchFamily="34" charset="0"/>
              </a:defRPr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gency FB" panose="020B0503020202020204" pitchFamily="34" charset="0"/>
              </a:defRPr>
            </a:lvl1pPr>
          </a:lstStyle>
          <a:p>
            <a:fld id="{871B2431-D351-4C6E-A3CF-9DFAC0E3E050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gency FB" panose="020B0503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gency FB" panose="020B0503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gency FB" panose="020B0503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gency FB" panose="020B0503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gency FB" panose="020B0503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82362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99787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14582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63430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43894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44977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4275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76408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13830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97400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576960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007966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209024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901731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397098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003255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844682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464251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705993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051527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233049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356722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287440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209198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501225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481738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pPr/>
              <a:t>34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33543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623272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pPr/>
              <a:t>36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337473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874791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778828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7011273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907643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065971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805689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334772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611621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3683070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9017810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30575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gency FB" panose="020B0503020202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gency FB" panose="020B05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gency FB" panose="020B05030202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gency FB" panose="020B0503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gency FB" panose="020B0503020202020204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gency FB" panose="020B0503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gency FB" panose="020B0503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gency FB" panose="020B0503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gency FB" panose="020B0503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yi.or.kr:8096/bus" TargetMode="External"/><Relationship Id="rId2" Type="http://schemas.openxmlformats.org/officeDocument/2006/relationships/hyperlink" Target="https://docs.yi.or.kr:8096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youtube.com/watch?v=V4OVsa-Z9dM" TargetMode="External"/><Relationship Id="rId4" Type="http://schemas.openxmlformats.org/officeDocument/2006/relationships/hyperlink" Target="https://github.com/rainsweetMina/tayotayo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52.jpeg"/><Relationship Id="rId4" Type="http://schemas.openxmlformats.org/officeDocument/2006/relationships/image" Target="../media/image5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3.jpeg"/><Relationship Id="rId5" Type="http://schemas.openxmlformats.org/officeDocument/2006/relationships/image" Target="../media/image46.png"/><Relationship Id="rId4" Type="http://schemas.openxmlformats.org/officeDocument/2006/relationships/notesSlide" Target="../notesSlides/notesSlide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jpeg"/><Relationship Id="rId4" Type="http://schemas.openxmlformats.org/officeDocument/2006/relationships/image" Target="../media/image37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jpeg"/><Relationship Id="rId4" Type="http://schemas.openxmlformats.org/officeDocument/2006/relationships/image" Target="../media/image37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jpeg"/><Relationship Id="rId4" Type="http://schemas.openxmlformats.org/officeDocument/2006/relationships/image" Target="../media/image37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45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45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45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png"/><Relationship Id="rId4" Type="http://schemas.openxmlformats.org/officeDocument/2006/relationships/image" Target="../media/image45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72.png"/><Relationship Id="rId7" Type="http://schemas.openxmlformats.org/officeDocument/2006/relationships/image" Target="../media/image76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svg"/><Relationship Id="rId4" Type="http://schemas.openxmlformats.org/officeDocument/2006/relationships/image" Target="../media/image73.png"/><Relationship Id="rId9" Type="http://schemas.openxmlformats.org/officeDocument/2006/relationships/image" Target="../media/image45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png"/><Relationship Id="rId4" Type="http://schemas.openxmlformats.org/officeDocument/2006/relationships/image" Target="../media/image45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78.jpeg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45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39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45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89.jpe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90.png"/><Relationship Id="rId7" Type="http://schemas.openxmlformats.org/officeDocument/2006/relationships/image" Target="../media/image92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76.svg"/><Relationship Id="rId4" Type="http://schemas.openxmlformats.org/officeDocument/2006/relationships/image" Target="../media/image75.png"/><Relationship Id="rId9" Type="http://schemas.openxmlformats.org/officeDocument/2006/relationships/image" Target="../media/image45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95.jpe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notesSlide" Target="../notesSlides/notesSlide3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6.png"/><Relationship Id="rId4" Type="http://schemas.openxmlformats.org/officeDocument/2006/relationships/image" Target="../media/image39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sv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sv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sv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10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sv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103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030924"/>
            <a:ext cx="18288000" cy="1008111"/>
            <a:chOff x="0" y="0"/>
            <a:chExt cx="4816593" cy="2655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65511"/>
            </a:xfrm>
            <a:custGeom>
              <a:avLst/>
              <a:gdLst/>
              <a:ahLst/>
              <a:cxnLst/>
              <a:rect l="l" t="t" r="r" b="b"/>
              <a:pathLst>
                <a:path w="4816592" h="265511">
                  <a:moveTo>
                    <a:pt x="0" y="0"/>
                  </a:moveTo>
                  <a:lnTo>
                    <a:pt x="4816592" y="0"/>
                  </a:lnTo>
                  <a:lnTo>
                    <a:pt x="4816592" y="265511"/>
                  </a:lnTo>
                  <a:lnTo>
                    <a:pt x="0" y="265511"/>
                  </a:lnTo>
                  <a:close/>
                </a:path>
              </a:pathLst>
            </a:custGeom>
            <a:solidFill>
              <a:srgbClr val="E9E4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03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b="1">
                <a:latin typeface="Agency FB" panose="020B0503020202020204" pitchFamily="34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93456" y="1243445"/>
            <a:ext cx="1543050" cy="154305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4B8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66800" y="779405"/>
            <a:ext cx="1095480" cy="109548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4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7391400" y="4798529"/>
            <a:ext cx="1074292" cy="646528"/>
          </a:xfrm>
          <a:custGeom>
            <a:avLst/>
            <a:gdLst/>
            <a:ahLst/>
            <a:cxnLst/>
            <a:rect l="l" t="t" r="r" b="b"/>
            <a:pathLst>
              <a:path w="1074292" h="646528">
                <a:moveTo>
                  <a:pt x="0" y="0"/>
                </a:moveTo>
                <a:lnTo>
                  <a:pt x="1074292" y="0"/>
                </a:lnTo>
                <a:lnTo>
                  <a:pt x="1074292" y="646529"/>
                </a:lnTo>
                <a:lnTo>
                  <a:pt x="0" y="64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99633" y="5517387"/>
            <a:ext cx="8421812" cy="1744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75"/>
              </a:lnSpc>
            </a:pPr>
            <a:r>
              <a:rPr lang="en-US" sz="9696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버스</a:t>
            </a:r>
            <a:r>
              <a:rPr lang="en-US" sz="9696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API </a:t>
            </a:r>
            <a:r>
              <a:rPr lang="en-US" sz="9696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활용</a:t>
            </a:r>
            <a:endParaRPr lang="en-US" sz="9696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972800" y="8127607"/>
            <a:ext cx="6802803" cy="4421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839"/>
              </a:lnSpc>
              <a:spcBef>
                <a:spcPct val="0"/>
              </a:spcBef>
            </a:pPr>
            <a:r>
              <a:rPr lang="en-US" sz="2742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2025.03.21 ~ 2025.04.25 (약 1개월)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89505" y="8078975"/>
            <a:ext cx="4021034" cy="427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0"/>
              </a:lnSpc>
              <a:spcBef>
                <a:spcPct val="0"/>
              </a:spcBef>
            </a:pPr>
            <a:r>
              <a:rPr lang="en-US" sz="2672" b="1" spc="18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TEAM TYTY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9633" y="4102523"/>
            <a:ext cx="8421812" cy="1744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75"/>
              </a:lnSpc>
            </a:pPr>
            <a:r>
              <a:rPr lang="en-US" sz="9696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대구광역시</a:t>
            </a:r>
            <a:endParaRPr lang="en-US" sz="9696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5995755" y="7548182"/>
            <a:ext cx="1648651" cy="442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839"/>
              </a:lnSpc>
              <a:spcBef>
                <a:spcPct val="0"/>
              </a:spcBef>
            </a:pPr>
            <a:r>
              <a:rPr lang="en-US" sz="2742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개발</a:t>
            </a:r>
            <a:r>
              <a:rPr lang="en-US" sz="2742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42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기간</a:t>
            </a:r>
            <a:endParaRPr lang="en-US" sz="2742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4800" y="647700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968908" y="2517344"/>
            <a:ext cx="226537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60"/>
              </a:lnSpc>
            </a:pPr>
            <a:r>
              <a:rPr lang="en-US" sz="3200" b="1" spc="2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도현</a:t>
            </a:r>
            <a:endParaRPr lang="en-US" sz="3200" b="1" spc="217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돋움" panose="020B0604000101010101" pitchFamily="50" charset="-127"/>
              <a:sym typeface="네모고딕 Medium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097107" y="2874849"/>
            <a:ext cx="687645" cy="0"/>
          </a:xfrm>
          <a:prstGeom prst="line">
            <a:avLst/>
          </a:prstGeom>
          <a:ln w="38100" cap="flat">
            <a:solidFill>
              <a:srgbClr val="2B4B8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7204489" y="2893899"/>
            <a:ext cx="687645" cy="0"/>
          </a:xfrm>
          <a:prstGeom prst="line">
            <a:avLst/>
          </a:prstGeom>
          <a:ln w="38100" cap="flat">
            <a:solidFill>
              <a:srgbClr val="2B4B8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10157512" y="2855799"/>
            <a:ext cx="687645" cy="0"/>
          </a:xfrm>
          <a:prstGeom prst="line">
            <a:avLst/>
          </a:prstGeom>
          <a:ln w="38100" cap="flat">
            <a:solidFill>
              <a:srgbClr val="2B4B8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0853552" y="2498294"/>
            <a:ext cx="226537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상륜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3086361" y="2827224"/>
            <a:ext cx="687645" cy="0"/>
          </a:xfrm>
          <a:prstGeom prst="line">
            <a:avLst/>
          </a:prstGeom>
          <a:ln w="38100" cap="flat">
            <a:solidFill>
              <a:srgbClr val="2B4B8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5040186" y="3349947"/>
            <a:ext cx="2006078" cy="2417943"/>
          </a:xfrm>
          <a:custGeom>
            <a:avLst/>
            <a:gdLst/>
            <a:ahLst/>
            <a:cxnLst/>
            <a:rect l="l" t="t" r="r" b="b"/>
            <a:pathLst>
              <a:path w="2006078" h="2417943">
                <a:moveTo>
                  <a:pt x="0" y="0"/>
                </a:moveTo>
                <a:lnTo>
                  <a:pt x="2006078" y="0"/>
                </a:lnTo>
                <a:lnTo>
                  <a:pt x="2006078" y="2417944"/>
                </a:lnTo>
                <a:lnTo>
                  <a:pt x="0" y="2417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06" r="-3006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986130" y="3377416"/>
            <a:ext cx="2161071" cy="2425125"/>
          </a:xfrm>
          <a:custGeom>
            <a:avLst/>
            <a:gdLst/>
            <a:ahLst/>
            <a:cxnLst/>
            <a:rect l="l" t="t" r="r" b="b"/>
            <a:pathLst>
              <a:path w="2161071" h="2425125">
                <a:moveTo>
                  <a:pt x="0" y="0"/>
                </a:moveTo>
                <a:lnTo>
                  <a:pt x="2161070" y="0"/>
                </a:lnTo>
                <a:lnTo>
                  <a:pt x="2161070" y="2425124"/>
                </a:lnTo>
                <a:lnTo>
                  <a:pt x="0" y="24251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968706" y="3349947"/>
            <a:ext cx="2235848" cy="2380428"/>
          </a:xfrm>
          <a:custGeom>
            <a:avLst/>
            <a:gdLst/>
            <a:ahLst/>
            <a:cxnLst/>
            <a:rect l="l" t="t" r="r" b="b"/>
            <a:pathLst>
              <a:path w="2235848" h="2380428">
                <a:moveTo>
                  <a:pt x="0" y="0"/>
                </a:moveTo>
                <a:lnTo>
                  <a:pt x="2235849" y="0"/>
                </a:lnTo>
                <a:lnTo>
                  <a:pt x="2235849" y="2380429"/>
                </a:lnTo>
                <a:lnTo>
                  <a:pt x="0" y="23804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19" r="-719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020807" y="3415869"/>
            <a:ext cx="2008033" cy="2348218"/>
          </a:xfrm>
          <a:custGeom>
            <a:avLst/>
            <a:gdLst/>
            <a:ahLst/>
            <a:cxnLst/>
            <a:rect l="l" t="t" r="r" b="b"/>
            <a:pathLst>
              <a:path w="2008033" h="2348218">
                <a:moveTo>
                  <a:pt x="0" y="0"/>
                </a:moveTo>
                <a:lnTo>
                  <a:pt x="2008033" y="0"/>
                </a:lnTo>
                <a:lnTo>
                  <a:pt x="2008033" y="2348218"/>
                </a:lnTo>
                <a:lnTo>
                  <a:pt x="0" y="23482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4910536" y="2517344"/>
            <a:ext cx="226537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60"/>
              </a:lnSpc>
            </a:pPr>
            <a:r>
              <a:rPr lang="en-US" sz="3200" b="1" spc="2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민경</a:t>
            </a:r>
            <a:endParaRPr lang="en-US" sz="3200" b="1" spc="217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돋움" panose="020B0604000101010101" pitchFamily="50" charset="-127"/>
              <a:sym typeface="네모고딕 Mediu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933094" y="914400"/>
            <a:ext cx="8421812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팀 </a:t>
            </a:r>
            <a:r>
              <a:rPr lang="en-US" sz="56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구성</a:t>
            </a:r>
            <a:r>
              <a:rPr lang="en-US" sz="56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및 </a:t>
            </a:r>
            <a:r>
              <a:rPr lang="en-US" sz="56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역할</a:t>
            </a:r>
            <a:endParaRPr lang="en-US" sz="5600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892134" y="2517344"/>
            <a:ext cx="226537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현진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655695" y="6248326"/>
            <a:ext cx="3322481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59"/>
              </a:lnSpc>
            </a:pPr>
            <a:r>
              <a:rPr lang="en-US" sz="1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버스</a:t>
            </a:r>
            <a:r>
              <a:rPr lang="en-US" sz="1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1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노선&amp;정류장</a:t>
            </a:r>
            <a:r>
              <a:rPr lang="en-US" sz="1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CRUD,</a:t>
            </a:r>
          </a:p>
          <a:p>
            <a:pPr>
              <a:lnSpc>
                <a:spcPts val="2659"/>
              </a:lnSpc>
            </a:pPr>
            <a:r>
              <a:rPr lang="en-US" sz="1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버스</a:t>
            </a:r>
            <a:r>
              <a:rPr lang="en-US" sz="1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1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도착</a:t>
            </a:r>
            <a:r>
              <a:rPr lang="en-US" sz="1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1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정보</a:t>
            </a:r>
            <a:r>
              <a:rPr lang="en-US" sz="1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1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외부</a:t>
            </a:r>
            <a:r>
              <a:rPr lang="en-US" sz="1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API </a:t>
            </a:r>
            <a:r>
              <a:rPr lang="en-US" sz="1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연동</a:t>
            </a:r>
            <a:endParaRPr lang="en-US" sz="18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>
              <a:lnSpc>
                <a:spcPts val="2659"/>
              </a:lnSpc>
              <a:spcBef>
                <a:spcPct val="0"/>
              </a:spcBef>
            </a:pPr>
            <a:r>
              <a:rPr lang="en-US" sz="1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지도</a:t>
            </a:r>
            <a:r>
              <a:rPr lang="en-US" sz="1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API </a:t>
            </a:r>
            <a:r>
              <a:rPr lang="en-US" sz="1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연동</a:t>
            </a:r>
            <a:endParaRPr lang="en-US" sz="18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900437" y="6248326"/>
            <a:ext cx="2762936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59"/>
              </a:lnSpc>
            </a:pPr>
            <a:r>
              <a:rPr lang="en-US" sz="1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Redis</a:t>
            </a:r>
            <a:r>
              <a:rPr lang="en-US" sz="1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1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캐싱</a:t>
            </a:r>
            <a:r>
              <a:rPr lang="en-US" sz="1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,</a:t>
            </a:r>
          </a:p>
          <a:p>
            <a:pPr>
              <a:lnSpc>
                <a:spcPts val="2659"/>
              </a:lnSpc>
            </a:pPr>
            <a:r>
              <a:rPr lang="en-US" sz="1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관리자</a:t>
            </a:r>
            <a:r>
              <a:rPr lang="en-US" sz="1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189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모니터링</a:t>
            </a:r>
            <a:r>
              <a:rPr lang="en-US" sz="189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시스템</a:t>
            </a:r>
            <a:endParaRPr lang="en-US" sz="18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>
              <a:lnSpc>
                <a:spcPts val="2659"/>
              </a:lnSpc>
              <a:spcBef>
                <a:spcPct val="0"/>
              </a:spcBef>
            </a:pPr>
            <a:r>
              <a:rPr lang="en-US" sz="1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Notice CRUD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851149" y="6248326"/>
            <a:ext cx="2822634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59"/>
              </a:lnSpc>
            </a:pPr>
            <a:r>
              <a:rPr lang="en-US" sz="1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관리자</a:t>
            </a:r>
            <a:r>
              <a:rPr lang="en-US" sz="1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189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페이지</a:t>
            </a:r>
            <a:r>
              <a:rPr lang="en-US" sz="189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총괄 </a:t>
            </a:r>
            <a:endParaRPr lang="en-US" sz="18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>
              <a:lnSpc>
                <a:spcPts val="2659"/>
              </a:lnSpc>
            </a:pPr>
            <a:r>
              <a:rPr lang="en-US" sz="1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분실물·습득물</a:t>
            </a:r>
            <a:r>
              <a:rPr lang="en-US" sz="1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189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전체</a:t>
            </a:r>
            <a:r>
              <a:rPr lang="en-US" sz="189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구현</a:t>
            </a:r>
            <a:endParaRPr lang="en-US" sz="18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>
              <a:lnSpc>
                <a:spcPts val="2659"/>
              </a:lnSpc>
            </a:pPr>
            <a:r>
              <a:rPr lang="en-US" sz="1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광고·</a:t>
            </a:r>
            <a:r>
              <a:rPr lang="en-US" sz="189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QnA</a:t>
            </a:r>
            <a:r>
              <a:rPr lang="en-US" sz="189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관리</a:t>
            </a:r>
            <a:endParaRPr lang="en-US" sz="18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>
              <a:lnSpc>
                <a:spcPts val="2659"/>
              </a:lnSpc>
              <a:spcBef>
                <a:spcPct val="0"/>
              </a:spcBef>
            </a:pPr>
            <a:r>
              <a:rPr lang="en-US" sz="1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공지</a:t>
            </a:r>
            <a:r>
              <a:rPr lang="en-US" sz="1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1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팝업</a:t>
            </a:r>
            <a:endParaRPr lang="en-US" sz="18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763467" y="6297107"/>
            <a:ext cx="2876333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59"/>
              </a:lnSpc>
            </a:pPr>
            <a:r>
              <a:rPr lang="en-US" sz="1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버스</a:t>
            </a:r>
            <a:r>
              <a:rPr lang="en-US" sz="1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1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정보</a:t>
            </a:r>
            <a:r>
              <a:rPr lang="en-US" sz="1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· Q&amp;A 등 </a:t>
            </a:r>
          </a:p>
          <a:p>
            <a:pPr>
              <a:lnSpc>
                <a:spcPts val="2659"/>
              </a:lnSpc>
            </a:pPr>
            <a:r>
              <a:rPr lang="en-US" sz="1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웹 </a:t>
            </a:r>
            <a:r>
              <a:rPr lang="en-US" sz="1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사용자</a:t>
            </a:r>
            <a:r>
              <a:rPr lang="en-US" sz="1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189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게시판</a:t>
            </a:r>
            <a:r>
              <a:rPr lang="en-US" sz="189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CRUD</a:t>
            </a:r>
            <a:endParaRPr lang="en-US" sz="18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>
              <a:lnSpc>
                <a:spcPts val="2659"/>
              </a:lnSpc>
              <a:spcBef>
                <a:spcPct val="0"/>
              </a:spcBef>
            </a:pPr>
            <a:r>
              <a:rPr lang="en-US" sz="1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실시간</a:t>
            </a:r>
            <a:r>
              <a:rPr lang="en-US" sz="1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1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날씨</a:t>
            </a:r>
            <a:r>
              <a:rPr lang="en-US" sz="1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1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외부</a:t>
            </a:r>
            <a:r>
              <a:rPr lang="en-US" sz="1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API </a:t>
            </a:r>
            <a:r>
              <a:rPr lang="en-US" sz="1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연동</a:t>
            </a:r>
            <a:endParaRPr lang="en-US" sz="18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sp>
        <p:nvSpPr>
          <p:cNvPr id="25" name="Freeform 11">
            <a:extLst>
              <a:ext uri="{FF2B5EF4-FFF2-40B4-BE49-F238E27FC236}">
                <a16:creationId xmlns:a16="http://schemas.microsoft.com/office/drawing/2014/main" id="{DD40DCF9-0246-0AE0-2125-80E526B5387E}"/>
              </a:ext>
            </a:extLst>
          </p:cNvPr>
          <p:cNvSpPr/>
          <p:nvPr/>
        </p:nvSpPr>
        <p:spPr>
          <a:xfrm>
            <a:off x="1512596" y="3412065"/>
            <a:ext cx="2178027" cy="2390475"/>
          </a:xfrm>
          <a:custGeom>
            <a:avLst/>
            <a:gdLst/>
            <a:ahLst/>
            <a:cxnLst/>
            <a:rect l="l" t="t" r="r" b="b"/>
            <a:pathLst>
              <a:path w="2178027" h="2390475">
                <a:moveTo>
                  <a:pt x="0" y="0"/>
                </a:moveTo>
                <a:lnTo>
                  <a:pt x="2178028" y="0"/>
                </a:lnTo>
                <a:lnTo>
                  <a:pt x="2178028" y="2390475"/>
                </a:lnTo>
                <a:lnTo>
                  <a:pt x="0" y="2390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35" r="-735"/>
            </a:stretch>
          </a:blipFill>
        </p:spPr>
      </p:sp>
      <p:sp>
        <p:nvSpPr>
          <p:cNvPr id="26" name="TextBox 19">
            <a:extLst>
              <a:ext uri="{FF2B5EF4-FFF2-40B4-BE49-F238E27FC236}">
                <a16:creationId xmlns:a16="http://schemas.microsoft.com/office/drawing/2014/main" id="{B564A587-9294-F148-FA49-1620D23402E0}"/>
              </a:ext>
            </a:extLst>
          </p:cNvPr>
          <p:cNvSpPr txBox="1"/>
          <p:nvPr/>
        </p:nvSpPr>
        <p:spPr>
          <a:xfrm>
            <a:off x="1437634" y="2554309"/>
            <a:ext cx="226537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60"/>
              </a:lnSpc>
            </a:pPr>
            <a:r>
              <a:rPr lang="en-US" sz="3200" b="1" spc="2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영빈</a:t>
            </a:r>
            <a:endParaRPr lang="en-US" sz="3200" b="1" spc="217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돋움" panose="020B0604000101010101" pitchFamily="50" charset="-127"/>
              <a:sym typeface="네모고딕 Medium"/>
            </a:endParaRPr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98C44758-9E8D-18ED-2A73-F5DF564E6C6F}"/>
              </a:ext>
            </a:extLst>
          </p:cNvPr>
          <p:cNvSpPr txBox="1"/>
          <p:nvPr/>
        </p:nvSpPr>
        <p:spPr>
          <a:xfrm>
            <a:off x="1441988" y="6297107"/>
            <a:ext cx="2807664" cy="13515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59"/>
              </a:lnSpc>
            </a:pPr>
            <a:r>
              <a:rPr lang="en-US" altLang="ko-KR" sz="1899" b="1" dirty="0">
                <a:solidFill>
                  <a:srgbClr val="2B4B8B"/>
                </a:solidFill>
                <a:latin typeface="맑은 고딕" panose="020B0503020000020004" pitchFamily="50" charset="-127"/>
                <a:cs typeface="네모고딕"/>
                <a:sym typeface="네모고딕"/>
              </a:rPr>
              <a:t>Security, API Key </a:t>
            </a:r>
            <a:r>
              <a:rPr lang="en-US" altLang="ko-KR" sz="1899" b="1" dirty="0" err="1">
                <a:solidFill>
                  <a:srgbClr val="2B4B8B"/>
                </a:solidFill>
                <a:latin typeface="맑은 고딕" panose="020B0503020000020004" pitchFamily="50" charset="-127"/>
                <a:cs typeface="네모고딕"/>
                <a:sym typeface="네모고딕"/>
              </a:rPr>
              <a:t>인증</a:t>
            </a:r>
            <a:endParaRPr lang="en-US" altLang="ko-KR" sz="1899" b="1" dirty="0">
              <a:solidFill>
                <a:srgbClr val="2B4B8B"/>
              </a:solidFill>
              <a:latin typeface="맑은 고딕" panose="020B0503020000020004" pitchFamily="50" charset="-127"/>
              <a:cs typeface="네모고딕"/>
              <a:sym typeface="네모고딕"/>
            </a:endParaRPr>
          </a:p>
          <a:p>
            <a:pPr>
              <a:lnSpc>
                <a:spcPts val="2659"/>
              </a:lnSpc>
            </a:pPr>
            <a:r>
              <a:rPr lang="en-US" sz="1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유저</a:t>
            </a:r>
            <a:r>
              <a:rPr lang="en-US" sz="1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CRUD, </a:t>
            </a:r>
            <a:r>
              <a:rPr lang="en-US" sz="1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마이페이지</a:t>
            </a:r>
            <a:endParaRPr lang="en-US" sz="18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>
              <a:lnSpc>
                <a:spcPts val="2659"/>
              </a:lnSpc>
            </a:pPr>
            <a:endParaRPr lang="en-US" sz="18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algn="ctr">
              <a:lnSpc>
                <a:spcPts val="2659"/>
              </a:lnSpc>
            </a:pPr>
            <a:r>
              <a:rPr lang="en-US" sz="1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14p – 24p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4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8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9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080E64C-54D3-3F17-5A18-1DCA8C95E952}"/>
              </a:ext>
            </a:extLst>
          </p:cNvPr>
          <p:cNvSpPr txBox="1"/>
          <p:nvPr/>
        </p:nvSpPr>
        <p:spPr>
          <a:xfrm>
            <a:off x="1752600" y="2857500"/>
            <a:ext cx="126608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latin typeface="+mj-ea"/>
                <a:ea typeface="+mj-ea"/>
              </a:rPr>
              <a:t>데모 사이트</a:t>
            </a:r>
            <a:r>
              <a:rPr lang="en-US" altLang="ko-KR" sz="4000" b="1" dirty="0">
                <a:latin typeface="+mj-ea"/>
                <a:ea typeface="+mj-ea"/>
              </a:rPr>
              <a:t>(</a:t>
            </a:r>
            <a:r>
              <a:rPr lang="ko-KR" altLang="en-US" sz="4000" b="1" dirty="0">
                <a:latin typeface="+mj-ea"/>
                <a:ea typeface="+mj-ea"/>
              </a:rPr>
              <a:t>메인 페이지</a:t>
            </a:r>
            <a:r>
              <a:rPr lang="en-US" altLang="ko-KR" sz="4000" b="1" dirty="0">
                <a:latin typeface="+mj-ea"/>
                <a:ea typeface="+mj-ea"/>
              </a:rPr>
              <a:t>)</a:t>
            </a:r>
            <a:r>
              <a:rPr lang="ko-KR" altLang="en-US" sz="4000" b="1" dirty="0">
                <a:latin typeface="+mj-ea"/>
                <a:ea typeface="+mj-ea"/>
              </a:rPr>
              <a:t> </a:t>
            </a:r>
            <a:r>
              <a:rPr lang="en-US" altLang="ko-KR" sz="4000" b="1" dirty="0">
                <a:latin typeface="+mj-ea"/>
                <a:ea typeface="+mj-ea"/>
              </a:rPr>
              <a:t>: </a:t>
            </a:r>
            <a:r>
              <a:rPr lang="en-US" altLang="ko-KR" sz="4000" b="1" dirty="0">
                <a:latin typeface="+mj-ea"/>
                <a:ea typeface="+mj-ea"/>
                <a:hlinkClick r:id="rId2"/>
              </a:rPr>
              <a:t>https://docs.yi.or.kr:809</a:t>
            </a:r>
            <a:r>
              <a:rPr lang="en-US" altLang="ko-KR" sz="4000" b="1" dirty="0">
                <a:latin typeface="+mj-ea"/>
                <a:hlinkClick r:id="rId2"/>
              </a:rPr>
              <a:t>6</a:t>
            </a:r>
            <a:endParaRPr lang="ko-KR" altLang="en-US" sz="4000" b="1" dirty="0"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B91E44-95CF-8591-7FFA-41682D2F030F}"/>
              </a:ext>
            </a:extLst>
          </p:cNvPr>
          <p:cNvSpPr txBox="1"/>
          <p:nvPr/>
        </p:nvSpPr>
        <p:spPr>
          <a:xfrm>
            <a:off x="1752600" y="4191000"/>
            <a:ext cx="132669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latin typeface="+mj-ea"/>
                <a:ea typeface="+mj-ea"/>
              </a:rPr>
              <a:t>데모 사이트</a:t>
            </a:r>
            <a:r>
              <a:rPr lang="en-US" altLang="ko-KR" sz="4000" b="1" dirty="0">
                <a:latin typeface="+mj-ea"/>
                <a:ea typeface="+mj-ea"/>
              </a:rPr>
              <a:t>(</a:t>
            </a:r>
            <a:r>
              <a:rPr lang="ko-KR" altLang="en-US" sz="4000" b="1" dirty="0">
                <a:latin typeface="+mj-ea"/>
                <a:ea typeface="+mj-ea"/>
              </a:rPr>
              <a:t>버스 </a:t>
            </a:r>
            <a:r>
              <a:rPr lang="en-US" altLang="ko-KR" sz="4000" b="1" dirty="0">
                <a:latin typeface="+mj-ea"/>
                <a:ea typeface="+mj-ea"/>
              </a:rPr>
              <a:t>map)</a:t>
            </a:r>
            <a:r>
              <a:rPr lang="ko-KR" altLang="en-US" sz="4000" b="1" dirty="0">
                <a:latin typeface="+mj-ea"/>
                <a:ea typeface="+mj-ea"/>
              </a:rPr>
              <a:t> </a:t>
            </a:r>
            <a:r>
              <a:rPr lang="en-US" altLang="ko-KR" sz="4000" b="1" dirty="0">
                <a:latin typeface="+mj-ea"/>
                <a:ea typeface="+mj-ea"/>
              </a:rPr>
              <a:t>: </a:t>
            </a:r>
            <a:r>
              <a:rPr lang="en-US" altLang="ko-KR" sz="4000" b="1" dirty="0">
                <a:latin typeface="+mj-ea"/>
                <a:ea typeface="+mj-ea"/>
                <a:hlinkClick r:id="rId3"/>
              </a:rPr>
              <a:t>https://docs.yi.or.kr:8096/bus</a:t>
            </a:r>
            <a:endParaRPr lang="ko-KR" altLang="en-US" sz="4000" b="1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FF9AF-EDAE-D01C-D78C-7742323B77BC}"/>
              </a:ext>
            </a:extLst>
          </p:cNvPr>
          <p:cNvSpPr txBox="1"/>
          <p:nvPr/>
        </p:nvSpPr>
        <p:spPr>
          <a:xfrm>
            <a:off x="1752600" y="5524500"/>
            <a:ext cx="131128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err="1">
                <a:latin typeface="+mj-ea"/>
                <a:ea typeface="+mj-ea"/>
              </a:rPr>
              <a:t>Github</a:t>
            </a:r>
            <a:r>
              <a:rPr lang="ko-KR" altLang="en-US" sz="4000" b="1" dirty="0">
                <a:latin typeface="+mj-ea"/>
                <a:ea typeface="+mj-ea"/>
              </a:rPr>
              <a:t> </a:t>
            </a:r>
            <a:r>
              <a:rPr lang="en-US" altLang="ko-KR" sz="4000" b="1" dirty="0">
                <a:latin typeface="+mj-ea"/>
                <a:ea typeface="+mj-ea"/>
              </a:rPr>
              <a:t>: </a:t>
            </a:r>
            <a:r>
              <a:rPr lang="en-US" altLang="ko-KR" sz="4000" b="1" dirty="0">
                <a:latin typeface="+mj-ea"/>
                <a:ea typeface="+mj-ea"/>
                <a:hlinkClick r:id="rId4"/>
              </a:rPr>
              <a:t>https://github.com/rainsweetMina/tayotayo</a:t>
            </a:r>
            <a:endParaRPr lang="ko-KR" altLang="en-US" sz="4000" b="1" dirty="0"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E05963-E5BA-5BA3-B079-C4D182A96351}"/>
              </a:ext>
            </a:extLst>
          </p:cNvPr>
          <p:cNvSpPr txBox="1"/>
          <p:nvPr/>
        </p:nvSpPr>
        <p:spPr>
          <a:xfrm>
            <a:off x="1819796" y="7270252"/>
            <a:ext cx="99549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hlinkClick r:id="rId5"/>
              </a:rPr>
              <a:t>대구 버스정보 시스템 </a:t>
            </a:r>
            <a:r>
              <a:rPr lang="en-US" altLang="ko-KR" sz="4000" b="1" dirty="0">
                <a:hlinkClick r:id="rId5"/>
              </a:rPr>
              <a:t>API Swagger</a:t>
            </a:r>
            <a:r>
              <a:rPr lang="ko-KR" altLang="en-US" sz="4000" b="1" dirty="0">
                <a:hlinkClick r:id="rId5"/>
              </a:rPr>
              <a:t>시연 영상</a:t>
            </a:r>
            <a:endParaRPr lang="ko-KR" altLang="en-US" sz="4000" b="1" dirty="0"/>
          </a:p>
        </p:txBody>
      </p:sp>
      <p:sp>
        <p:nvSpPr>
          <p:cNvPr id="10" name="TextBox 17"/>
          <p:cNvSpPr txBox="1"/>
          <p:nvPr/>
        </p:nvSpPr>
        <p:spPr>
          <a:xfrm>
            <a:off x="2452262" y="1130377"/>
            <a:ext cx="12879241" cy="9067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ko-KR" altLang="en-US" sz="56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대구 버스정보 시스템 </a:t>
            </a:r>
            <a:r>
              <a:rPr lang="ko-KR" altLang="en-US" sz="56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백앤드</a:t>
            </a:r>
            <a:r>
              <a:rPr lang="ko-KR" altLang="en-US" sz="56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altLang="ko-KR" sz="56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API </a:t>
            </a:r>
            <a:r>
              <a:rPr lang="ko-KR" altLang="en-US" sz="56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서버</a:t>
            </a:r>
            <a:endParaRPr lang="en-US" sz="5600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</p:spTree>
    <p:extLst>
      <p:ext uri="{BB962C8B-B14F-4D97-AF65-F5344CB8AC3E}">
        <p14:creationId xmlns:p14="http://schemas.microsoft.com/office/powerpoint/2010/main" val="480961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1208963" cy="10289360"/>
            <a:chOff x="0" y="0"/>
            <a:chExt cx="2135296" cy="19601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35296" cy="1960113"/>
            </a:xfrm>
            <a:custGeom>
              <a:avLst/>
              <a:gdLst/>
              <a:ahLst/>
              <a:cxnLst/>
              <a:rect l="l" t="t" r="r" b="b"/>
              <a:pathLst>
                <a:path w="2135296" h="1960113">
                  <a:moveTo>
                    <a:pt x="0" y="0"/>
                  </a:moveTo>
                  <a:lnTo>
                    <a:pt x="2135296" y="0"/>
                  </a:lnTo>
                  <a:lnTo>
                    <a:pt x="2135296" y="1960113"/>
                  </a:lnTo>
                  <a:lnTo>
                    <a:pt x="0" y="1960113"/>
                  </a:lnTo>
                  <a:close/>
                </a:path>
              </a:pathLst>
            </a:custGeom>
            <a:blipFill>
              <a:blip r:embed="rId2"/>
              <a:stretch>
                <a:fillRect t="-4468" b="-446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6263711" y="4677755"/>
            <a:ext cx="10289360" cy="933850"/>
            <a:chOff x="0" y="0"/>
            <a:chExt cx="2709955" cy="24595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09955" cy="245952"/>
            </a:xfrm>
            <a:custGeom>
              <a:avLst/>
              <a:gdLst/>
              <a:ahLst/>
              <a:cxnLst/>
              <a:rect l="l" t="t" r="r" b="b"/>
              <a:pathLst>
                <a:path w="2709955" h="245952">
                  <a:moveTo>
                    <a:pt x="0" y="0"/>
                  </a:moveTo>
                  <a:lnTo>
                    <a:pt x="2709955" y="0"/>
                  </a:lnTo>
                  <a:lnTo>
                    <a:pt x="2709955" y="245952"/>
                  </a:lnTo>
                  <a:lnTo>
                    <a:pt x="0" y="245952"/>
                  </a:lnTo>
                  <a:close/>
                </a:path>
              </a:pathLst>
            </a:custGeom>
            <a:solidFill>
              <a:srgbClr val="E9E4D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709955" cy="284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122400" y="5095875"/>
            <a:ext cx="3134166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주요 기능 소개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122400" y="4402156"/>
            <a:ext cx="3134166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시스템 아키텍처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22400" y="7353761"/>
            <a:ext cx="3870200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향후 계획 및 발전 방향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22400" y="6607001"/>
            <a:ext cx="3134166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프로그램 시연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22400" y="8055616"/>
            <a:ext cx="3134166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Q&amp;A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22400" y="3695700"/>
            <a:ext cx="3134166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개발 도구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22400" y="2377405"/>
            <a:ext cx="3134166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팀 구성 및 역할</a:t>
            </a:r>
          </a:p>
        </p:txBody>
      </p:sp>
      <p:sp>
        <p:nvSpPr>
          <p:cNvPr id="14" name="TextBox 14"/>
          <p:cNvSpPr txBox="1"/>
          <p:nvPr/>
        </p:nvSpPr>
        <p:spPr>
          <a:xfrm rot="-5400000">
            <a:off x="9283204" y="7027060"/>
            <a:ext cx="4193223" cy="474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0"/>
              </a:lnSpc>
              <a:spcBef>
                <a:spcPct val="0"/>
              </a:spcBef>
            </a:pPr>
            <a:r>
              <a:rPr lang="en-US" sz="2672" b="1" spc="18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CONTENTS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22400" y="3019390"/>
            <a:ext cx="3134166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프로젝트 목표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22400" y="5785485"/>
            <a:ext cx="3717800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00" y="4383542"/>
            <a:ext cx="3086100" cy="30861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4B8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 spc="19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함초롬돋움" panose="020B0604000101010101" pitchFamily="50" charset="-127"/>
                  <a:sym typeface="네모고딕 Medium"/>
                </a:rPr>
                <a:t>프로젝트 목표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724400" y="4762500"/>
            <a:ext cx="9296400" cy="562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1"/>
              </a:lnSpc>
            </a:pPr>
            <a:r>
              <a:rPr lang="en-US" sz="3600" b="1" spc="230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버스정보</a:t>
            </a:r>
            <a:r>
              <a:rPr lang="en-US" sz="3600" b="1" spc="230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 </a:t>
            </a:r>
            <a:r>
              <a:rPr lang="en-US" sz="3600" b="1" spc="230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기반의</a:t>
            </a:r>
            <a:r>
              <a:rPr lang="en-US" sz="3600" b="1" spc="230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 </a:t>
            </a:r>
            <a:r>
              <a:rPr lang="en-US" sz="3600" b="1" spc="230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통합</a:t>
            </a:r>
            <a:r>
              <a:rPr lang="en-US" sz="3600" b="1" spc="230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 </a:t>
            </a:r>
            <a:r>
              <a:rPr lang="en-US" sz="3600" b="1" spc="230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운영</a:t>
            </a:r>
            <a:r>
              <a:rPr lang="en-US" sz="3600" b="1" spc="230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 </a:t>
            </a:r>
            <a:r>
              <a:rPr lang="en-US" sz="3600" b="1" spc="230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플랫폼</a:t>
            </a:r>
            <a:r>
              <a:rPr lang="en-US" sz="3600" b="1" spc="230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 </a:t>
            </a:r>
            <a:r>
              <a:rPr lang="en-US" sz="3600" b="1" spc="230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구축</a:t>
            </a:r>
            <a:endParaRPr lang="en-US" sz="3600" b="1" spc="230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돋움" panose="020B0604000101010101" pitchFamily="50" charset="-127"/>
              <a:sym typeface="네모고딕 Medium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18288000" cy="2036811"/>
            <a:chOff x="0" y="0"/>
            <a:chExt cx="4816593" cy="5364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536444"/>
            </a:xfrm>
            <a:custGeom>
              <a:avLst/>
              <a:gdLst/>
              <a:ahLst/>
              <a:cxnLst/>
              <a:rect l="l" t="t" r="r" b="b"/>
              <a:pathLst>
                <a:path w="4816592" h="536444">
                  <a:moveTo>
                    <a:pt x="0" y="0"/>
                  </a:moveTo>
                  <a:lnTo>
                    <a:pt x="4816592" y="0"/>
                  </a:lnTo>
                  <a:lnTo>
                    <a:pt x="4816592" y="536444"/>
                  </a:lnTo>
                  <a:lnTo>
                    <a:pt x="0" y="536444"/>
                  </a:lnTo>
                  <a:close/>
                </a:path>
              </a:pathLst>
            </a:custGeom>
            <a:solidFill>
              <a:srgbClr val="E9E4D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5745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229494" y="4383542"/>
            <a:ext cx="3086100" cy="308610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4B8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 spc="19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함초롬돋움" panose="020B0604000101010101" pitchFamily="50" charset="-127"/>
                  <a:sym typeface="네모고딕 Medium"/>
                </a:rPr>
                <a:t>1차 백앤드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52500" y="767679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프로젝트 목표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4724400" y="5818096"/>
            <a:ext cx="8558433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4751"/>
              </a:lnSpc>
            </a:pPr>
            <a:r>
              <a:rPr lang="en-US" altLang="ko-KR" sz="3600" b="1" spc="230">
                <a:solidFill>
                  <a:srgbClr val="2B4B8B"/>
                </a:solidFill>
                <a:latin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공공 데이터 활용 및 API 제공 기반의</a:t>
            </a:r>
          </a:p>
          <a:p>
            <a:pPr>
              <a:lnSpc>
                <a:spcPts val="4751"/>
              </a:lnSpc>
            </a:pPr>
            <a:r>
              <a:rPr lang="en-US" altLang="ko-KR" sz="3600" b="1" spc="230">
                <a:solidFill>
                  <a:srgbClr val="2B4B8B"/>
                </a:solidFill>
                <a:latin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확장 가능한 플랫폼</a:t>
            </a:r>
            <a:endParaRPr lang="en-US" altLang="ko-KR" sz="3600" b="1" spc="230" dirty="0">
              <a:solidFill>
                <a:srgbClr val="2B4B8B"/>
              </a:solidFill>
              <a:latin typeface="맑은 고딕" panose="020B0503020000020004" pitchFamily="50" charset="-127"/>
              <a:cs typeface="함초롬돋움" panose="020B0604000101010101" pitchFamily="50" charset="-127"/>
              <a:sym typeface="네모고딕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4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7246685" y="5072984"/>
            <a:ext cx="1430552" cy="1417813"/>
          </a:xfrm>
          <a:custGeom>
            <a:avLst/>
            <a:gdLst/>
            <a:ahLst/>
            <a:cxnLst/>
            <a:rect l="l" t="t" r="r" b="b"/>
            <a:pathLst>
              <a:path w="1548877" h="1964040">
                <a:moveTo>
                  <a:pt x="0" y="0"/>
                </a:moveTo>
                <a:lnTo>
                  <a:pt x="1548878" y="0"/>
                </a:lnTo>
                <a:lnTo>
                  <a:pt x="1548878" y="1964041"/>
                </a:lnTo>
                <a:lnTo>
                  <a:pt x="0" y="1964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307214" y="4654515"/>
            <a:ext cx="2646819" cy="2031434"/>
          </a:xfrm>
          <a:custGeom>
            <a:avLst/>
            <a:gdLst/>
            <a:ahLst/>
            <a:cxnLst/>
            <a:rect l="l" t="t" r="r" b="b"/>
            <a:pathLst>
              <a:path w="2516334" h="1931287">
                <a:moveTo>
                  <a:pt x="0" y="0"/>
                </a:moveTo>
                <a:lnTo>
                  <a:pt x="2516334" y="0"/>
                </a:lnTo>
                <a:lnTo>
                  <a:pt x="2516334" y="1931287"/>
                </a:lnTo>
                <a:lnTo>
                  <a:pt x="0" y="19312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137661" y="6713719"/>
            <a:ext cx="1153200" cy="2151702"/>
          </a:xfrm>
          <a:custGeom>
            <a:avLst/>
            <a:gdLst/>
            <a:ahLst/>
            <a:cxnLst/>
            <a:rect l="l" t="t" r="r" b="b"/>
            <a:pathLst>
              <a:path w="1219218" h="2274882">
                <a:moveTo>
                  <a:pt x="0" y="0"/>
                </a:moveTo>
                <a:lnTo>
                  <a:pt x="1219218" y="0"/>
                </a:lnTo>
                <a:lnTo>
                  <a:pt x="1219218" y="2274882"/>
                </a:lnTo>
                <a:lnTo>
                  <a:pt x="0" y="22748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288586" y="2968697"/>
            <a:ext cx="1877485" cy="1667712"/>
          </a:xfrm>
          <a:custGeom>
            <a:avLst/>
            <a:gdLst/>
            <a:ahLst/>
            <a:cxnLst/>
            <a:rect l="l" t="t" r="r" b="b"/>
            <a:pathLst>
              <a:path w="1877485" h="1667712">
                <a:moveTo>
                  <a:pt x="0" y="0"/>
                </a:moveTo>
                <a:lnTo>
                  <a:pt x="1877485" y="0"/>
                </a:lnTo>
                <a:lnTo>
                  <a:pt x="1877485" y="1667712"/>
                </a:lnTo>
                <a:lnTo>
                  <a:pt x="0" y="16677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1715" t="-6800" r="-50099" b="-6800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496344" y="2855704"/>
            <a:ext cx="1422735" cy="1775630"/>
          </a:xfrm>
          <a:custGeom>
            <a:avLst/>
            <a:gdLst/>
            <a:ahLst/>
            <a:cxnLst/>
            <a:rect l="l" t="t" r="r" b="b"/>
            <a:pathLst>
              <a:path w="1422735" h="1775630">
                <a:moveTo>
                  <a:pt x="0" y="0"/>
                </a:moveTo>
                <a:lnTo>
                  <a:pt x="1422735" y="0"/>
                </a:lnTo>
                <a:lnTo>
                  <a:pt x="1422735" y="1775630"/>
                </a:lnTo>
                <a:lnTo>
                  <a:pt x="0" y="17756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4411" r="-74411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514133" y="3054553"/>
            <a:ext cx="1495999" cy="1495999"/>
          </a:xfrm>
          <a:custGeom>
            <a:avLst/>
            <a:gdLst/>
            <a:ahLst/>
            <a:cxnLst/>
            <a:rect l="l" t="t" r="r" b="b"/>
            <a:pathLst>
              <a:path w="1495999" h="1495999">
                <a:moveTo>
                  <a:pt x="0" y="0"/>
                </a:moveTo>
                <a:lnTo>
                  <a:pt x="1495999" y="0"/>
                </a:lnTo>
                <a:lnTo>
                  <a:pt x="1495999" y="1495998"/>
                </a:lnTo>
                <a:lnTo>
                  <a:pt x="0" y="14959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533982" y="7434744"/>
            <a:ext cx="2276401" cy="951234"/>
          </a:xfrm>
          <a:custGeom>
            <a:avLst/>
            <a:gdLst/>
            <a:ahLst/>
            <a:cxnLst/>
            <a:rect l="l" t="t" r="r" b="b"/>
            <a:pathLst>
              <a:path w="2276401" h="951234">
                <a:moveTo>
                  <a:pt x="0" y="0"/>
                </a:moveTo>
                <a:lnTo>
                  <a:pt x="2276402" y="0"/>
                </a:lnTo>
                <a:lnTo>
                  <a:pt x="2276402" y="951234"/>
                </a:lnTo>
                <a:lnTo>
                  <a:pt x="0" y="9512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582400" y="4973378"/>
            <a:ext cx="2706437" cy="1515605"/>
          </a:xfrm>
          <a:custGeom>
            <a:avLst/>
            <a:gdLst/>
            <a:ahLst/>
            <a:cxnLst/>
            <a:rect l="l" t="t" r="r" b="b"/>
            <a:pathLst>
              <a:path w="3213204" h="1799394">
                <a:moveTo>
                  <a:pt x="0" y="0"/>
                </a:moveTo>
                <a:lnTo>
                  <a:pt x="3213203" y="0"/>
                </a:lnTo>
                <a:lnTo>
                  <a:pt x="3213203" y="1799394"/>
                </a:lnTo>
                <a:lnTo>
                  <a:pt x="0" y="179939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285847" y="7206729"/>
            <a:ext cx="2069059" cy="1407264"/>
          </a:xfrm>
          <a:custGeom>
            <a:avLst/>
            <a:gdLst/>
            <a:ahLst/>
            <a:cxnLst/>
            <a:rect l="l" t="t" r="r" b="b"/>
            <a:pathLst>
              <a:path w="2069059" h="1407264">
                <a:moveTo>
                  <a:pt x="0" y="0"/>
                </a:moveTo>
                <a:lnTo>
                  <a:pt x="2069058" y="0"/>
                </a:lnTo>
                <a:lnTo>
                  <a:pt x="2069058" y="1407264"/>
                </a:lnTo>
                <a:lnTo>
                  <a:pt x="0" y="140726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527190" y="5071170"/>
            <a:ext cx="2431411" cy="1610663"/>
          </a:xfrm>
          <a:custGeom>
            <a:avLst/>
            <a:gdLst/>
            <a:ahLst/>
            <a:cxnLst/>
            <a:rect l="l" t="t" r="r" b="b"/>
            <a:pathLst>
              <a:path w="2094721" h="1387626">
                <a:moveTo>
                  <a:pt x="0" y="0"/>
                </a:moveTo>
                <a:lnTo>
                  <a:pt x="2094721" y="0"/>
                </a:lnTo>
                <a:lnTo>
                  <a:pt x="2094721" y="1387626"/>
                </a:lnTo>
                <a:lnTo>
                  <a:pt x="0" y="1387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7733" r="-14753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605186" y="2540941"/>
            <a:ext cx="1892862" cy="2041243"/>
          </a:xfrm>
          <a:custGeom>
            <a:avLst/>
            <a:gdLst/>
            <a:ahLst/>
            <a:cxnLst/>
            <a:rect l="l" t="t" r="r" b="b"/>
            <a:pathLst>
              <a:path w="1892862" h="2041243">
                <a:moveTo>
                  <a:pt x="0" y="0"/>
                </a:moveTo>
                <a:lnTo>
                  <a:pt x="1892862" y="0"/>
                </a:lnTo>
                <a:lnTo>
                  <a:pt x="1892862" y="2041243"/>
                </a:lnTo>
                <a:lnTo>
                  <a:pt x="0" y="204124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b="-20032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677237" y="7131670"/>
            <a:ext cx="1844899" cy="1557382"/>
          </a:xfrm>
          <a:custGeom>
            <a:avLst/>
            <a:gdLst/>
            <a:ahLst/>
            <a:cxnLst/>
            <a:rect l="l" t="t" r="r" b="b"/>
            <a:pathLst>
              <a:path w="1844899" h="1557382">
                <a:moveTo>
                  <a:pt x="0" y="0"/>
                </a:moveTo>
                <a:lnTo>
                  <a:pt x="1844899" y="0"/>
                </a:lnTo>
                <a:lnTo>
                  <a:pt x="1844899" y="1557382"/>
                </a:lnTo>
                <a:lnTo>
                  <a:pt x="0" y="15573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2143335" y="2885062"/>
            <a:ext cx="2263038" cy="1665490"/>
          </a:xfrm>
          <a:custGeom>
            <a:avLst/>
            <a:gdLst/>
            <a:ahLst/>
            <a:cxnLst/>
            <a:rect l="l" t="t" r="r" b="b"/>
            <a:pathLst>
              <a:path w="2032737" h="1495999">
                <a:moveTo>
                  <a:pt x="0" y="0"/>
                </a:moveTo>
                <a:lnTo>
                  <a:pt x="2032737" y="0"/>
                </a:lnTo>
                <a:lnTo>
                  <a:pt x="2032737" y="1495999"/>
                </a:lnTo>
                <a:lnTo>
                  <a:pt x="0" y="149599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24153" r="-23037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3893337" y="7651097"/>
            <a:ext cx="4223808" cy="1090511"/>
          </a:xfrm>
          <a:custGeom>
            <a:avLst/>
            <a:gdLst/>
            <a:ahLst/>
            <a:cxnLst/>
            <a:rect l="l" t="t" r="r" b="b"/>
            <a:pathLst>
              <a:path w="4223808" h="1090511">
                <a:moveTo>
                  <a:pt x="0" y="0"/>
                </a:moveTo>
                <a:lnTo>
                  <a:pt x="4223809" y="0"/>
                </a:lnTo>
                <a:lnTo>
                  <a:pt x="4223809" y="1090511"/>
                </a:lnTo>
                <a:lnTo>
                  <a:pt x="0" y="109051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4933094" y="125877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ko-KR" alt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개발 기술 스택</a:t>
            </a:r>
            <a:endParaRPr lang="en-US" sz="5600" b="1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4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2605838" y="2760453"/>
            <a:ext cx="2403389" cy="1606760"/>
          </a:xfrm>
          <a:custGeom>
            <a:avLst/>
            <a:gdLst/>
            <a:ahLst/>
            <a:cxnLst/>
            <a:rect l="l" t="t" r="r" b="b"/>
            <a:pathLst>
              <a:path w="2403389" h="1606760">
                <a:moveTo>
                  <a:pt x="0" y="0"/>
                </a:moveTo>
                <a:lnTo>
                  <a:pt x="2403389" y="0"/>
                </a:lnTo>
                <a:lnTo>
                  <a:pt x="2403389" y="1606760"/>
                </a:lnTo>
                <a:lnTo>
                  <a:pt x="0" y="16067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157058" y="2846657"/>
            <a:ext cx="1665090" cy="1606760"/>
          </a:xfrm>
          <a:custGeom>
            <a:avLst/>
            <a:gdLst/>
            <a:ahLst/>
            <a:cxnLst/>
            <a:rect l="l" t="t" r="r" b="b"/>
            <a:pathLst>
              <a:path w="1665090" h="1606760">
                <a:moveTo>
                  <a:pt x="0" y="0"/>
                </a:moveTo>
                <a:lnTo>
                  <a:pt x="1665090" y="0"/>
                </a:lnTo>
                <a:lnTo>
                  <a:pt x="1665090" y="1606760"/>
                </a:lnTo>
                <a:lnTo>
                  <a:pt x="0" y="1606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72" t="-11224" r="-3072" b="-10152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933094" y="914400"/>
            <a:ext cx="8421812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시스템 아키텍처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995936" y="2665337"/>
            <a:ext cx="3819878" cy="926002"/>
            <a:chOff x="0" y="-25051"/>
            <a:chExt cx="1006058" cy="2438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6058" cy="177210"/>
            </a:xfrm>
            <a:custGeom>
              <a:avLst/>
              <a:gdLst/>
              <a:ahLst/>
              <a:cxnLst/>
              <a:rect l="l" t="t" r="r" b="b"/>
              <a:pathLst>
                <a:path w="1006058" h="177210">
                  <a:moveTo>
                    <a:pt x="34455" y="0"/>
                  </a:moveTo>
                  <a:lnTo>
                    <a:pt x="971604" y="0"/>
                  </a:lnTo>
                  <a:cubicBezTo>
                    <a:pt x="990632" y="0"/>
                    <a:pt x="1006058" y="15426"/>
                    <a:pt x="1006058" y="34455"/>
                  </a:cubicBezTo>
                  <a:lnTo>
                    <a:pt x="1006058" y="142756"/>
                  </a:lnTo>
                  <a:cubicBezTo>
                    <a:pt x="1006058" y="151894"/>
                    <a:pt x="1002428" y="160657"/>
                    <a:pt x="995967" y="167119"/>
                  </a:cubicBezTo>
                  <a:cubicBezTo>
                    <a:pt x="989505" y="173580"/>
                    <a:pt x="980742" y="177210"/>
                    <a:pt x="971604" y="177210"/>
                  </a:cubicBezTo>
                  <a:lnTo>
                    <a:pt x="34455" y="177210"/>
                  </a:lnTo>
                  <a:cubicBezTo>
                    <a:pt x="25317" y="177210"/>
                    <a:pt x="16553" y="173580"/>
                    <a:pt x="10092" y="167119"/>
                  </a:cubicBezTo>
                  <a:cubicBezTo>
                    <a:pt x="3630" y="160657"/>
                    <a:pt x="0" y="151894"/>
                    <a:pt x="0" y="142756"/>
                  </a:cubicBezTo>
                  <a:lnTo>
                    <a:pt x="0" y="34455"/>
                  </a:lnTo>
                  <a:cubicBezTo>
                    <a:pt x="0" y="25317"/>
                    <a:pt x="3630" y="16553"/>
                    <a:pt x="10092" y="10092"/>
                  </a:cubicBezTo>
                  <a:cubicBezTo>
                    <a:pt x="16553" y="3630"/>
                    <a:pt x="25317" y="0"/>
                    <a:pt x="34455" y="0"/>
                  </a:cubicBezTo>
                  <a:close/>
                </a:path>
              </a:pathLst>
            </a:custGeom>
            <a:solidFill>
              <a:srgbClr val="E9E4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5051"/>
              <a:ext cx="1006058" cy="2438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 i="1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프론트앤드</a:t>
              </a:r>
              <a:endParaRPr lang="en-US" sz="2999" b="1" i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endParaRPr>
            </a:p>
          </p:txBody>
        </p:sp>
      </p:grpSp>
      <p:sp>
        <p:nvSpPr>
          <p:cNvPr id="11" name="AutoShape 11"/>
          <p:cNvSpPr/>
          <p:nvPr/>
        </p:nvSpPr>
        <p:spPr>
          <a:xfrm flipH="1">
            <a:off x="8963025" y="3650037"/>
            <a:ext cx="7295" cy="621652"/>
          </a:xfrm>
          <a:prstGeom prst="line">
            <a:avLst/>
          </a:prstGeom>
          <a:ln w="38100" cap="flat">
            <a:solidFill>
              <a:srgbClr val="2B4B8B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2" name="Group 12"/>
          <p:cNvGrpSpPr/>
          <p:nvPr/>
        </p:nvGrpSpPr>
        <p:grpSpPr>
          <a:xfrm>
            <a:off x="6995936" y="4490988"/>
            <a:ext cx="3819878" cy="4445466"/>
            <a:chOff x="0" y="0"/>
            <a:chExt cx="1006058" cy="117082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06058" cy="1170822"/>
            </a:xfrm>
            <a:custGeom>
              <a:avLst/>
              <a:gdLst/>
              <a:ahLst/>
              <a:cxnLst/>
              <a:rect l="l" t="t" r="r" b="b"/>
              <a:pathLst>
                <a:path w="1006058" h="1170822">
                  <a:moveTo>
                    <a:pt x="34455" y="0"/>
                  </a:moveTo>
                  <a:lnTo>
                    <a:pt x="971604" y="0"/>
                  </a:lnTo>
                  <a:cubicBezTo>
                    <a:pt x="990632" y="0"/>
                    <a:pt x="1006058" y="15426"/>
                    <a:pt x="1006058" y="34455"/>
                  </a:cubicBezTo>
                  <a:lnTo>
                    <a:pt x="1006058" y="1136368"/>
                  </a:lnTo>
                  <a:cubicBezTo>
                    <a:pt x="1006058" y="1145505"/>
                    <a:pt x="1002428" y="1154269"/>
                    <a:pt x="995967" y="1160731"/>
                  </a:cubicBezTo>
                  <a:cubicBezTo>
                    <a:pt x="989505" y="1167192"/>
                    <a:pt x="980742" y="1170822"/>
                    <a:pt x="971604" y="1170822"/>
                  </a:cubicBezTo>
                  <a:lnTo>
                    <a:pt x="34455" y="1170822"/>
                  </a:lnTo>
                  <a:cubicBezTo>
                    <a:pt x="25317" y="1170822"/>
                    <a:pt x="16553" y="1167192"/>
                    <a:pt x="10092" y="1160731"/>
                  </a:cubicBezTo>
                  <a:cubicBezTo>
                    <a:pt x="3630" y="1154269"/>
                    <a:pt x="0" y="1145505"/>
                    <a:pt x="0" y="1136368"/>
                  </a:cubicBezTo>
                  <a:lnTo>
                    <a:pt x="0" y="34455"/>
                  </a:lnTo>
                  <a:cubicBezTo>
                    <a:pt x="0" y="25317"/>
                    <a:pt x="3630" y="16553"/>
                    <a:pt x="10092" y="10092"/>
                  </a:cubicBezTo>
                  <a:cubicBezTo>
                    <a:pt x="16553" y="3630"/>
                    <a:pt x="25317" y="0"/>
                    <a:pt x="3445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1A418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006058" cy="12089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b="1">
                <a:latin typeface="Agency FB" panose="020B0503020202020204" pitchFamily="34" charset="0"/>
              </a:endParaRPr>
            </a:p>
            <a:p>
              <a:pPr algn="ctr">
                <a:lnSpc>
                  <a:spcPts val="2659"/>
                </a:lnSpc>
              </a:pPr>
              <a:endParaRPr b="1">
                <a:latin typeface="Agency FB" panose="020B0503020202020204" pitchFamily="34" charset="0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95936" y="4490988"/>
            <a:ext cx="3819878" cy="1585529"/>
            <a:chOff x="0" y="0"/>
            <a:chExt cx="1006058" cy="41758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06058" cy="417588"/>
            </a:xfrm>
            <a:custGeom>
              <a:avLst/>
              <a:gdLst/>
              <a:ahLst/>
              <a:cxnLst/>
              <a:rect l="l" t="t" r="r" b="b"/>
              <a:pathLst>
                <a:path w="1006058" h="417588">
                  <a:moveTo>
                    <a:pt x="34455" y="0"/>
                  </a:moveTo>
                  <a:lnTo>
                    <a:pt x="971604" y="0"/>
                  </a:lnTo>
                  <a:cubicBezTo>
                    <a:pt x="990632" y="0"/>
                    <a:pt x="1006058" y="15426"/>
                    <a:pt x="1006058" y="34455"/>
                  </a:cubicBezTo>
                  <a:lnTo>
                    <a:pt x="1006058" y="383133"/>
                  </a:lnTo>
                  <a:cubicBezTo>
                    <a:pt x="1006058" y="392271"/>
                    <a:pt x="1002428" y="401035"/>
                    <a:pt x="995967" y="407496"/>
                  </a:cubicBezTo>
                  <a:cubicBezTo>
                    <a:pt x="989505" y="413958"/>
                    <a:pt x="980742" y="417588"/>
                    <a:pt x="971604" y="417588"/>
                  </a:cubicBezTo>
                  <a:lnTo>
                    <a:pt x="34455" y="417588"/>
                  </a:lnTo>
                  <a:cubicBezTo>
                    <a:pt x="25317" y="417588"/>
                    <a:pt x="16553" y="413958"/>
                    <a:pt x="10092" y="407496"/>
                  </a:cubicBezTo>
                  <a:cubicBezTo>
                    <a:pt x="3630" y="401035"/>
                    <a:pt x="0" y="392271"/>
                    <a:pt x="0" y="383133"/>
                  </a:cubicBezTo>
                  <a:lnTo>
                    <a:pt x="0" y="34455"/>
                  </a:lnTo>
                  <a:cubicBezTo>
                    <a:pt x="0" y="25317"/>
                    <a:pt x="3630" y="16553"/>
                    <a:pt x="10092" y="10092"/>
                  </a:cubicBezTo>
                  <a:cubicBezTo>
                    <a:pt x="16553" y="3630"/>
                    <a:pt x="25317" y="0"/>
                    <a:pt x="34455" y="0"/>
                  </a:cubicBezTo>
                  <a:close/>
                </a:path>
              </a:pathLst>
            </a:custGeom>
            <a:solidFill>
              <a:srgbClr val="2B4B8B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1006058" cy="4842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19"/>
                </a:lnSpc>
              </a:pPr>
              <a:r>
                <a:rPr lang="en-US" sz="3299" b="1" dirty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Spring API</a:t>
              </a:r>
            </a:p>
            <a:p>
              <a:pPr algn="ctr">
                <a:lnSpc>
                  <a:spcPts val="4619"/>
                </a:lnSpc>
              </a:pPr>
              <a:r>
                <a:rPr lang="en-US" sz="3299" b="1" dirty="0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컨트롤러</a:t>
              </a:r>
              <a:endParaRPr lang="en-US" sz="3299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endParaR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995936" y="6753382"/>
            <a:ext cx="3819878" cy="134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Redis</a:t>
            </a:r>
            <a:r>
              <a:rPr lang="en-US" sz="24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4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캐싱</a:t>
            </a:r>
            <a:endParaRPr lang="en-US" sz="24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DB </a:t>
            </a:r>
            <a:r>
              <a:rPr lang="en-US" sz="24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호출</a:t>
            </a:r>
            <a:r>
              <a:rPr lang="en-US" sz="24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(JPA)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공공버스</a:t>
            </a:r>
            <a:r>
              <a:rPr lang="en-US" sz="24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API </a:t>
            </a:r>
            <a:r>
              <a:rPr lang="en-US" sz="24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호출</a:t>
            </a:r>
            <a:endParaRPr lang="en-US" sz="24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582948" y="4706077"/>
            <a:ext cx="2930787" cy="4753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사용자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/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운영자</a:t>
            </a:r>
            <a:endParaRPr lang="en-US" sz="28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4050571" y="4665770"/>
            <a:ext cx="2159527" cy="4753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외부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개발자</a:t>
            </a:r>
            <a:endParaRPr lang="en-US" sz="28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11581035" y="6694193"/>
            <a:ext cx="2105816" cy="926002"/>
            <a:chOff x="0" y="-33338"/>
            <a:chExt cx="554618" cy="24388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54618" cy="177210"/>
            </a:xfrm>
            <a:custGeom>
              <a:avLst/>
              <a:gdLst/>
              <a:ahLst/>
              <a:cxnLst/>
              <a:rect l="l" t="t" r="r" b="b"/>
              <a:pathLst>
                <a:path w="554618" h="177210">
                  <a:moveTo>
                    <a:pt x="62500" y="0"/>
                  </a:moveTo>
                  <a:lnTo>
                    <a:pt x="492119" y="0"/>
                  </a:lnTo>
                  <a:cubicBezTo>
                    <a:pt x="508694" y="0"/>
                    <a:pt x="524591" y="6585"/>
                    <a:pt x="536312" y="18306"/>
                  </a:cubicBezTo>
                  <a:cubicBezTo>
                    <a:pt x="548033" y="30027"/>
                    <a:pt x="554618" y="45924"/>
                    <a:pt x="554618" y="62500"/>
                  </a:cubicBezTo>
                  <a:lnTo>
                    <a:pt x="554618" y="114711"/>
                  </a:lnTo>
                  <a:cubicBezTo>
                    <a:pt x="554618" y="131287"/>
                    <a:pt x="548033" y="147184"/>
                    <a:pt x="536312" y="158905"/>
                  </a:cubicBezTo>
                  <a:cubicBezTo>
                    <a:pt x="524591" y="170626"/>
                    <a:pt x="508694" y="177210"/>
                    <a:pt x="492119" y="177210"/>
                  </a:cubicBezTo>
                  <a:lnTo>
                    <a:pt x="62500" y="177210"/>
                  </a:lnTo>
                  <a:cubicBezTo>
                    <a:pt x="27982" y="177210"/>
                    <a:pt x="0" y="149228"/>
                    <a:pt x="0" y="114711"/>
                  </a:cubicBezTo>
                  <a:lnTo>
                    <a:pt x="0" y="62500"/>
                  </a:lnTo>
                  <a:cubicBezTo>
                    <a:pt x="0" y="45924"/>
                    <a:pt x="6585" y="30027"/>
                    <a:pt x="18306" y="18306"/>
                  </a:cubicBezTo>
                  <a:cubicBezTo>
                    <a:pt x="30027" y="6585"/>
                    <a:pt x="45924" y="0"/>
                    <a:pt x="62500" y="0"/>
                  </a:cubicBezTo>
                  <a:close/>
                </a:path>
              </a:pathLst>
            </a:custGeom>
            <a:solidFill>
              <a:srgbClr val="E9E4DE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3338"/>
              <a:ext cx="554618" cy="2438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 i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응답+로깅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 flipV="1">
            <a:off x="10815814" y="7194321"/>
            <a:ext cx="707354" cy="0"/>
          </a:xfrm>
          <a:prstGeom prst="line">
            <a:avLst/>
          </a:prstGeom>
          <a:ln w="38100" cap="flat">
            <a:solidFill>
              <a:srgbClr val="2B4B8B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7" name="오른쪽으로 구부러진 화살표 26"/>
          <p:cNvSpPr/>
          <p:nvPr/>
        </p:nvSpPr>
        <p:spPr>
          <a:xfrm rot="18658265">
            <a:off x="4590967" y="5484674"/>
            <a:ext cx="1166690" cy="278016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왼쪽으로 구부러진 화살표 27"/>
          <p:cNvSpPr/>
          <p:nvPr/>
        </p:nvSpPr>
        <p:spPr>
          <a:xfrm rot="2506461">
            <a:off x="14468147" y="5583038"/>
            <a:ext cx="1267582" cy="258343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4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5151713" y="2558608"/>
            <a:ext cx="2232540" cy="2426184"/>
          </a:xfrm>
          <a:custGeom>
            <a:avLst/>
            <a:gdLst/>
            <a:ahLst/>
            <a:cxnLst/>
            <a:rect l="l" t="t" r="r" b="b"/>
            <a:pathLst>
              <a:path w="2232540" h="2426184">
                <a:moveTo>
                  <a:pt x="0" y="0"/>
                </a:moveTo>
                <a:lnTo>
                  <a:pt x="2232541" y="0"/>
                </a:lnTo>
                <a:lnTo>
                  <a:pt x="2232541" y="2426184"/>
                </a:lnTo>
                <a:lnTo>
                  <a:pt x="0" y="24261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28" b="-72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797922" y="2558608"/>
            <a:ext cx="1986947" cy="2743268"/>
          </a:xfrm>
          <a:custGeom>
            <a:avLst/>
            <a:gdLst/>
            <a:ahLst/>
            <a:cxnLst/>
            <a:rect l="l" t="t" r="r" b="b"/>
            <a:pathLst>
              <a:path w="1986947" h="2743268">
                <a:moveTo>
                  <a:pt x="0" y="0"/>
                </a:moveTo>
                <a:lnTo>
                  <a:pt x="1986947" y="0"/>
                </a:lnTo>
                <a:lnTo>
                  <a:pt x="1986947" y="2743269"/>
                </a:lnTo>
                <a:lnTo>
                  <a:pt x="0" y="2743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153924" y="2446823"/>
            <a:ext cx="1920276" cy="2098069"/>
          </a:xfrm>
          <a:custGeom>
            <a:avLst/>
            <a:gdLst/>
            <a:ahLst/>
            <a:cxnLst/>
            <a:rect l="l" t="t" r="r" b="b"/>
            <a:pathLst>
              <a:path w="1920276" h="2098069">
                <a:moveTo>
                  <a:pt x="0" y="0"/>
                </a:moveTo>
                <a:lnTo>
                  <a:pt x="1920276" y="0"/>
                </a:lnTo>
                <a:lnTo>
                  <a:pt x="1920276" y="2098070"/>
                </a:lnTo>
                <a:lnTo>
                  <a:pt x="0" y="20980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293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821692" y="4809956"/>
            <a:ext cx="2584739" cy="4555091"/>
          </a:xfrm>
          <a:custGeom>
            <a:avLst/>
            <a:gdLst/>
            <a:ahLst/>
            <a:cxnLst/>
            <a:rect l="l" t="t" r="r" b="b"/>
            <a:pathLst>
              <a:path w="2584739" h="4555091">
                <a:moveTo>
                  <a:pt x="0" y="0"/>
                </a:moveTo>
                <a:lnTo>
                  <a:pt x="2584739" y="0"/>
                </a:lnTo>
                <a:lnTo>
                  <a:pt x="2584739" y="4555091"/>
                </a:lnTo>
                <a:lnTo>
                  <a:pt x="0" y="45550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757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966164" y="7945115"/>
            <a:ext cx="1650463" cy="1419932"/>
          </a:xfrm>
          <a:custGeom>
            <a:avLst/>
            <a:gdLst/>
            <a:ahLst/>
            <a:cxnLst/>
            <a:rect l="l" t="t" r="r" b="b"/>
            <a:pathLst>
              <a:path w="1650463" h="1419932">
                <a:moveTo>
                  <a:pt x="0" y="0"/>
                </a:moveTo>
                <a:lnTo>
                  <a:pt x="1650463" y="0"/>
                </a:lnTo>
                <a:lnTo>
                  <a:pt x="1650463" y="1419932"/>
                </a:lnTo>
                <a:lnTo>
                  <a:pt x="0" y="14199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260" b="-2260"/>
            </a:stretch>
          </a:blipFill>
        </p:spPr>
      </p:sp>
      <p:sp>
        <p:nvSpPr>
          <p:cNvPr id="10" name="AutoShape 10"/>
          <p:cNvSpPr/>
          <p:nvPr/>
        </p:nvSpPr>
        <p:spPr>
          <a:xfrm flipV="1">
            <a:off x="9791396" y="7209170"/>
            <a:ext cx="0" cy="735945"/>
          </a:xfrm>
          <a:prstGeom prst="line">
            <a:avLst/>
          </a:prstGeom>
          <a:ln w="38100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8686162" y="5926762"/>
            <a:ext cx="2210467" cy="1282408"/>
          </a:xfrm>
          <a:custGeom>
            <a:avLst/>
            <a:gdLst/>
            <a:ahLst/>
            <a:cxnLst/>
            <a:rect l="l" t="t" r="r" b="b"/>
            <a:pathLst>
              <a:path w="2210467" h="1282408">
                <a:moveTo>
                  <a:pt x="0" y="0"/>
                </a:moveTo>
                <a:lnTo>
                  <a:pt x="2210467" y="0"/>
                </a:lnTo>
                <a:lnTo>
                  <a:pt x="2210467" y="1282408"/>
                </a:lnTo>
                <a:lnTo>
                  <a:pt x="0" y="12824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10896629" y="6918047"/>
            <a:ext cx="1925063" cy="1458007"/>
          </a:xfrm>
          <a:prstGeom prst="line">
            <a:avLst/>
          </a:prstGeom>
          <a:ln w="38100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10784869" y="4710959"/>
            <a:ext cx="2036823" cy="1121272"/>
          </a:xfrm>
          <a:prstGeom prst="line">
            <a:avLst/>
          </a:prstGeom>
          <a:ln w="38100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V="1">
            <a:off x="6891337" y="6567966"/>
            <a:ext cx="1794825" cy="655492"/>
          </a:xfrm>
          <a:prstGeom prst="line">
            <a:avLst/>
          </a:prstGeom>
          <a:ln w="38100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10784869" y="3607643"/>
            <a:ext cx="2369055" cy="0"/>
          </a:xfrm>
          <a:prstGeom prst="line">
            <a:avLst/>
          </a:prstGeom>
          <a:ln w="38100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Freeform 16"/>
          <p:cNvSpPr/>
          <p:nvPr/>
        </p:nvSpPr>
        <p:spPr>
          <a:xfrm>
            <a:off x="2881569" y="2558608"/>
            <a:ext cx="2101815" cy="3166735"/>
          </a:xfrm>
          <a:custGeom>
            <a:avLst/>
            <a:gdLst/>
            <a:ahLst/>
            <a:cxnLst/>
            <a:rect l="l" t="t" r="r" b="b"/>
            <a:pathLst>
              <a:path w="2101815" h="3166735">
                <a:moveTo>
                  <a:pt x="0" y="0"/>
                </a:moveTo>
                <a:lnTo>
                  <a:pt x="2101815" y="0"/>
                </a:lnTo>
                <a:lnTo>
                  <a:pt x="2101815" y="3166735"/>
                </a:lnTo>
                <a:lnTo>
                  <a:pt x="0" y="31667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5151713" y="6046092"/>
            <a:ext cx="1739624" cy="2354731"/>
          </a:xfrm>
          <a:custGeom>
            <a:avLst/>
            <a:gdLst/>
            <a:ahLst/>
            <a:cxnLst/>
            <a:rect l="l" t="t" r="r" b="b"/>
            <a:pathLst>
              <a:path w="1739624" h="2354731">
                <a:moveTo>
                  <a:pt x="0" y="0"/>
                </a:moveTo>
                <a:lnTo>
                  <a:pt x="1739624" y="0"/>
                </a:lnTo>
                <a:lnTo>
                  <a:pt x="1739624" y="2354731"/>
                </a:lnTo>
                <a:lnTo>
                  <a:pt x="0" y="235473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224" t="-1761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2821692" y="4809956"/>
            <a:ext cx="2584739" cy="4536136"/>
          </a:xfrm>
          <a:custGeom>
            <a:avLst/>
            <a:gdLst/>
            <a:ahLst/>
            <a:cxnLst/>
            <a:rect l="l" t="t" r="r" b="b"/>
            <a:pathLst>
              <a:path w="2584739" h="4536136">
                <a:moveTo>
                  <a:pt x="0" y="0"/>
                </a:moveTo>
                <a:lnTo>
                  <a:pt x="2584739" y="0"/>
                </a:lnTo>
                <a:lnTo>
                  <a:pt x="2584739" y="4536135"/>
                </a:lnTo>
                <a:lnTo>
                  <a:pt x="0" y="45361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182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607363" y="5832231"/>
            <a:ext cx="2373407" cy="1376938"/>
          </a:xfrm>
          <a:custGeom>
            <a:avLst/>
            <a:gdLst/>
            <a:ahLst/>
            <a:cxnLst/>
            <a:rect l="l" t="t" r="r" b="b"/>
            <a:pathLst>
              <a:path w="2373407" h="1376938">
                <a:moveTo>
                  <a:pt x="0" y="0"/>
                </a:moveTo>
                <a:lnTo>
                  <a:pt x="2373407" y="0"/>
                </a:lnTo>
                <a:lnTo>
                  <a:pt x="2373407" y="1376939"/>
                </a:lnTo>
                <a:lnTo>
                  <a:pt x="0" y="13769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4933094" y="125877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DB 설계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4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899425"/>
              </p:ext>
            </p:extLst>
          </p:nvPr>
        </p:nvGraphicFramePr>
        <p:xfrm>
          <a:off x="2083161" y="3182083"/>
          <a:ext cx="2675422" cy="4540776"/>
        </p:xfrm>
        <a:graphic>
          <a:graphicData uri="http://schemas.openxmlformats.org/drawingml/2006/table">
            <a:tbl>
              <a:tblPr/>
              <a:tblGrid>
                <a:gridCol w="2675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6796">
                <a:tc>
                  <a:txBody>
                    <a:bodyPr/>
                    <a:lstStyle/>
                    <a:p>
                      <a:pPr algn="ctr">
                        <a:lnSpc>
                          <a:spcPts val="2274"/>
                        </a:lnSpc>
                        <a:defRPr/>
                      </a:pPr>
                      <a:r>
                        <a:rPr lang="en-US" sz="22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  <a:sym typeface="네모고딕 Medium"/>
                        </a:rPr>
                        <a:t>버스 이용 안내</a:t>
                      </a:r>
                      <a:endParaRPr lang="en-US" sz="2200" b="1">
                        <a:latin typeface="Agency FB" panose="020B0503020202020204" pitchFamily="34" charset="0"/>
                      </a:endParaRPr>
                    </a:p>
                  </a:txBody>
                  <a:tcPr marL="162927" marR="162927" marT="162927" marB="162927" anchor="ctr">
                    <a:lnL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796">
                <a:tc>
                  <a:txBody>
                    <a:bodyPr/>
                    <a:lstStyle/>
                    <a:p>
                      <a:pPr algn="ctr">
                        <a:lnSpc>
                          <a:spcPts val="2274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버스 요금</a:t>
                      </a:r>
                      <a:endParaRPr lang="en-US" sz="1800" b="1">
                        <a:latin typeface="Agency FB" panose="020B0503020202020204" pitchFamily="34" charset="0"/>
                      </a:endParaRPr>
                    </a:p>
                  </a:txBody>
                  <a:tcPr marL="162927" marR="162927" marT="162927" marB="162927" anchor="ctr">
                    <a:lnL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6796">
                <a:tc>
                  <a:txBody>
                    <a:bodyPr/>
                    <a:lstStyle/>
                    <a:p>
                      <a:pPr algn="ctr">
                        <a:lnSpc>
                          <a:spcPts val="2274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버스 운행 시간표</a:t>
                      </a:r>
                      <a:endParaRPr lang="en-US" sz="1800" b="1">
                        <a:latin typeface="Agency FB" panose="020B0503020202020204" pitchFamily="34" charset="0"/>
                      </a:endParaRPr>
                    </a:p>
                  </a:txBody>
                  <a:tcPr marL="162927" marR="162927" marT="162927" marB="162927" anchor="ctr">
                    <a:lnL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6796">
                <a:tc>
                  <a:txBody>
                    <a:bodyPr/>
                    <a:lstStyle/>
                    <a:p>
                      <a:pPr algn="ctr">
                        <a:lnSpc>
                          <a:spcPts val="2274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저상 버스 운행 시간표</a:t>
                      </a:r>
                      <a:endParaRPr lang="en-US" sz="1800" b="1">
                        <a:latin typeface="Agency FB" panose="020B0503020202020204" pitchFamily="34" charset="0"/>
                      </a:endParaRPr>
                    </a:p>
                  </a:txBody>
                  <a:tcPr marL="162927" marR="162927" marT="162927" marB="162927" anchor="ctr">
                    <a:lnL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6796">
                <a:tc>
                  <a:txBody>
                    <a:bodyPr/>
                    <a:lstStyle/>
                    <a:p>
                      <a:pPr algn="ctr">
                        <a:lnSpc>
                          <a:spcPts val="2274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정류장 조회</a:t>
                      </a:r>
                      <a:endParaRPr lang="en-US" sz="1800" b="1">
                        <a:latin typeface="Agency FB" panose="020B0503020202020204" pitchFamily="34" charset="0"/>
                      </a:endParaRPr>
                    </a:p>
                  </a:txBody>
                  <a:tcPr marL="162927" marR="162927" marT="162927" marB="162927" anchor="ctr">
                    <a:lnL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6796">
                <a:tc>
                  <a:txBody>
                    <a:bodyPr/>
                    <a:lstStyle/>
                    <a:p>
                      <a:pPr algn="ctr">
                        <a:lnSpc>
                          <a:spcPts val="2274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버스 회사 조회</a:t>
                      </a:r>
                      <a:endParaRPr lang="en-US" sz="1800" b="1">
                        <a:latin typeface="Agency FB" panose="020B0503020202020204" pitchFamily="34" charset="0"/>
                      </a:endParaRPr>
                    </a:p>
                  </a:txBody>
                  <a:tcPr marL="162927" marR="162927" marT="162927" marB="162927" anchor="ctr">
                    <a:lnL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4933094" y="125877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메뉴 구성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323706"/>
              </p:ext>
            </p:extLst>
          </p:nvPr>
        </p:nvGraphicFramePr>
        <p:xfrm>
          <a:off x="4948602" y="3178597"/>
          <a:ext cx="2675422" cy="2273874"/>
        </p:xfrm>
        <a:graphic>
          <a:graphicData uri="http://schemas.openxmlformats.org/drawingml/2006/table">
            <a:tbl>
              <a:tblPr/>
              <a:tblGrid>
                <a:gridCol w="2675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7958">
                <a:tc>
                  <a:txBody>
                    <a:bodyPr/>
                    <a:lstStyle/>
                    <a:p>
                      <a:pPr algn="ctr">
                        <a:lnSpc>
                          <a:spcPts val="2274"/>
                        </a:lnSpc>
                        <a:defRPr/>
                      </a:pPr>
                      <a:r>
                        <a:rPr lang="en-US" sz="22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  <a:sym typeface="네모고딕 Medium"/>
                        </a:rPr>
                        <a:t>분실물 센터</a:t>
                      </a:r>
                      <a:endParaRPr lang="en-US" sz="2200" b="1">
                        <a:latin typeface="Agency FB" panose="020B0503020202020204" pitchFamily="34" charset="0"/>
                      </a:endParaRPr>
                    </a:p>
                  </a:txBody>
                  <a:tcPr marL="162927" marR="162927" marT="162927" marB="162927" anchor="ctr">
                    <a:lnL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7958">
                <a:tc>
                  <a:txBody>
                    <a:bodyPr/>
                    <a:lstStyle/>
                    <a:p>
                      <a:pPr algn="ctr">
                        <a:lnSpc>
                          <a:spcPts val="2274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분실물 조회</a:t>
                      </a:r>
                      <a:endParaRPr lang="en-US" sz="1800" b="1">
                        <a:latin typeface="Agency FB" panose="020B0503020202020204" pitchFamily="34" charset="0"/>
                      </a:endParaRPr>
                    </a:p>
                  </a:txBody>
                  <a:tcPr marL="162927" marR="162927" marT="162927" marB="162927" anchor="ctr">
                    <a:lnL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7958">
                <a:tc>
                  <a:txBody>
                    <a:bodyPr/>
                    <a:lstStyle/>
                    <a:p>
                      <a:pPr algn="ctr">
                        <a:lnSpc>
                          <a:spcPts val="2274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습득물 조회</a:t>
                      </a:r>
                      <a:endParaRPr lang="en-US" sz="1800" b="1">
                        <a:latin typeface="Agency FB" panose="020B0503020202020204" pitchFamily="34" charset="0"/>
                      </a:endParaRPr>
                    </a:p>
                  </a:txBody>
                  <a:tcPr marL="162927" marR="162927" marT="162927" marB="162927" anchor="ctr">
                    <a:lnL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381295"/>
              </p:ext>
            </p:extLst>
          </p:nvPr>
        </p:nvGraphicFramePr>
        <p:xfrm>
          <a:off x="7814043" y="3179004"/>
          <a:ext cx="2675422" cy="2273874"/>
        </p:xfrm>
        <a:graphic>
          <a:graphicData uri="http://schemas.openxmlformats.org/drawingml/2006/table">
            <a:tbl>
              <a:tblPr/>
              <a:tblGrid>
                <a:gridCol w="2675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7958">
                <a:tc>
                  <a:txBody>
                    <a:bodyPr/>
                    <a:lstStyle/>
                    <a:p>
                      <a:pPr algn="ctr">
                        <a:lnSpc>
                          <a:spcPts val="2274"/>
                        </a:lnSpc>
                        <a:defRPr/>
                      </a:pPr>
                      <a:r>
                        <a:rPr lang="en-US" sz="22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  <a:sym typeface="네모고딕 Medium"/>
                        </a:rPr>
                        <a:t>알림 마당</a:t>
                      </a:r>
                      <a:endParaRPr lang="en-US" sz="2200" b="1">
                        <a:latin typeface="Agency FB" panose="020B0503020202020204" pitchFamily="34" charset="0"/>
                      </a:endParaRPr>
                    </a:p>
                  </a:txBody>
                  <a:tcPr marL="162927" marR="162927" marT="162927" marB="162927" anchor="ctr">
                    <a:lnL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7958">
                <a:tc>
                  <a:txBody>
                    <a:bodyPr/>
                    <a:lstStyle/>
                    <a:p>
                      <a:pPr algn="ctr">
                        <a:lnSpc>
                          <a:spcPts val="2274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공지사항</a:t>
                      </a:r>
                      <a:endParaRPr lang="en-US" sz="1800" b="1">
                        <a:latin typeface="Agency FB" panose="020B0503020202020204" pitchFamily="34" charset="0"/>
                      </a:endParaRPr>
                    </a:p>
                  </a:txBody>
                  <a:tcPr marL="162927" marR="162927" marT="162927" marB="162927" anchor="ctr">
                    <a:lnL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7958">
                <a:tc>
                  <a:txBody>
                    <a:bodyPr/>
                    <a:lstStyle/>
                    <a:p>
                      <a:pPr algn="ctr">
                        <a:lnSpc>
                          <a:spcPts val="2274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Q&amp;A</a:t>
                      </a:r>
                      <a:endParaRPr lang="en-US" sz="1800" b="1">
                        <a:latin typeface="Agency FB" panose="020B0503020202020204" pitchFamily="34" charset="0"/>
                      </a:endParaRPr>
                    </a:p>
                  </a:txBody>
                  <a:tcPr marL="162927" marR="162927" marT="162927" marB="162927" anchor="ctr">
                    <a:lnL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814928"/>
              </p:ext>
            </p:extLst>
          </p:nvPr>
        </p:nvGraphicFramePr>
        <p:xfrm>
          <a:off x="10679484" y="3178597"/>
          <a:ext cx="2675422" cy="3785145"/>
        </p:xfrm>
        <a:graphic>
          <a:graphicData uri="http://schemas.openxmlformats.org/drawingml/2006/table">
            <a:tbl>
              <a:tblPr/>
              <a:tblGrid>
                <a:gridCol w="2675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7029">
                <a:tc>
                  <a:txBody>
                    <a:bodyPr/>
                    <a:lstStyle/>
                    <a:p>
                      <a:pPr algn="ctr">
                        <a:lnSpc>
                          <a:spcPts val="2274"/>
                        </a:lnSpc>
                        <a:defRPr/>
                      </a:pPr>
                      <a:r>
                        <a:rPr lang="en-US" sz="22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  <a:sym typeface="네모고딕 Medium"/>
                        </a:rPr>
                        <a:t>마이 페이지</a:t>
                      </a:r>
                      <a:endParaRPr lang="en-US" sz="2200" b="1">
                        <a:latin typeface="Agency FB" panose="020B0503020202020204" pitchFamily="34" charset="0"/>
                      </a:endParaRPr>
                    </a:p>
                  </a:txBody>
                  <a:tcPr marL="162927" marR="162927" marT="162927" marB="162927" anchor="ctr">
                    <a:lnL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7029">
                <a:tc>
                  <a:txBody>
                    <a:bodyPr/>
                    <a:lstStyle/>
                    <a:p>
                      <a:pPr algn="ctr">
                        <a:lnSpc>
                          <a:spcPts val="2274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즐겨찾기</a:t>
                      </a:r>
                      <a:endParaRPr lang="en-US" sz="1800" b="1">
                        <a:latin typeface="Agency FB" panose="020B0503020202020204" pitchFamily="34" charset="0"/>
                      </a:endParaRPr>
                    </a:p>
                  </a:txBody>
                  <a:tcPr marL="162927" marR="162927" marT="162927" marB="162927" anchor="ctr">
                    <a:lnL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7029">
                <a:tc>
                  <a:txBody>
                    <a:bodyPr/>
                    <a:lstStyle/>
                    <a:p>
                      <a:pPr algn="ctr">
                        <a:lnSpc>
                          <a:spcPts val="2274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나의 분실물</a:t>
                      </a:r>
                      <a:endParaRPr lang="en-US" sz="1800" b="1">
                        <a:latin typeface="Agency FB" panose="020B0503020202020204" pitchFamily="34" charset="0"/>
                      </a:endParaRPr>
                    </a:p>
                  </a:txBody>
                  <a:tcPr marL="162927" marR="162927" marT="162927" marB="162927" anchor="ctr">
                    <a:lnL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7029">
                <a:tc>
                  <a:txBody>
                    <a:bodyPr/>
                    <a:lstStyle/>
                    <a:p>
                      <a:pPr algn="ctr">
                        <a:lnSpc>
                          <a:spcPts val="2274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나의 Q&amp;A</a:t>
                      </a:r>
                      <a:endParaRPr lang="en-US" sz="1800" b="1">
                        <a:latin typeface="Agency FB" panose="020B0503020202020204" pitchFamily="34" charset="0"/>
                      </a:endParaRPr>
                    </a:p>
                  </a:txBody>
                  <a:tcPr marL="162927" marR="162927" marT="162927" marB="162927" anchor="ctr">
                    <a:lnL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7029">
                <a:tc>
                  <a:txBody>
                    <a:bodyPr/>
                    <a:lstStyle/>
                    <a:p>
                      <a:pPr algn="ctr">
                        <a:lnSpc>
                          <a:spcPts val="2274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API 키 발급</a:t>
                      </a:r>
                      <a:endParaRPr lang="en-US" sz="1800" b="1">
                        <a:latin typeface="Agency FB" panose="020B0503020202020204" pitchFamily="34" charset="0"/>
                      </a:endParaRPr>
                    </a:p>
                  </a:txBody>
                  <a:tcPr marL="162927" marR="162927" marT="162927" marB="162927" anchor="ctr">
                    <a:lnL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418748"/>
              </p:ext>
            </p:extLst>
          </p:nvPr>
        </p:nvGraphicFramePr>
        <p:xfrm>
          <a:off x="13544925" y="3211519"/>
          <a:ext cx="2675422" cy="4540776"/>
        </p:xfrm>
        <a:graphic>
          <a:graphicData uri="http://schemas.openxmlformats.org/drawingml/2006/table">
            <a:tbl>
              <a:tblPr/>
              <a:tblGrid>
                <a:gridCol w="2675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6796">
                <a:tc>
                  <a:txBody>
                    <a:bodyPr/>
                    <a:lstStyle/>
                    <a:p>
                      <a:pPr algn="ctr">
                        <a:lnSpc>
                          <a:spcPts val="2274"/>
                        </a:lnSpc>
                        <a:defRPr/>
                      </a:pPr>
                      <a:r>
                        <a:rPr lang="en-US" sz="22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  <a:sym typeface="네모고딕 Medium"/>
                        </a:rPr>
                        <a:t>관리자 페이지</a:t>
                      </a:r>
                      <a:endParaRPr lang="en-US" sz="2200" b="1">
                        <a:latin typeface="Agency FB" panose="020B0503020202020204" pitchFamily="34" charset="0"/>
                      </a:endParaRPr>
                    </a:p>
                  </a:txBody>
                  <a:tcPr marL="162927" marR="162927" marT="162927" marB="162927" anchor="ctr">
                    <a:lnL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796">
                <a:tc>
                  <a:txBody>
                    <a:bodyPr/>
                    <a:lstStyle/>
                    <a:p>
                      <a:pPr algn="ctr">
                        <a:lnSpc>
                          <a:spcPts val="2274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게시글 관리</a:t>
                      </a:r>
                      <a:endParaRPr lang="en-US" sz="1800" b="1">
                        <a:latin typeface="Agency FB" panose="020B0503020202020204" pitchFamily="34" charset="0"/>
                      </a:endParaRPr>
                    </a:p>
                  </a:txBody>
                  <a:tcPr marL="162927" marR="162927" marT="162927" marB="162927" anchor="ctr">
                    <a:lnL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6796">
                <a:tc>
                  <a:txBody>
                    <a:bodyPr/>
                    <a:lstStyle/>
                    <a:p>
                      <a:pPr algn="ctr">
                        <a:lnSpc>
                          <a:spcPts val="2274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분실/습득물 관리</a:t>
                      </a:r>
                      <a:endParaRPr lang="en-US" sz="1800" b="1">
                        <a:latin typeface="Agency FB" panose="020B0503020202020204" pitchFamily="34" charset="0"/>
                      </a:endParaRPr>
                    </a:p>
                  </a:txBody>
                  <a:tcPr marL="162927" marR="162927" marT="162927" marB="162927" anchor="ctr">
                    <a:lnL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6796">
                <a:tc>
                  <a:txBody>
                    <a:bodyPr/>
                    <a:lstStyle/>
                    <a:p>
                      <a:pPr algn="ctr">
                        <a:lnSpc>
                          <a:spcPts val="2274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시스템 관리</a:t>
                      </a:r>
                      <a:endParaRPr lang="en-US" sz="1800" b="1">
                        <a:latin typeface="Agency FB" panose="020B0503020202020204" pitchFamily="34" charset="0"/>
                      </a:endParaRPr>
                    </a:p>
                  </a:txBody>
                  <a:tcPr marL="162927" marR="162927" marT="162927" marB="162927" anchor="ctr">
                    <a:lnL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6796">
                <a:tc>
                  <a:txBody>
                    <a:bodyPr/>
                    <a:lstStyle/>
                    <a:p>
                      <a:pPr algn="ctr">
                        <a:lnSpc>
                          <a:spcPts val="2274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버스 노선 관리</a:t>
                      </a:r>
                      <a:endParaRPr lang="en-US" sz="1800" b="1">
                        <a:latin typeface="Agency FB" panose="020B0503020202020204" pitchFamily="34" charset="0"/>
                      </a:endParaRPr>
                    </a:p>
                  </a:txBody>
                  <a:tcPr marL="162927" marR="162927" marT="162927" marB="162927" anchor="ctr">
                    <a:lnL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6796">
                <a:tc>
                  <a:txBody>
                    <a:bodyPr/>
                    <a:lstStyle/>
                    <a:p>
                      <a:pPr algn="ctr">
                        <a:lnSpc>
                          <a:spcPts val="2274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네모고딕"/>
                          <a:sym typeface="네모고딕"/>
                        </a:rPr>
                        <a:t>정류장 관리</a:t>
                      </a:r>
                      <a:endParaRPr lang="en-US" sz="1800" b="1">
                        <a:latin typeface="Agency FB" panose="020B0503020202020204" pitchFamily="34" charset="0"/>
                      </a:endParaRPr>
                    </a:p>
                  </a:txBody>
                  <a:tcPr marL="162927" marR="162927" marT="162927" marB="162927" anchor="ctr">
                    <a:lnL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7" cap="flat" cmpd="sng" algn="ctr">
                      <a:solidFill>
                        <a:srgbClr val="E9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4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88346" y="3659134"/>
            <a:ext cx="13430302" cy="573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960"/>
              </a:lnSpc>
              <a:buFont typeface="Arial"/>
              <a:buChar char="•"/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🚍 실시간 버스 위치 제공 (공공 API 활용 + REDIS 캐싱)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33094" y="125877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프로젝트 개요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88346" y="6160506"/>
            <a:ext cx="13430302" cy="573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960"/>
              </a:lnSpc>
              <a:buFont typeface="Arial"/>
              <a:buChar char="•"/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📡 API 제공 시스템 (SWAGGER 문서화 + 경량화된 설계)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88346" y="4909820"/>
            <a:ext cx="13430302" cy="573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960"/>
              </a:lnSpc>
              <a:buFont typeface="Arial"/>
              <a:buChar char="•"/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 🛠 관리자 도구 (관리자페이지, 로그, 통계, 마이페이지)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4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183996" y="3184960"/>
            <a:ext cx="1472857" cy="1248983"/>
          </a:xfrm>
          <a:custGeom>
            <a:avLst/>
            <a:gdLst/>
            <a:ahLst/>
            <a:cxnLst/>
            <a:rect l="l" t="t" r="r" b="b"/>
            <a:pathLst>
              <a:path w="1472857" h="1248983">
                <a:moveTo>
                  <a:pt x="0" y="0"/>
                </a:moveTo>
                <a:lnTo>
                  <a:pt x="1472856" y="0"/>
                </a:lnTo>
                <a:lnTo>
                  <a:pt x="1472856" y="1248983"/>
                </a:lnTo>
                <a:lnTo>
                  <a:pt x="0" y="12489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23421" y="7238015"/>
            <a:ext cx="994006" cy="1255278"/>
          </a:xfrm>
          <a:custGeom>
            <a:avLst/>
            <a:gdLst/>
            <a:ahLst/>
            <a:cxnLst/>
            <a:rect l="l" t="t" r="r" b="b"/>
            <a:pathLst>
              <a:path w="994006" h="1255278">
                <a:moveTo>
                  <a:pt x="0" y="0"/>
                </a:moveTo>
                <a:lnTo>
                  <a:pt x="994006" y="0"/>
                </a:lnTo>
                <a:lnTo>
                  <a:pt x="994006" y="1255278"/>
                </a:lnTo>
                <a:lnTo>
                  <a:pt x="0" y="12552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13677" y="5221410"/>
            <a:ext cx="1213493" cy="1229137"/>
          </a:xfrm>
          <a:custGeom>
            <a:avLst/>
            <a:gdLst/>
            <a:ahLst/>
            <a:cxnLst/>
            <a:rect l="l" t="t" r="r" b="b"/>
            <a:pathLst>
              <a:path w="1213493" h="1229137">
                <a:moveTo>
                  <a:pt x="0" y="0"/>
                </a:moveTo>
                <a:lnTo>
                  <a:pt x="1213494" y="0"/>
                </a:lnTo>
                <a:lnTo>
                  <a:pt x="1213494" y="1229137"/>
                </a:lnTo>
                <a:lnTo>
                  <a:pt x="0" y="12291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100585" y="3137622"/>
            <a:ext cx="4824215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sz="3200" b="1" spc="2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버스</a:t>
            </a:r>
            <a:r>
              <a:rPr lang="en-US" sz="3200" b="1" spc="2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 </a:t>
            </a:r>
            <a:r>
              <a:rPr lang="en-US" sz="3200" b="1" spc="2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길찾기</a:t>
            </a:r>
            <a:r>
              <a:rPr lang="en-US" sz="3200" b="1" spc="2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, </a:t>
            </a:r>
            <a:r>
              <a:rPr lang="en-US" sz="3200" b="1" spc="2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노선</a:t>
            </a:r>
            <a:r>
              <a:rPr lang="en-US" sz="3200" b="1" spc="2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 </a:t>
            </a:r>
            <a:r>
              <a:rPr lang="en-US" sz="3200" b="1" spc="2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조회</a:t>
            </a:r>
            <a:r>
              <a:rPr lang="en-US" sz="3200" b="1" spc="2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 </a:t>
            </a:r>
          </a:p>
          <a:p>
            <a:pPr marL="0" lvl="0" indent="0" algn="l">
              <a:lnSpc>
                <a:spcPts val="4960"/>
              </a:lnSpc>
            </a:pPr>
            <a:r>
              <a:rPr lang="en-US" sz="3200" b="1" spc="2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실시간</a:t>
            </a:r>
            <a:r>
              <a:rPr lang="en-US" sz="3200" b="1" spc="2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 </a:t>
            </a:r>
            <a:r>
              <a:rPr lang="en-US" sz="3200" b="1" spc="2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도착</a:t>
            </a:r>
            <a:r>
              <a:rPr lang="en-US" sz="3200" b="1" spc="2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 </a:t>
            </a:r>
            <a:r>
              <a:rPr lang="en-US" sz="3200" b="1" spc="2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정보</a:t>
            </a:r>
            <a:endParaRPr lang="en-US" sz="3200" b="1" spc="217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돋움" panose="020B0604000101010101" pitchFamily="50" charset="-127"/>
              <a:sym typeface="네모고딕 Medium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113911" y="5164149"/>
            <a:ext cx="4434337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버스 정보 조회</a:t>
            </a:r>
          </a:p>
          <a:p>
            <a:pPr marL="0" lvl="0" indent="0" algn="l">
              <a:lnSpc>
                <a:spcPts val="4960"/>
              </a:lnSpc>
            </a:pPr>
            <a:r>
              <a:rPr lang="en-US" sz="3200" b="1" u="none" strike="noStrike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문의/신고 등록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28351" y="7508149"/>
            <a:ext cx="221716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마이페이지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75944" y="1168148"/>
            <a:ext cx="8421812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주요 기능 역할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17861" y="3208742"/>
            <a:ext cx="9150964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960"/>
              </a:lnSpc>
              <a:buFont typeface="Arial"/>
              <a:buChar char="•"/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정류소 기반 실시간 버스 위치 제공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17861" y="5164149"/>
            <a:ext cx="8874739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81" lvl="1" indent="-345440" algn="l">
              <a:lnSpc>
                <a:spcPts val="4960"/>
              </a:lnSpc>
              <a:buFont typeface="Arial"/>
              <a:buChar char="•"/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버스 정보(요금, 시간표, 정류장, 회사 등) 조회 및 분실물, Q&amp;A 등록 기능 구현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17860" y="7123715"/>
            <a:ext cx="8188939" cy="1923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81" lvl="1" indent="-345440" algn="l">
              <a:lnSpc>
                <a:spcPts val="4960"/>
              </a:lnSpc>
              <a:buFont typeface="Arial"/>
              <a:buChar char="•"/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사용자 맞춤형 즐겨찾기, Q&amp;A,  API 키 발급, 분실물 신고 기능 제공</a:t>
            </a:r>
          </a:p>
          <a:p>
            <a:pPr algn="l">
              <a:lnSpc>
                <a:spcPts val="4960"/>
              </a:lnSpc>
            </a:pPr>
            <a:endParaRPr lang="en-US" sz="3200" b="1" spc="2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83996" y="2016508"/>
            <a:ext cx="13430302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🚍 사용자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4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013240" y="4371316"/>
            <a:ext cx="1565951" cy="1229053"/>
          </a:xfrm>
          <a:custGeom>
            <a:avLst/>
            <a:gdLst/>
            <a:ahLst/>
            <a:cxnLst/>
            <a:rect l="l" t="t" r="r" b="b"/>
            <a:pathLst>
              <a:path w="1565951" h="1229053">
                <a:moveTo>
                  <a:pt x="0" y="0"/>
                </a:moveTo>
                <a:lnTo>
                  <a:pt x="1565950" y="0"/>
                </a:lnTo>
                <a:lnTo>
                  <a:pt x="1565950" y="1229053"/>
                </a:lnTo>
                <a:lnTo>
                  <a:pt x="0" y="1229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31120" y="5952794"/>
            <a:ext cx="1274105" cy="1169468"/>
          </a:xfrm>
          <a:custGeom>
            <a:avLst/>
            <a:gdLst/>
            <a:ahLst/>
            <a:cxnLst/>
            <a:rect l="l" t="t" r="r" b="b"/>
            <a:pathLst>
              <a:path w="1274105" h="1169468">
                <a:moveTo>
                  <a:pt x="0" y="0"/>
                </a:moveTo>
                <a:lnTo>
                  <a:pt x="1274105" y="0"/>
                </a:lnTo>
                <a:lnTo>
                  <a:pt x="1274105" y="1169468"/>
                </a:lnTo>
                <a:lnTo>
                  <a:pt x="0" y="11694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18851" y="7524382"/>
            <a:ext cx="1222671" cy="982146"/>
          </a:xfrm>
          <a:custGeom>
            <a:avLst/>
            <a:gdLst/>
            <a:ahLst/>
            <a:cxnLst/>
            <a:rect l="l" t="t" r="r" b="b"/>
            <a:pathLst>
              <a:path w="1222671" h="982146">
                <a:moveTo>
                  <a:pt x="0" y="0"/>
                </a:moveTo>
                <a:lnTo>
                  <a:pt x="1222671" y="0"/>
                </a:lnTo>
                <a:lnTo>
                  <a:pt x="1222671" y="982146"/>
                </a:lnTo>
                <a:lnTo>
                  <a:pt x="0" y="9821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875944" y="1168148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주요 기능 역할</a:t>
            </a:r>
          </a:p>
        </p:txBody>
      </p:sp>
      <p:sp>
        <p:nvSpPr>
          <p:cNvPr id="9" name="Freeform 9"/>
          <p:cNvSpPr/>
          <p:nvPr/>
        </p:nvSpPr>
        <p:spPr>
          <a:xfrm>
            <a:off x="1057116" y="2669023"/>
            <a:ext cx="1512549" cy="1311768"/>
          </a:xfrm>
          <a:custGeom>
            <a:avLst/>
            <a:gdLst/>
            <a:ahLst/>
            <a:cxnLst/>
            <a:rect l="l" t="t" r="r" b="b"/>
            <a:pathLst>
              <a:path w="1512549" h="1311768">
                <a:moveTo>
                  <a:pt x="0" y="0"/>
                </a:moveTo>
                <a:lnTo>
                  <a:pt x="1512549" y="0"/>
                </a:lnTo>
                <a:lnTo>
                  <a:pt x="1512549" y="1311768"/>
                </a:lnTo>
                <a:lnTo>
                  <a:pt x="0" y="13117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048562" y="3022422"/>
            <a:ext cx="4434337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69"/>
              </a:lnSpc>
            </a:pPr>
            <a:r>
              <a:rPr lang="en-US" sz="3399" b="1" spc="23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습득물·분실물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48562" y="4591723"/>
            <a:ext cx="4434337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69"/>
              </a:lnSpc>
            </a:pPr>
            <a:r>
              <a:rPr lang="en-US" sz="3399" b="1" spc="23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광고·공지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48562" y="6165418"/>
            <a:ext cx="4434337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69"/>
              </a:lnSpc>
            </a:pPr>
            <a:r>
              <a:rPr lang="en-US" sz="3399" b="1" spc="23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노선·정류장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48562" y="7724215"/>
            <a:ext cx="5220920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69"/>
              </a:lnSpc>
            </a:pPr>
            <a:r>
              <a:rPr lang="en-US" sz="3399" b="1" spc="23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시스템 로그 및 통계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08336" y="5958168"/>
            <a:ext cx="9150964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81" lvl="1" indent="-345440" algn="l">
              <a:lnSpc>
                <a:spcPts val="4960"/>
              </a:lnSpc>
              <a:buFont typeface="Arial"/>
              <a:buChar char="•"/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버스 노선 및 정류소 정보 등록/수정/삭제, 운행 시간 관리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08336" y="7682342"/>
            <a:ext cx="7765123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960"/>
              </a:lnSpc>
              <a:buFont typeface="Arial"/>
              <a:buChar char="•"/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REDIS 캐시 사용량, API 응답 속도, 관리자 작업 로그 확인 가능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08336" y="4471707"/>
            <a:ext cx="8693141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960"/>
              </a:lnSpc>
              <a:buFont typeface="Arial"/>
              <a:buChar char="•"/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광고 및 공지사항 등록/수정/삭제, 팝업 노출 설정 포함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108336" y="2980550"/>
            <a:ext cx="9150964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960"/>
              </a:lnSpc>
              <a:buFont typeface="Arial"/>
              <a:buChar char="•"/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습득물 등록·수정·삭제, 분실물 매칭 및 상태 변경 처리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6001" y="1906442"/>
            <a:ext cx="13430302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🛠 관리자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4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504950" y="7399617"/>
            <a:ext cx="1250680" cy="1250680"/>
          </a:xfrm>
          <a:custGeom>
            <a:avLst/>
            <a:gdLst/>
            <a:ahLst/>
            <a:cxnLst/>
            <a:rect l="l" t="t" r="r" b="b"/>
            <a:pathLst>
              <a:path w="1250680" h="1250680">
                <a:moveTo>
                  <a:pt x="0" y="0"/>
                </a:moveTo>
                <a:lnTo>
                  <a:pt x="1250680" y="0"/>
                </a:lnTo>
                <a:lnTo>
                  <a:pt x="1250680" y="1250680"/>
                </a:lnTo>
                <a:lnTo>
                  <a:pt x="0" y="1250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47800" y="3171846"/>
            <a:ext cx="1433274" cy="1329219"/>
          </a:xfrm>
          <a:custGeom>
            <a:avLst/>
            <a:gdLst/>
            <a:ahLst/>
            <a:cxnLst/>
            <a:rect l="l" t="t" r="r" b="b"/>
            <a:pathLst>
              <a:path w="1433274" h="1329219">
                <a:moveTo>
                  <a:pt x="0" y="0"/>
                </a:moveTo>
                <a:lnTo>
                  <a:pt x="1433274" y="0"/>
                </a:lnTo>
                <a:lnTo>
                  <a:pt x="1433274" y="1329218"/>
                </a:lnTo>
                <a:lnTo>
                  <a:pt x="0" y="13292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2547" b="-21358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39981" y="5294452"/>
            <a:ext cx="1267962" cy="1133615"/>
          </a:xfrm>
          <a:custGeom>
            <a:avLst/>
            <a:gdLst/>
            <a:ahLst/>
            <a:cxnLst/>
            <a:rect l="l" t="t" r="r" b="b"/>
            <a:pathLst>
              <a:path w="1267962" h="1133615">
                <a:moveTo>
                  <a:pt x="0" y="0"/>
                </a:moveTo>
                <a:lnTo>
                  <a:pt x="1267962" y="0"/>
                </a:lnTo>
                <a:lnTo>
                  <a:pt x="1267962" y="1133615"/>
                </a:lnTo>
                <a:lnTo>
                  <a:pt x="0" y="11336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602" t="-21068" r="-15688" b="-21307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414474" y="3722155"/>
            <a:ext cx="4434337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69"/>
              </a:lnSpc>
            </a:pPr>
            <a:r>
              <a:rPr lang="en-US" sz="3399" b="1" spc="23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공공 API키 발급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14474" y="5604864"/>
            <a:ext cx="2935044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SWAGGER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14474" y="7424247"/>
            <a:ext cx="3062526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관리자페이지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23064" y="3722155"/>
            <a:ext cx="7851738" cy="570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960"/>
              </a:lnSpc>
              <a:buFont typeface="Arial"/>
              <a:buChar char="•"/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외부 개발자용 API 키 발급 시스템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23064" y="5190622"/>
            <a:ext cx="9150964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960"/>
              </a:lnSpc>
              <a:buFont typeface="Arial"/>
              <a:buChar char="•"/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로그인 및 API 키 인증을 통한 </a:t>
            </a:r>
          </a:p>
          <a:p>
            <a:pPr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   API 명세 문서 자동 제공 및 테스트 가능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23064" y="7348574"/>
            <a:ext cx="8917136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81" lvl="1" indent="-345440" algn="l">
              <a:lnSpc>
                <a:spcPts val="4960"/>
              </a:lnSpc>
              <a:buFont typeface="Arial"/>
              <a:buChar char="•"/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API 사용 통계 및 키 사용 이력 확인 가능 (운영자 전용)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75944" y="1168148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주요 기능 역할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42598" y="2202927"/>
            <a:ext cx="4183843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📡 API 제공 시스템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28206" y="2562024"/>
            <a:ext cx="1433274" cy="1329219"/>
          </a:xfrm>
          <a:custGeom>
            <a:avLst/>
            <a:gdLst/>
            <a:ahLst/>
            <a:cxnLst/>
            <a:rect l="l" t="t" r="r" b="b"/>
            <a:pathLst>
              <a:path w="1433274" h="1329219">
                <a:moveTo>
                  <a:pt x="0" y="0"/>
                </a:moveTo>
                <a:lnTo>
                  <a:pt x="1433274" y="0"/>
                </a:lnTo>
                <a:lnTo>
                  <a:pt x="1433274" y="1329219"/>
                </a:lnTo>
                <a:lnTo>
                  <a:pt x="0" y="13292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2547" b="-2135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368085" y="3665928"/>
            <a:ext cx="8313187" cy="5902363"/>
          </a:xfrm>
          <a:custGeom>
            <a:avLst/>
            <a:gdLst/>
            <a:ahLst/>
            <a:cxnLst/>
            <a:rect l="l" t="t" r="r" b="b"/>
            <a:pathLst>
              <a:path w="8313187" h="5902363">
                <a:moveTo>
                  <a:pt x="0" y="0"/>
                </a:moveTo>
                <a:lnTo>
                  <a:pt x="8313188" y="0"/>
                </a:lnTo>
                <a:lnTo>
                  <a:pt x="8313188" y="5902363"/>
                </a:lnTo>
                <a:lnTo>
                  <a:pt x="0" y="59023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E9E4DE"/>
            </a:solidFill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2368085" y="2869128"/>
            <a:ext cx="6365295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공공 API 키 발급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</p:spTree>
    <p:extLst>
      <p:ext uri="{BB962C8B-B14F-4D97-AF65-F5344CB8AC3E}">
        <p14:creationId xmlns:p14="http://schemas.microsoft.com/office/powerpoint/2010/main" val="2290478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628206" y="2562024"/>
            <a:ext cx="1433274" cy="1329219"/>
          </a:xfrm>
          <a:custGeom>
            <a:avLst/>
            <a:gdLst/>
            <a:ahLst/>
            <a:cxnLst/>
            <a:rect l="l" t="t" r="r" b="b"/>
            <a:pathLst>
              <a:path w="1433274" h="1329219">
                <a:moveTo>
                  <a:pt x="0" y="0"/>
                </a:moveTo>
                <a:lnTo>
                  <a:pt x="1433274" y="0"/>
                </a:lnTo>
                <a:lnTo>
                  <a:pt x="1433274" y="1329219"/>
                </a:lnTo>
                <a:lnTo>
                  <a:pt x="0" y="13292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2547" b="-21358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368085" y="2869128"/>
            <a:ext cx="6365295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공공 API 키 발급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97884" y="3507173"/>
            <a:ext cx="14421396" cy="4616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3"/>
              </a:lnSpc>
            </a:pPr>
            <a:r>
              <a:rPr lang="en-US" sz="2892" b="1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- 외부 API 접근 통제 및 인증된 사용자만 데이터 이용 가능하도록 하기 위한</a:t>
            </a:r>
          </a:p>
          <a:p>
            <a:pPr marL="0" lvl="0" indent="0" algn="l">
              <a:lnSpc>
                <a:spcPts val="4483"/>
              </a:lnSpc>
            </a:pPr>
            <a:r>
              <a:rPr lang="en-US" sz="2892" b="1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 API 키 기반 인증/승인 시스템 구축</a:t>
            </a:r>
          </a:p>
          <a:p>
            <a:pPr marL="0" lvl="0" indent="0" algn="l">
              <a:lnSpc>
                <a:spcPts val="4483"/>
              </a:lnSpc>
            </a:pPr>
            <a:endParaRPr lang="en-US" sz="2892" b="1" spc="196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marL="0" lvl="0" indent="0" algn="l">
              <a:lnSpc>
                <a:spcPts val="4483"/>
              </a:lnSpc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✅ 구현 기능</a:t>
            </a:r>
          </a:p>
          <a:p>
            <a:pPr marL="624467" lvl="1" indent="-312233" algn="l">
              <a:lnSpc>
                <a:spcPts val="4483"/>
              </a:lnSpc>
              <a:buFont typeface="Arial"/>
              <a:buChar char="•"/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API 키 신청 및 승인 프로세스 : 사용자는 로그인 후 API 키 신청 가능                                       </a:t>
            </a:r>
          </a:p>
          <a:p>
            <a:pPr marL="624467" lvl="1" indent="-312233" algn="l">
              <a:lnSpc>
                <a:spcPts val="4483"/>
              </a:lnSpc>
              <a:buFont typeface="Arial"/>
              <a:buChar char="•"/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재발급 요청 제어 : 기존 키가 발급된 상태면 중복 신청/재발급 제한</a:t>
            </a:r>
          </a:p>
          <a:p>
            <a:pPr marL="624467" lvl="1" indent="-312233" algn="l">
              <a:lnSpc>
                <a:spcPts val="4483"/>
              </a:lnSpc>
              <a:buFont typeface="Arial"/>
              <a:buChar char="•"/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상태 관리 및 전환 : 관리자는 키 상태를 전환 가능(PENDING ↔ PPROVED)</a:t>
            </a:r>
          </a:p>
          <a:p>
            <a:pPr marL="0" lvl="0" indent="0" algn="l">
              <a:lnSpc>
                <a:spcPts val="4483"/>
              </a:lnSpc>
            </a:pPr>
            <a:endParaRPr lang="en-US" sz="2892" b="1" u="none" strike="noStrike" spc="196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</p:spTree>
    <p:extLst>
      <p:ext uri="{BB962C8B-B14F-4D97-AF65-F5344CB8AC3E}">
        <p14:creationId xmlns:p14="http://schemas.microsoft.com/office/powerpoint/2010/main" val="3287852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9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10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2" name="Freeform 11"/>
          <p:cNvSpPr/>
          <p:nvPr/>
        </p:nvSpPr>
        <p:spPr>
          <a:xfrm>
            <a:off x="12725400" y="2415263"/>
            <a:ext cx="4466436" cy="2629734"/>
          </a:xfrm>
          <a:custGeom>
            <a:avLst/>
            <a:gdLst/>
            <a:ahLst/>
            <a:cxnLst/>
            <a:rect l="l" t="t" r="r" b="b"/>
            <a:pathLst>
              <a:path w="8662078" h="5278454">
                <a:moveTo>
                  <a:pt x="0" y="0"/>
                </a:moveTo>
                <a:lnTo>
                  <a:pt x="8662078" y="0"/>
                </a:lnTo>
                <a:lnTo>
                  <a:pt x="8662078" y="5278454"/>
                </a:lnTo>
                <a:lnTo>
                  <a:pt x="0" y="5278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solidFill>
              <a:srgbClr val="E9E4DE"/>
            </a:solidFill>
            <a:prstDash val="solid"/>
            <a:miter/>
          </a:ln>
        </p:spPr>
      </p:sp>
      <p:sp>
        <p:nvSpPr>
          <p:cNvPr id="4" name="Freeform 14"/>
          <p:cNvSpPr/>
          <p:nvPr/>
        </p:nvSpPr>
        <p:spPr>
          <a:xfrm>
            <a:off x="12725400" y="5857622"/>
            <a:ext cx="4466436" cy="2597620"/>
          </a:xfrm>
          <a:custGeom>
            <a:avLst/>
            <a:gdLst/>
            <a:ahLst/>
            <a:cxnLst/>
            <a:rect l="l" t="t" r="r" b="b"/>
            <a:pathLst>
              <a:path w="10400483" h="6337794">
                <a:moveTo>
                  <a:pt x="0" y="0"/>
                </a:moveTo>
                <a:lnTo>
                  <a:pt x="10400482" y="0"/>
                </a:lnTo>
                <a:lnTo>
                  <a:pt x="10400482" y="6337794"/>
                </a:lnTo>
                <a:lnTo>
                  <a:pt x="0" y="6337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solidFill>
              <a:srgbClr val="E9E4DE"/>
            </a:solidFill>
            <a:prstDash val="solid"/>
            <a:miter/>
          </a:ln>
        </p:spPr>
      </p:sp>
      <p:sp>
        <p:nvSpPr>
          <p:cNvPr id="5" name="Freeform 10"/>
          <p:cNvSpPr/>
          <p:nvPr/>
        </p:nvSpPr>
        <p:spPr>
          <a:xfrm>
            <a:off x="1139420" y="4633210"/>
            <a:ext cx="4312483" cy="2627920"/>
          </a:xfrm>
          <a:custGeom>
            <a:avLst/>
            <a:gdLst/>
            <a:ahLst/>
            <a:cxnLst/>
            <a:rect l="l" t="t" r="r" b="b"/>
            <a:pathLst>
              <a:path w="8662078" h="5278454">
                <a:moveTo>
                  <a:pt x="0" y="0"/>
                </a:moveTo>
                <a:lnTo>
                  <a:pt x="8662078" y="0"/>
                </a:lnTo>
                <a:lnTo>
                  <a:pt x="8662078" y="5278454"/>
                </a:lnTo>
                <a:lnTo>
                  <a:pt x="0" y="52784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solidFill>
              <a:srgbClr val="E9E4DE"/>
            </a:solidFill>
            <a:prstDash val="solid"/>
            <a:miter/>
          </a:ln>
        </p:spPr>
      </p:sp>
      <p:sp>
        <p:nvSpPr>
          <p:cNvPr id="6" name="Freeform 13"/>
          <p:cNvSpPr/>
          <p:nvPr/>
        </p:nvSpPr>
        <p:spPr>
          <a:xfrm>
            <a:off x="6477000" y="4633210"/>
            <a:ext cx="5291074" cy="2627920"/>
          </a:xfrm>
          <a:custGeom>
            <a:avLst/>
            <a:gdLst/>
            <a:ahLst/>
            <a:cxnLst/>
            <a:rect l="l" t="t" r="r" b="b"/>
            <a:pathLst>
              <a:path w="10546640" h="5653869">
                <a:moveTo>
                  <a:pt x="0" y="0"/>
                </a:moveTo>
                <a:lnTo>
                  <a:pt x="10546639" y="0"/>
                </a:lnTo>
                <a:lnTo>
                  <a:pt x="10546639" y="5653869"/>
                </a:lnTo>
                <a:lnTo>
                  <a:pt x="0" y="56538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5"/>
          <p:cNvSpPr/>
          <p:nvPr/>
        </p:nvSpPr>
        <p:spPr>
          <a:xfrm>
            <a:off x="628206" y="2562024"/>
            <a:ext cx="1433274" cy="1329219"/>
          </a:xfrm>
          <a:custGeom>
            <a:avLst/>
            <a:gdLst/>
            <a:ahLst/>
            <a:cxnLst/>
            <a:rect l="l" t="t" r="r" b="b"/>
            <a:pathLst>
              <a:path w="1433274" h="1329219">
                <a:moveTo>
                  <a:pt x="0" y="0"/>
                </a:moveTo>
                <a:lnTo>
                  <a:pt x="1433274" y="0"/>
                </a:lnTo>
                <a:lnTo>
                  <a:pt x="1433274" y="1329219"/>
                </a:lnTo>
                <a:lnTo>
                  <a:pt x="0" y="13292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12547" b="-21358"/>
            </a:stretch>
          </a:blipFill>
        </p:spPr>
      </p:sp>
      <p:sp>
        <p:nvSpPr>
          <p:cNvPr id="12" name="TextBox 6"/>
          <p:cNvSpPr txBox="1"/>
          <p:nvPr/>
        </p:nvSpPr>
        <p:spPr>
          <a:xfrm>
            <a:off x="2368085" y="2869128"/>
            <a:ext cx="6365295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공공 API 키 발급</a:t>
            </a:r>
          </a:p>
        </p:txBody>
      </p:sp>
      <p:sp>
        <p:nvSpPr>
          <p:cNvPr id="13" name="TextBox 7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sp>
        <p:nvSpPr>
          <p:cNvPr id="14" name="아래쪽 화살표 13"/>
          <p:cNvSpPr/>
          <p:nvPr/>
        </p:nvSpPr>
        <p:spPr>
          <a:xfrm rot="16200000">
            <a:off x="5645935" y="5573997"/>
            <a:ext cx="484632" cy="567252"/>
          </a:xfrm>
          <a:prstGeom prst="downArrow">
            <a:avLst/>
          </a:prstGeom>
          <a:ln>
            <a:solidFill>
              <a:srgbClr val="E9E4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오른쪽으로 구부러진 화살표 17"/>
          <p:cNvSpPr/>
          <p:nvPr/>
        </p:nvSpPr>
        <p:spPr>
          <a:xfrm>
            <a:off x="11978194" y="5017596"/>
            <a:ext cx="731520" cy="1573703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위로 구부러진 화살표 19"/>
          <p:cNvSpPr/>
          <p:nvPr/>
        </p:nvSpPr>
        <p:spPr>
          <a:xfrm rot="16200000">
            <a:off x="15914882" y="5169507"/>
            <a:ext cx="1573703" cy="696345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0228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628206" y="2562024"/>
            <a:ext cx="1433274" cy="1329219"/>
          </a:xfrm>
          <a:custGeom>
            <a:avLst/>
            <a:gdLst/>
            <a:ahLst/>
            <a:cxnLst/>
            <a:rect l="l" t="t" r="r" b="b"/>
            <a:pathLst>
              <a:path w="1433274" h="1329219">
                <a:moveTo>
                  <a:pt x="0" y="0"/>
                </a:moveTo>
                <a:lnTo>
                  <a:pt x="1433274" y="0"/>
                </a:lnTo>
                <a:lnTo>
                  <a:pt x="1433274" y="1329219"/>
                </a:lnTo>
                <a:lnTo>
                  <a:pt x="0" y="13292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2547" b="-21358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368085" y="2869128"/>
            <a:ext cx="6365295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공공 API 키 발급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pic>
        <p:nvPicPr>
          <p:cNvPr id="8" name="Picture 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t="8184" b="3837"/>
          <a:stretch>
            <a:fillRect/>
          </a:stretch>
        </p:blipFill>
        <p:spPr>
          <a:xfrm>
            <a:off x="5867400" y="2781300"/>
            <a:ext cx="11897565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632128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368085" y="2869128"/>
            <a:ext cx="6365295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공공 API 키 발급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97884" y="3507173"/>
            <a:ext cx="14421396" cy="4616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3"/>
              </a:lnSpc>
            </a:pPr>
            <a:r>
              <a:rPr lang="en-US" sz="2892" b="1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- 외부 API 접근 통제 및 인증된 사용자만 데이터 이용 가능하도록 하기 위한</a:t>
            </a:r>
          </a:p>
          <a:p>
            <a:pPr marL="0" lvl="0" indent="0" algn="l">
              <a:lnSpc>
                <a:spcPts val="4483"/>
              </a:lnSpc>
            </a:pPr>
            <a:r>
              <a:rPr lang="en-US" sz="2892" b="1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API 키 기반 인증/승인 시스템 구축</a:t>
            </a:r>
          </a:p>
          <a:p>
            <a:pPr marL="0" lvl="0" indent="0" algn="l">
              <a:lnSpc>
                <a:spcPts val="4483"/>
              </a:lnSpc>
            </a:pPr>
            <a:endParaRPr lang="en-US" sz="2892" b="1" spc="196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marL="0" lvl="0" indent="0" algn="l">
              <a:lnSpc>
                <a:spcPts val="4483"/>
              </a:lnSpc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✅ 구현 기능</a:t>
            </a:r>
          </a:p>
          <a:p>
            <a:pPr marL="624467" lvl="1" indent="-312233" algn="l">
              <a:lnSpc>
                <a:spcPts val="4483"/>
              </a:lnSpc>
              <a:buFont typeface="Arial"/>
              <a:buChar char="•"/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SWAGGER API 접근 권한 제어 기능 : API 키를 통해 SWAGGER UI에서</a:t>
            </a:r>
          </a:p>
          <a:p>
            <a:pPr algn="l">
              <a:lnSpc>
                <a:spcPts val="4483"/>
              </a:lnSpc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                                                       사용자 권한에 따라 접근 가능한</a:t>
            </a:r>
          </a:p>
          <a:p>
            <a:pPr algn="l">
              <a:lnSpc>
                <a:spcPts val="4483"/>
              </a:lnSpc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                                                       API 메서드를 제한</a:t>
            </a:r>
          </a:p>
          <a:p>
            <a:pPr marL="0" lvl="0" indent="0" algn="l">
              <a:lnSpc>
                <a:spcPts val="4483"/>
              </a:lnSpc>
            </a:pPr>
            <a:endParaRPr lang="en-US" sz="2892" b="1" u="none" strike="noStrike" spc="196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628206" y="2562024"/>
            <a:ext cx="1433274" cy="1329219"/>
          </a:xfrm>
          <a:custGeom>
            <a:avLst/>
            <a:gdLst/>
            <a:ahLst/>
            <a:cxnLst/>
            <a:rect l="l" t="t" r="r" b="b"/>
            <a:pathLst>
              <a:path w="1433274" h="1329219">
                <a:moveTo>
                  <a:pt x="0" y="0"/>
                </a:moveTo>
                <a:lnTo>
                  <a:pt x="1433274" y="0"/>
                </a:lnTo>
                <a:lnTo>
                  <a:pt x="1433274" y="1329219"/>
                </a:lnTo>
                <a:lnTo>
                  <a:pt x="0" y="13292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2547" b="-21358"/>
            </a:stretch>
          </a:blipFill>
        </p:spPr>
      </p:sp>
    </p:spTree>
    <p:extLst>
      <p:ext uri="{BB962C8B-B14F-4D97-AF65-F5344CB8AC3E}">
        <p14:creationId xmlns:p14="http://schemas.microsoft.com/office/powerpoint/2010/main" val="2185331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2009" y="495300"/>
            <a:ext cx="17336671" cy="9160781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7086600" y="3314700"/>
            <a:ext cx="10420671" cy="4724400"/>
          </a:xfrm>
          <a:custGeom>
            <a:avLst/>
            <a:gdLst/>
            <a:ahLst/>
            <a:cxnLst/>
            <a:rect l="l" t="t" r="r" b="b"/>
            <a:pathLst>
              <a:path w="12470012" h="6172656">
                <a:moveTo>
                  <a:pt x="0" y="0"/>
                </a:moveTo>
                <a:lnTo>
                  <a:pt x="12470012" y="0"/>
                </a:lnTo>
                <a:lnTo>
                  <a:pt x="12470012" y="6172656"/>
                </a:lnTo>
                <a:lnTo>
                  <a:pt x="0" y="61726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solidFill>
              <a:srgbClr val="E9E4D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2368085" y="2869128"/>
            <a:ext cx="6365295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SWAGGER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sp>
        <p:nvSpPr>
          <p:cNvPr id="8" name="Freeform 8"/>
          <p:cNvSpPr/>
          <p:nvPr/>
        </p:nvSpPr>
        <p:spPr>
          <a:xfrm>
            <a:off x="945473" y="2659859"/>
            <a:ext cx="1267962" cy="1133615"/>
          </a:xfrm>
          <a:custGeom>
            <a:avLst/>
            <a:gdLst/>
            <a:ahLst/>
            <a:cxnLst/>
            <a:rect l="l" t="t" r="r" b="b"/>
            <a:pathLst>
              <a:path w="1267962" h="1133615">
                <a:moveTo>
                  <a:pt x="0" y="0"/>
                </a:moveTo>
                <a:lnTo>
                  <a:pt x="1267962" y="0"/>
                </a:lnTo>
                <a:lnTo>
                  <a:pt x="1267962" y="1133615"/>
                </a:lnTo>
                <a:lnTo>
                  <a:pt x="0" y="11336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602" t="-21068" r="-15688" b="-21307"/>
            </a:stretch>
          </a:blipFill>
        </p:spPr>
      </p:sp>
      <p:sp>
        <p:nvSpPr>
          <p:cNvPr id="9" name="직사각형 8"/>
          <p:cNvSpPr/>
          <p:nvPr/>
        </p:nvSpPr>
        <p:spPr>
          <a:xfrm>
            <a:off x="2182167" y="3884435"/>
            <a:ext cx="4841298" cy="4131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4483"/>
              </a:lnSpc>
            </a:pPr>
            <a:r>
              <a:rPr lang="en-US" altLang="ko-KR" sz="2892" b="1" spc="196">
                <a:solidFill>
                  <a:srgbClr val="2B4B8B"/>
                </a:solidFill>
                <a:latin typeface="맑은 고딕" panose="020B0503020000020004" pitchFamily="50" charset="-127"/>
                <a:cs typeface="네모고딕"/>
                <a:sym typeface="네모고딕"/>
              </a:rPr>
              <a:t>✅ 구현 기능</a:t>
            </a:r>
          </a:p>
          <a:p>
            <a:pPr marL="624467" lvl="1" indent="-312233">
              <a:lnSpc>
                <a:spcPts val="4483"/>
              </a:lnSpc>
              <a:buFont typeface="Arial"/>
              <a:buChar char="•"/>
            </a:pPr>
            <a:r>
              <a:rPr lang="en-US" altLang="ko-KR" sz="2892" b="1" spc="196">
                <a:solidFill>
                  <a:srgbClr val="2B4B8B"/>
                </a:solidFill>
                <a:latin typeface="맑은 고딕" panose="020B0503020000020004" pitchFamily="50" charset="-127"/>
                <a:cs typeface="네모고딕"/>
                <a:sym typeface="네모고딕"/>
              </a:rPr>
              <a:t>SWAGGER API 접근</a:t>
            </a:r>
          </a:p>
          <a:p>
            <a:pPr marL="312234" lvl="1">
              <a:lnSpc>
                <a:spcPts val="4483"/>
              </a:lnSpc>
            </a:pPr>
            <a:r>
              <a:rPr lang="en-US" altLang="ko-KR" sz="2892" b="1" spc="196">
                <a:solidFill>
                  <a:srgbClr val="2B4B8B"/>
                </a:solidFill>
                <a:latin typeface="맑은 고딕" panose="020B0503020000020004" pitchFamily="50" charset="-127"/>
                <a:cs typeface="네모고딕"/>
                <a:sym typeface="네모고딕"/>
              </a:rPr>
              <a:t>  권한 제어 기능 </a:t>
            </a:r>
          </a:p>
          <a:p>
            <a:pPr marL="624467" lvl="1" indent="-312233">
              <a:lnSpc>
                <a:spcPts val="4483"/>
              </a:lnSpc>
              <a:buFont typeface="Arial"/>
              <a:buChar char="•"/>
            </a:pPr>
            <a:r>
              <a:rPr lang="en-US" altLang="ko-KR" sz="2892" b="1" spc="196">
                <a:solidFill>
                  <a:srgbClr val="2B4B8B"/>
                </a:solidFill>
                <a:latin typeface="맑은 고딕" panose="020B0503020000020004" pitchFamily="50" charset="-127"/>
                <a:cs typeface="네모고딕"/>
                <a:sym typeface="네모고딕"/>
              </a:rPr>
              <a:t>UI에서 사용자 권한에</a:t>
            </a:r>
          </a:p>
          <a:p>
            <a:pPr marL="312234" lvl="1">
              <a:lnSpc>
                <a:spcPts val="4483"/>
              </a:lnSpc>
            </a:pPr>
            <a:r>
              <a:rPr lang="en-US" altLang="ko-KR" sz="2892" b="1" spc="196">
                <a:solidFill>
                  <a:srgbClr val="2B4B8B"/>
                </a:solidFill>
                <a:latin typeface="맑은 고딕" panose="020B0503020000020004" pitchFamily="50" charset="-127"/>
                <a:cs typeface="네모고딕"/>
                <a:sym typeface="네모고딕"/>
              </a:rPr>
              <a:t>  따라 접근 가능한 API</a:t>
            </a:r>
          </a:p>
          <a:p>
            <a:pPr marL="312234" lvl="1">
              <a:lnSpc>
                <a:spcPts val="4483"/>
              </a:lnSpc>
            </a:pPr>
            <a:r>
              <a:rPr lang="en-US" altLang="ko-KR" sz="2892" b="1" spc="196">
                <a:solidFill>
                  <a:srgbClr val="2B4B8B"/>
                </a:solidFill>
                <a:latin typeface="맑은 고딕" panose="020B0503020000020004" pitchFamily="50" charset="-127"/>
                <a:cs typeface="네모고딕"/>
                <a:sym typeface="네모고딕"/>
              </a:rPr>
              <a:t>  메서드를 제한</a:t>
            </a:r>
          </a:p>
          <a:p>
            <a:pPr lvl="0">
              <a:lnSpc>
                <a:spcPts val="4483"/>
              </a:lnSpc>
            </a:pPr>
            <a:endParaRPr lang="en-US" altLang="ko-KR" sz="2892" b="1" spc="196">
              <a:solidFill>
                <a:srgbClr val="2B4B8B"/>
              </a:solidFill>
              <a:latin typeface="맑은 고딕" panose="020B0503020000020004" pitchFamily="50" charset="-127"/>
              <a:cs typeface="네모고딕"/>
              <a:sym typeface="네모고딕"/>
            </a:endParaRPr>
          </a:p>
        </p:txBody>
      </p:sp>
    </p:spTree>
    <p:extLst>
      <p:ext uri="{BB962C8B-B14F-4D97-AF65-F5344CB8AC3E}">
        <p14:creationId xmlns:p14="http://schemas.microsoft.com/office/powerpoint/2010/main" val="3448850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3400" y="571500"/>
            <a:ext cx="17336671" cy="9160781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822630" y="2598976"/>
            <a:ext cx="994006" cy="1255278"/>
          </a:xfrm>
          <a:custGeom>
            <a:avLst/>
            <a:gdLst/>
            <a:ahLst/>
            <a:cxnLst/>
            <a:rect l="l" t="t" r="r" b="b"/>
            <a:pathLst>
              <a:path w="994006" h="1255278">
                <a:moveTo>
                  <a:pt x="0" y="0"/>
                </a:moveTo>
                <a:lnTo>
                  <a:pt x="994006" y="0"/>
                </a:lnTo>
                <a:lnTo>
                  <a:pt x="994006" y="1255278"/>
                </a:lnTo>
                <a:lnTo>
                  <a:pt x="0" y="12552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274409" y="3822309"/>
            <a:ext cx="9080153" cy="5589601"/>
          </a:xfrm>
          <a:custGeom>
            <a:avLst/>
            <a:gdLst/>
            <a:ahLst/>
            <a:cxnLst/>
            <a:rect l="l" t="t" r="r" b="b"/>
            <a:pathLst>
              <a:path w="9080153" h="5589601">
                <a:moveTo>
                  <a:pt x="0" y="0"/>
                </a:moveTo>
                <a:lnTo>
                  <a:pt x="9080154" y="0"/>
                </a:lnTo>
                <a:lnTo>
                  <a:pt x="9080154" y="5589601"/>
                </a:lnTo>
                <a:lnTo>
                  <a:pt x="0" y="5589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19050" cap="sq">
            <a:solidFill>
              <a:schemeClr val="bg1">
                <a:lumMod val="85000"/>
              </a:schemeClr>
            </a:solidFill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2368084" y="2869128"/>
            <a:ext cx="8147515" cy="5704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마이페이지 - 사용자 인증 및 회원 기능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</p:spTree>
    <p:extLst>
      <p:ext uri="{BB962C8B-B14F-4D97-AF65-F5344CB8AC3E}">
        <p14:creationId xmlns:p14="http://schemas.microsoft.com/office/powerpoint/2010/main" val="26044581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2009" y="571500"/>
            <a:ext cx="17336671" cy="9160781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6" name="Freeform 9"/>
          <p:cNvSpPr/>
          <p:nvPr/>
        </p:nvSpPr>
        <p:spPr>
          <a:xfrm>
            <a:off x="7994291" y="3682204"/>
            <a:ext cx="8115300" cy="4346724"/>
          </a:xfrm>
          <a:custGeom>
            <a:avLst/>
            <a:gdLst/>
            <a:ahLst/>
            <a:cxnLst/>
            <a:rect l="l" t="t" r="r" b="b"/>
            <a:pathLst>
              <a:path w="8115300" h="4346724">
                <a:moveTo>
                  <a:pt x="0" y="0"/>
                </a:moveTo>
                <a:lnTo>
                  <a:pt x="8115300" y="0"/>
                </a:lnTo>
                <a:lnTo>
                  <a:pt x="8115300" y="4346724"/>
                </a:lnTo>
                <a:lnTo>
                  <a:pt x="0" y="43467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76"/>
            </a:stretch>
          </a:blipFill>
          <a:ln w="9525" cap="sq">
            <a:solidFill>
              <a:schemeClr val="bg1">
                <a:lumMod val="85000"/>
              </a:schemeClr>
            </a:solidFill>
            <a:prstDash val="solid"/>
            <a:miter/>
          </a:ln>
        </p:spPr>
      </p:sp>
      <p:sp>
        <p:nvSpPr>
          <p:cNvPr id="7" name="Freeform 10"/>
          <p:cNvSpPr/>
          <p:nvPr/>
        </p:nvSpPr>
        <p:spPr>
          <a:xfrm>
            <a:off x="9144944" y="4838700"/>
            <a:ext cx="8105914" cy="4346724"/>
          </a:xfrm>
          <a:custGeom>
            <a:avLst/>
            <a:gdLst/>
            <a:ahLst/>
            <a:cxnLst/>
            <a:rect l="l" t="t" r="r" b="b"/>
            <a:pathLst>
              <a:path w="8105914" h="4346724">
                <a:moveTo>
                  <a:pt x="0" y="0"/>
                </a:moveTo>
                <a:lnTo>
                  <a:pt x="8105914" y="0"/>
                </a:lnTo>
                <a:lnTo>
                  <a:pt x="8105914" y="4346724"/>
                </a:lnTo>
                <a:lnTo>
                  <a:pt x="0" y="43467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6" r="-196"/>
            </a:stretch>
          </a:blipFill>
          <a:ln w="9525" cap="sq">
            <a:solidFill>
              <a:schemeClr val="bg1">
                <a:lumMod val="85000"/>
              </a:schemeClr>
            </a:solidFill>
            <a:prstDash val="solid"/>
            <a:miter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sp>
        <p:nvSpPr>
          <p:cNvPr id="8" name="TextBox 5"/>
          <p:cNvSpPr txBox="1"/>
          <p:nvPr/>
        </p:nvSpPr>
        <p:spPr>
          <a:xfrm>
            <a:off x="2368084" y="2869128"/>
            <a:ext cx="8299915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마이페이지 - 사용자 인증 및 회원 기능</a:t>
            </a:r>
          </a:p>
        </p:txBody>
      </p:sp>
      <p:sp>
        <p:nvSpPr>
          <p:cNvPr id="9" name="TextBox 6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sp>
        <p:nvSpPr>
          <p:cNvPr id="10" name="Freeform 7"/>
          <p:cNvSpPr/>
          <p:nvPr/>
        </p:nvSpPr>
        <p:spPr>
          <a:xfrm>
            <a:off x="822630" y="2598976"/>
            <a:ext cx="994006" cy="1255278"/>
          </a:xfrm>
          <a:custGeom>
            <a:avLst/>
            <a:gdLst/>
            <a:ahLst/>
            <a:cxnLst/>
            <a:rect l="l" t="t" r="r" b="b"/>
            <a:pathLst>
              <a:path w="994006" h="1255278">
                <a:moveTo>
                  <a:pt x="0" y="0"/>
                </a:moveTo>
                <a:lnTo>
                  <a:pt x="994006" y="0"/>
                </a:lnTo>
                <a:lnTo>
                  <a:pt x="994006" y="1255278"/>
                </a:lnTo>
                <a:lnTo>
                  <a:pt x="0" y="12552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8"/>
          <p:cNvSpPr txBox="1"/>
          <p:nvPr/>
        </p:nvSpPr>
        <p:spPr>
          <a:xfrm>
            <a:off x="2397884" y="3507173"/>
            <a:ext cx="5526916" cy="5193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483"/>
              </a:lnSpc>
            </a:pPr>
            <a:r>
              <a:rPr lang="en-US" sz="2892" b="1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- 회원 가입 및 로그인 기능</a:t>
            </a:r>
          </a:p>
          <a:p>
            <a:pPr marL="0" lvl="0" indent="0" algn="l">
              <a:lnSpc>
                <a:spcPts val="4483"/>
              </a:lnSpc>
            </a:pPr>
            <a:endParaRPr lang="en-US" sz="2892" b="1" spc="196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marL="0" lvl="0" indent="0" algn="l">
              <a:lnSpc>
                <a:spcPts val="4483"/>
              </a:lnSpc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✅ 구현 기능</a:t>
            </a:r>
          </a:p>
          <a:p>
            <a:pPr marL="624467" lvl="1" indent="-312233" algn="l">
              <a:lnSpc>
                <a:spcPts val="4483"/>
              </a:lnSpc>
              <a:buFont typeface="Arial"/>
              <a:buChar char="•"/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회원 가입</a:t>
            </a:r>
          </a:p>
          <a:p>
            <a:pPr marL="312234" lvl="1" algn="l">
              <a:lnSpc>
                <a:spcPts val="4483"/>
              </a:lnSpc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 이메일 인증 코드 발급 </a:t>
            </a:r>
            <a:r>
              <a:rPr lang="ko-KR" alt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및</a:t>
            </a:r>
            <a:endParaRPr lang="en-US" sz="2892" b="1" u="none" strike="noStrike" spc="196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marL="312234" lvl="1" algn="l">
              <a:lnSpc>
                <a:spcPts val="4483"/>
              </a:lnSpc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 중복 요청 제한 처리</a:t>
            </a:r>
          </a:p>
          <a:p>
            <a:pPr algn="l">
              <a:lnSpc>
                <a:spcPts val="4483"/>
              </a:lnSpc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   실패시 오류 메시지 및 </a:t>
            </a:r>
          </a:p>
          <a:p>
            <a:pPr algn="l">
              <a:lnSpc>
                <a:spcPts val="4483"/>
              </a:lnSpc>
            </a:pPr>
            <a:r>
              <a:rPr lang="en-US" sz="2892" b="1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   </a:t>
            </a: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입력 정보 유지</a:t>
            </a:r>
          </a:p>
          <a:p>
            <a:pPr marL="0" lvl="0" indent="0" algn="l">
              <a:lnSpc>
                <a:spcPts val="4483"/>
              </a:lnSpc>
            </a:pPr>
            <a:endParaRPr lang="en-US" sz="2892" b="1" u="none" strike="noStrike" spc="196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</p:spTree>
    <p:extLst>
      <p:ext uri="{BB962C8B-B14F-4D97-AF65-F5344CB8AC3E}">
        <p14:creationId xmlns:p14="http://schemas.microsoft.com/office/powerpoint/2010/main" val="2418488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2009" y="571500"/>
            <a:ext cx="17336671" cy="9160781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368084" y="2869128"/>
            <a:ext cx="8299915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마이페이지 - 사용자 인증 및 회원 기능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sp>
        <p:nvSpPr>
          <p:cNvPr id="7" name="Freeform 7"/>
          <p:cNvSpPr/>
          <p:nvPr/>
        </p:nvSpPr>
        <p:spPr>
          <a:xfrm>
            <a:off x="822630" y="2598976"/>
            <a:ext cx="994006" cy="1255278"/>
          </a:xfrm>
          <a:custGeom>
            <a:avLst/>
            <a:gdLst/>
            <a:ahLst/>
            <a:cxnLst/>
            <a:rect l="l" t="t" r="r" b="b"/>
            <a:pathLst>
              <a:path w="994006" h="1255278">
                <a:moveTo>
                  <a:pt x="0" y="0"/>
                </a:moveTo>
                <a:lnTo>
                  <a:pt x="994006" y="0"/>
                </a:lnTo>
                <a:lnTo>
                  <a:pt x="994006" y="1255278"/>
                </a:lnTo>
                <a:lnTo>
                  <a:pt x="0" y="12552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397884" y="3507173"/>
            <a:ext cx="6136516" cy="4039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483"/>
              </a:lnSpc>
            </a:pPr>
            <a:r>
              <a:rPr lang="en-US" sz="2892" b="1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- 회원 가입 및 로그인 기능</a:t>
            </a:r>
          </a:p>
          <a:p>
            <a:pPr marL="0" lvl="0" indent="0" algn="l">
              <a:lnSpc>
                <a:spcPts val="4483"/>
              </a:lnSpc>
            </a:pPr>
            <a:endParaRPr lang="en-US" sz="2892" b="1" spc="196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marL="0" lvl="0" indent="0" algn="l">
              <a:lnSpc>
                <a:spcPts val="4483"/>
              </a:lnSpc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✅ 구현 기능</a:t>
            </a:r>
          </a:p>
          <a:p>
            <a:pPr marL="624467" lvl="1" indent="-312233" algn="l">
              <a:lnSpc>
                <a:spcPts val="4483"/>
              </a:lnSpc>
              <a:buFont typeface="Arial"/>
              <a:buChar char="•"/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로그인</a:t>
            </a:r>
          </a:p>
          <a:p>
            <a:pPr marL="312234" lvl="1" algn="l">
              <a:lnSpc>
                <a:spcPts val="4483"/>
              </a:lnSpc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 SPRING SECURITY</a:t>
            </a:r>
          </a:p>
          <a:p>
            <a:pPr marL="312234" lvl="1" algn="l">
              <a:lnSpc>
                <a:spcPts val="4483"/>
              </a:lnSpc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+ SESSION 기반 로그인 기능 </a:t>
            </a:r>
          </a:p>
          <a:p>
            <a:pPr marL="0" lvl="0" indent="0" algn="l">
              <a:lnSpc>
                <a:spcPts val="4483"/>
              </a:lnSpc>
            </a:pPr>
            <a:endParaRPr lang="en-US" sz="2892" b="1" u="none" strike="noStrike" spc="196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9170344" y="3927412"/>
            <a:ext cx="6576843" cy="5387785"/>
          </a:xfrm>
          <a:custGeom>
            <a:avLst/>
            <a:gdLst/>
            <a:ahLst/>
            <a:cxnLst/>
            <a:rect l="l" t="t" r="r" b="b"/>
            <a:pathLst>
              <a:path w="6576843" h="5387785">
                <a:moveTo>
                  <a:pt x="0" y="0"/>
                </a:moveTo>
                <a:lnTo>
                  <a:pt x="6576843" y="0"/>
                </a:lnTo>
                <a:lnTo>
                  <a:pt x="6576843" y="5387785"/>
                </a:lnTo>
                <a:lnTo>
                  <a:pt x="0" y="5387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529"/>
            </a:stretch>
          </a:blipFill>
          <a:ln w="9525" cap="sq">
            <a:solidFill>
              <a:srgbClr val="E9E4DE"/>
            </a:solidFill>
            <a:prstDash val="solid"/>
            <a:miter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</p:spTree>
    <p:extLst>
      <p:ext uri="{BB962C8B-B14F-4D97-AF65-F5344CB8AC3E}">
        <p14:creationId xmlns:p14="http://schemas.microsoft.com/office/powerpoint/2010/main" val="1452143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822630" y="2598976"/>
            <a:ext cx="994006" cy="1255278"/>
          </a:xfrm>
          <a:custGeom>
            <a:avLst/>
            <a:gdLst/>
            <a:ahLst/>
            <a:cxnLst/>
            <a:rect l="l" t="t" r="r" b="b"/>
            <a:pathLst>
              <a:path w="994006" h="1255278">
                <a:moveTo>
                  <a:pt x="0" y="0"/>
                </a:moveTo>
                <a:lnTo>
                  <a:pt x="994006" y="0"/>
                </a:lnTo>
                <a:lnTo>
                  <a:pt x="994006" y="1255278"/>
                </a:lnTo>
                <a:lnTo>
                  <a:pt x="0" y="12552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349942" y="3830668"/>
            <a:ext cx="8696229" cy="5500083"/>
          </a:xfrm>
          <a:custGeom>
            <a:avLst/>
            <a:gdLst/>
            <a:ahLst/>
            <a:cxnLst/>
            <a:rect l="l" t="t" r="r" b="b"/>
            <a:pathLst>
              <a:path w="8696229" h="5500083">
                <a:moveTo>
                  <a:pt x="0" y="0"/>
                </a:moveTo>
                <a:lnTo>
                  <a:pt x="8696230" y="0"/>
                </a:lnTo>
                <a:lnTo>
                  <a:pt x="8696230" y="5500083"/>
                </a:lnTo>
                <a:lnTo>
                  <a:pt x="0" y="55000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19050" cap="sq">
            <a:solidFill>
              <a:schemeClr val="bg1">
                <a:lumMod val="85000"/>
              </a:schemeClr>
            </a:solidFill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2368085" y="2869128"/>
            <a:ext cx="6365295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마이페이지 - 즐겨찾기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</p:spTree>
    <p:extLst>
      <p:ext uri="{BB962C8B-B14F-4D97-AF65-F5344CB8AC3E}">
        <p14:creationId xmlns:p14="http://schemas.microsoft.com/office/powerpoint/2010/main" val="30716619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  <a:solidFill>
            <a:schemeClr val="accent1">
              <a:alpha val="2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b="1">
                <a:latin typeface="Agency FB" panose="020B0503020202020204" pitchFamily="34" charset="0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368085" y="2869128"/>
            <a:ext cx="6365295" cy="570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마이페이지 - 즐겨찾기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sp>
        <p:nvSpPr>
          <p:cNvPr id="7" name="Freeform 7"/>
          <p:cNvSpPr/>
          <p:nvPr/>
        </p:nvSpPr>
        <p:spPr>
          <a:xfrm>
            <a:off x="822630" y="2598976"/>
            <a:ext cx="994006" cy="1255278"/>
          </a:xfrm>
          <a:custGeom>
            <a:avLst/>
            <a:gdLst/>
            <a:ahLst/>
            <a:cxnLst/>
            <a:rect l="l" t="t" r="r" b="b"/>
            <a:pathLst>
              <a:path w="994006" h="1255278">
                <a:moveTo>
                  <a:pt x="0" y="0"/>
                </a:moveTo>
                <a:lnTo>
                  <a:pt x="994006" y="0"/>
                </a:lnTo>
                <a:lnTo>
                  <a:pt x="994006" y="1255278"/>
                </a:lnTo>
                <a:lnTo>
                  <a:pt x="0" y="12552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397884" y="3507173"/>
            <a:ext cx="14162908" cy="5770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3"/>
              </a:lnSpc>
            </a:pPr>
            <a:r>
              <a:rPr lang="en-US" sz="2892" b="1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- 자주 이용하는 정류장, 노선 즐겨찾기 기능</a:t>
            </a:r>
          </a:p>
          <a:p>
            <a:pPr algn="l">
              <a:lnSpc>
                <a:spcPts val="4483"/>
              </a:lnSpc>
            </a:pPr>
            <a:r>
              <a:rPr lang="en-US" sz="2892" b="1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- 버스 노선, 정류장 DB 기반</a:t>
            </a:r>
          </a:p>
          <a:p>
            <a:pPr marL="0" lvl="0" indent="0" algn="l">
              <a:lnSpc>
                <a:spcPts val="4483"/>
              </a:lnSpc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- 사용자 인증 기반 기능</a:t>
            </a:r>
          </a:p>
          <a:p>
            <a:pPr marL="0" lvl="0" indent="0" algn="l">
              <a:lnSpc>
                <a:spcPts val="4483"/>
              </a:lnSpc>
            </a:pPr>
            <a:endParaRPr lang="en-US" sz="2892" b="1" u="none" strike="noStrike" spc="196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marL="0" lvl="0" indent="0" algn="l">
              <a:lnSpc>
                <a:spcPts val="4483"/>
              </a:lnSpc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✅ 구현 기능</a:t>
            </a:r>
          </a:p>
          <a:p>
            <a:pPr marL="624467" lvl="1" indent="-312233" algn="l">
              <a:lnSpc>
                <a:spcPts val="4483"/>
              </a:lnSpc>
              <a:buFont typeface="Arial"/>
              <a:buChar char="•"/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노선 즐겨찾기 기능 : 노선 즐겨찾기 추가, 삭제, 조회 API 구현</a:t>
            </a:r>
          </a:p>
          <a:p>
            <a:pPr marL="624467" lvl="1" indent="-312233" algn="l">
              <a:lnSpc>
                <a:spcPts val="4483"/>
              </a:lnSpc>
              <a:buFont typeface="Arial"/>
              <a:buChar char="•"/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정류장 즐겨찾기 기능 : 정류장 즐겨찾기 추가, 삭제, 조회 API 구현</a:t>
            </a:r>
          </a:p>
          <a:p>
            <a:pPr marL="624467" lvl="1" indent="-312233" algn="l">
              <a:lnSpc>
                <a:spcPts val="4483"/>
              </a:lnSpc>
              <a:buFont typeface="Arial"/>
              <a:buChar char="•"/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통합 조회 기능 : 노선 및 정류장 즐겨찾기 통합 API 구현</a:t>
            </a:r>
          </a:p>
          <a:p>
            <a:pPr marL="624467" lvl="1" indent="-312233" algn="l">
              <a:lnSpc>
                <a:spcPts val="4483"/>
              </a:lnSpc>
              <a:buFont typeface="Arial"/>
              <a:buChar char="•"/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즐겨찾기 UI 구현은 2차 개발 예정</a:t>
            </a:r>
          </a:p>
          <a:p>
            <a:pPr marL="0" lvl="0" indent="0" algn="l">
              <a:lnSpc>
                <a:spcPts val="4483"/>
              </a:lnSpc>
            </a:pPr>
            <a:endParaRPr lang="en-US" sz="2892" b="1" u="none" strike="noStrike" spc="196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</p:spTree>
    <p:extLst>
      <p:ext uri="{BB962C8B-B14F-4D97-AF65-F5344CB8AC3E}">
        <p14:creationId xmlns:p14="http://schemas.microsoft.com/office/powerpoint/2010/main" val="15853019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959439" y="1035793"/>
            <a:ext cx="8421812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83159" y="2647637"/>
            <a:ext cx="7387536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✅ 대구시 공공버스 API 데이터 활용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35969" y="3784520"/>
            <a:ext cx="10844517" cy="475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4" lvl="1" indent="-313052" algn="l">
              <a:lnSpc>
                <a:spcPts val="4059"/>
              </a:lnSpc>
              <a:buFont typeface="Arial"/>
              <a:buChar char="•"/>
            </a:pP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정류장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/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노선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: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공공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API → DB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저장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후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자체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관리</a:t>
            </a:r>
            <a:endParaRPr lang="en-US" sz="28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448356" y="4644623"/>
            <a:ext cx="13629989" cy="475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4" lvl="1" indent="-313052" algn="l">
              <a:lnSpc>
                <a:spcPts val="4059"/>
              </a:lnSpc>
              <a:buFont typeface="Arial"/>
              <a:buChar char="•"/>
            </a:pP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버스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실시간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위치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: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공공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API →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실시간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조회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→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Redis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캐시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저장</a:t>
            </a:r>
            <a:endParaRPr lang="en-US" sz="28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448356" y="5499968"/>
            <a:ext cx="13629989" cy="475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4" lvl="1" indent="-313052" algn="l">
              <a:lnSpc>
                <a:spcPts val="4059"/>
              </a:lnSpc>
              <a:buFont typeface="Arial"/>
              <a:buChar char="•"/>
            </a:pP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서버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부하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감소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및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빠른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사용자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응답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속도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확보</a:t>
            </a:r>
            <a:endParaRPr lang="en-US" sz="28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882234" y="6630962"/>
            <a:ext cx="1874365" cy="1442181"/>
            <a:chOff x="0" y="-38100"/>
            <a:chExt cx="587728" cy="3962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7728" cy="358197"/>
            </a:xfrm>
            <a:custGeom>
              <a:avLst/>
              <a:gdLst/>
              <a:ahLst/>
              <a:cxnLst/>
              <a:rect l="l" t="t" r="r" b="b"/>
              <a:pathLst>
                <a:path w="587728" h="358197">
                  <a:moveTo>
                    <a:pt x="61535" y="0"/>
                  </a:moveTo>
                  <a:lnTo>
                    <a:pt x="526193" y="0"/>
                  </a:lnTo>
                  <a:cubicBezTo>
                    <a:pt x="560178" y="0"/>
                    <a:pt x="587728" y="27550"/>
                    <a:pt x="587728" y="61535"/>
                  </a:cubicBezTo>
                  <a:lnTo>
                    <a:pt x="587728" y="296662"/>
                  </a:lnTo>
                  <a:cubicBezTo>
                    <a:pt x="587728" y="330646"/>
                    <a:pt x="560178" y="358197"/>
                    <a:pt x="526193" y="358197"/>
                  </a:cubicBezTo>
                  <a:lnTo>
                    <a:pt x="61535" y="358197"/>
                  </a:lnTo>
                  <a:cubicBezTo>
                    <a:pt x="45215" y="358197"/>
                    <a:pt x="29563" y="351713"/>
                    <a:pt x="18023" y="340173"/>
                  </a:cubicBezTo>
                  <a:cubicBezTo>
                    <a:pt x="6483" y="328633"/>
                    <a:pt x="0" y="312982"/>
                    <a:pt x="0" y="296662"/>
                  </a:cubicBezTo>
                  <a:lnTo>
                    <a:pt x="0" y="61535"/>
                  </a:lnTo>
                  <a:cubicBezTo>
                    <a:pt x="0" y="45215"/>
                    <a:pt x="6483" y="29563"/>
                    <a:pt x="18023" y="18023"/>
                  </a:cubicBezTo>
                  <a:cubicBezTo>
                    <a:pt x="29563" y="6483"/>
                    <a:pt x="45215" y="0"/>
                    <a:pt x="6153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B4B8B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587728" cy="396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2400" b="1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대구광역시</a:t>
              </a:r>
              <a:endParaRPr lang="en-US" sz="2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endParaRPr>
            </a:p>
            <a:p>
              <a:pPr algn="ctr">
                <a:lnSpc>
                  <a:spcPts val="2659"/>
                </a:lnSpc>
              </a:pPr>
              <a:r>
                <a:rPr lang="en-US" sz="2400" b="1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공공</a:t>
              </a:r>
              <a:r>
                <a:rPr lang="en-US" sz="24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 API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625434" y="6769613"/>
            <a:ext cx="1811842" cy="1303530"/>
            <a:chOff x="0" y="0"/>
            <a:chExt cx="587728" cy="3581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87728" cy="358197"/>
            </a:xfrm>
            <a:custGeom>
              <a:avLst/>
              <a:gdLst/>
              <a:ahLst/>
              <a:cxnLst/>
              <a:rect l="l" t="t" r="r" b="b"/>
              <a:pathLst>
                <a:path w="587728" h="358197">
                  <a:moveTo>
                    <a:pt x="61535" y="0"/>
                  </a:moveTo>
                  <a:lnTo>
                    <a:pt x="526193" y="0"/>
                  </a:lnTo>
                  <a:cubicBezTo>
                    <a:pt x="560178" y="0"/>
                    <a:pt x="587728" y="27550"/>
                    <a:pt x="587728" y="61535"/>
                  </a:cubicBezTo>
                  <a:lnTo>
                    <a:pt x="587728" y="296662"/>
                  </a:lnTo>
                  <a:cubicBezTo>
                    <a:pt x="587728" y="330646"/>
                    <a:pt x="560178" y="358197"/>
                    <a:pt x="526193" y="358197"/>
                  </a:cubicBezTo>
                  <a:lnTo>
                    <a:pt x="61535" y="358197"/>
                  </a:lnTo>
                  <a:cubicBezTo>
                    <a:pt x="45215" y="358197"/>
                    <a:pt x="29563" y="351713"/>
                    <a:pt x="18023" y="340173"/>
                  </a:cubicBezTo>
                  <a:cubicBezTo>
                    <a:pt x="6483" y="328633"/>
                    <a:pt x="0" y="312982"/>
                    <a:pt x="0" y="296662"/>
                  </a:cubicBezTo>
                  <a:lnTo>
                    <a:pt x="0" y="61535"/>
                  </a:lnTo>
                  <a:cubicBezTo>
                    <a:pt x="0" y="45215"/>
                    <a:pt x="6483" y="29563"/>
                    <a:pt x="18023" y="18023"/>
                  </a:cubicBezTo>
                  <a:cubicBezTo>
                    <a:pt x="29563" y="6483"/>
                    <a:pt x="45215" y="0"/>
                    <a:pt x="6153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B4B8B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587728" cy="396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2400" b="1">
                  <a:solidFill>
                    <a:srgbClr val="1986C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함초롬돋움" panose="020B0604000101010101" pitchFamily="50" charset="-127"/>
                  <a:sym typeface="네모고딕 Medium"/>
                </a:rPr>
                <a:t>DB</a:t>
              </a:r>
              <a:r>
                <a:rPr lang="en-US" sz="2400" b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함초롬돋움" panose="020B0604000101010101" pitchFamily="50" charset="-127"/>
                  <a:sym typeface="네모고딕 Medium"/>
                </a:rPr>
                <a:t> 저장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569034" y="6774302"/>
            <a:ext cx="1986098" cy="1294331"/>
            <a:chOff x="0" y="0"/>
            <a:chExt cx="587728" cy="35819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87728" cy="358197"/>
            </a:xfrm>
            <a:custGeom>
              <a:avLst/>
              <a:gdLst/>
              <a:ahLst/>
              <a:cxnLst/>
              <a:rect l="l" t="t" r="r" b="b"/>
              <a:pathLst>
                <a:path w="587728" h="358197">
                  <a:moveTo>
                    <a:pt x="61535" y="0"/>
                  </a:moveTo>
                  <a:lnTo>
                    <a:pt x="526193" y="0"/>
                  </a:lnTo>
                  <a:cubicBezTo>
                    <a:pt x="560178" y="0"/>
                    <a:pt x="587728" y="27550"/>
                    <a:pt x="587728" y="61535"/>
                  </a:cubicBezTo>
                  <a:lnTo>
                    <a:pt x="587728" y="296662"/>
                  </a:lnTo>
                  <a:cubicBezTo>
                    <a:pt x="587728" y="330646"/>
                    <a:pt x="560178" y="358197"/>
                    <a:pt x="526193" y="358197"/>
                  </a:cubicBezTo>
                  <a:lnTo>
                    <a:pt x="61535" y="358197"/>
                  </a:lnTo>
                  <a:cubicBezTo>
                    <a:pt x="45215" y="358197"/>
                    <a:pt x="29563" y="351713"/>
                    <a:pt x="18023" y="340173"/>
                  </a:cubicBezTo>
                  <a:cubicBezTo>
                    <a:pt x="6483" y="328633"/>
                    <a:pt x="0" y="312982"/>
                    <a:pt x="0" y="296662"/>
                  </a:cubicBezTo>
                  <a:lnTo>
                    <a:pt x="0" y="61535"/>
                  </a:lnTo>
                  <a:cubicBezTo>
                    <a:pt x="0" y="45215"/>
                    <a:pt x="6483" y="29563"/>
                    <a:pt x="18023" y="18023"/>
                  </a:cubicBezTo>
                  <a:cubicBezTo>
                    <a:pt x="29563" y="6483"/>
                    <a:pt x="45215" y="0"/>
                    <a:pt x="6153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B4B8B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587728" cy="396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2400" b="1" dirty="0" err="1">
                  <a:solidFill>
                    <a:srgbClr val="D92424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Redis</a:t>
              </a:r>
              <a:r>
                <a:rPr lang="en-US" sz="24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 </a:t>
              </a:r>
              <a:r>
                <a:rPr lang="en-US" sz="2400" b="1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캐싱</a:t>
              </a:r>
              <a:endParaRPr lang="en-US" sz="2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endParaRPr>
            </a:p>
          </p:txBody>
        </p:sp>
      </p:grpSp>
      <p:sp>
        <p:nvSpPr>
          <p:cNvPr id="23" name="AutoShape 23"/>
          <p:cNvSpPr/>
          <p:nvPr/>
        </p:nvSpPr>
        <p:spPr>
          <a:xfrm flipV="1">
            <a:off x="4015834" y="7407670"/>
            <a:ext cx="391680" cy="18397"/>
          </a:xfrm>
          <a:prstGeom prst="line">
            <a:avLst/>
          </a:prstGeom>
          <a:ln w="57150" cap="flat">
            <a:solidFill>
              <a:srgbClr val="2B4B8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6" name="Group 26"/>
          <p:cNvGrpSpPr/>
          <p:nvPr/>
        </p:nvGrpSpPr>
        <p:grpSpPr>
          <a:xfrm>
            <a:off x="13540834" y="6765103"/>
            <a:ext cx="1797932" cy="1303530"/>
            <a:chOff x="0" y="0"/>
            <a:chExt cx="587728" cy="35819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87728" cy="358197"/>
            </a:xfrm>
            <a:custGeom>
              <a:avLst/>
              <a:gdLst/>
              <a:ahLst/>
              <a:cxnLst/>
              <a:rect l="l" t="t" r="r" b="b"/>
              <a:pathLst>
                <a:path w="587728" h="358197">
                  <a:moveTo>
                    <a:pt x="61535" y="0"/>
                  </a:moveTo>
                  <a:lnTo>
                    <a:pt x="526193" y="0"/>
                  </a:lnTo>
                  <a:cubicBezTo>
                    <a:pt x="560178" y="0"/>
                    <a:pt x="587728" y="27550"/>
                    <a:pt x="587728" y="61535"/>
                  </a:cubicBezTo>
                  <a:lnTo>
                    <a:pt x="587728" y="296662"/>
                  </a:lnTo>
                  <a:cubicBezTo>
                    <a:pt x="587728" y="330646"/>
                    <a:pt x="560178" y="358197"/>
                    <a:pt x="526193" y="358197"/>
                  </a:cubicBezTo>
                  <a:lnTo>
                    <a:pt x="61535" y="358197"/>
                  </a:lnTo>
                  <a:cubicBezTo>
                    <a:pt x="45215" y="358197"/>
                    <a:pt x="29563" y="351713"/>
                    <a:pt x="18023" y="340173"/>
                  </a:cubicBezTo>
                  <a:cubicBezTo>
                    <a:pt x="6483" y="328633"/>
                    <a:pt x="0" y="312982"/>
                    <a:pt x="0" y="296662"/>
                  </a:cubicBezTo>
                  <a:lnTo>
                    <a:pt x="0" y="61535"/>
                  </a:lnTo>
                  <a:cubicBezTo>
                    <a:pt x="0" y="45215"/>
                    <a:pt x="6483" y="29563"/>
                    <a:pt x="18023" y="18023"/>
                  </a:cubicBezTo>
                  <a:cubicBezTo>
                    <a:pt x="29563" y="6483"/>
                    <a:pt x="45215" y="0"/>
                    <a:pt x="6153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B4B8B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87728" cy="396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2400" b="1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빠른</a:t>
              </a:r>
              <a:r>
                <a:rPr lang="en-US" sz="24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 </a:t>
              </a:r>
              <a:r>
                <a:rPr lang="en-US" sz="2400" b="1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응답</a:t>
              </a:r>
              <a:endParaRPr lang="en-US" sz="2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endParaRPr>
            </a:p>
          </p:txBody>
        </p:sp>
      </p:grpSp>
      <p:sp>
        <p:nvSpPr>
          <p:cNvPr id="32" name="AutoShape 23"/>
          <p:cNvSpPr/>
          <p:nvPr/>
        </p:nvSpPr>
        <p:spPr>
          <a:xfrm flipV="1">
            <a:off x="6708752" y="7388431"/>
            <a:ext cx="391680" cy="18397"/>
          </a:xfrm>
          <a:prstGeom prst="line">
            <a:avLst/>
          </a:prstGeom>
          <a:ln w="57150" cap="flat">
            <a:solidFill>
              <a:srgbClr val="2B4B8B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3" name="AutoShape 23"/>
          <p:cNvSpPr/>
          <p:nvPr/>
        </p:nvSpPr>
        <p:spPr>
          <a:xfrm flipV="1">
            <a:off x="9948754" y="7402349"/>
            <a:ext cx="391680" cy="18397"/>
          </a:xfrm>
          <a:prstGeom prst="line">
            <a:avLst/>
          </a:prstGeom>
          <a:ln w="57150" cap="flat">
            <a:solidFill>
              <a:srgbClr val="2B4B8B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4" name="AutoShape 23"/>
          <p:cNvSpPr/>
          <p:nvPr/>
        </p:nvSpPr>
        <p:spPr>
          <a:xfrm flipV="1">
            <a:off x="12855034" y="7388430"/>
            <a:ext cx="391680" cy="18397"/>
          </a:xfrm>
          <a:prstGeom prst="line">
            <a:avLst/>
          </a:prstGeom>
          <a:ln w="57150" cap="flat">
            <a:solidFill>
              <a:srgbClr val="2B4B8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8" name="그룹 37"/>
          <p:cNvGrpSpPr/>
          <p:nvPr/>
        </p:nvGrpSpPr>
        <p:grpSpPr>
          <a:xfrm>
            <a:off x="7315200" y="6654349"/>
            <a:ext cx="2415634" cy="1432004"/>
            <a:chOff x="7915424" y="6966829"/>
            <a:chExt cx="2415634" cy="1432004"/>
          </a:xfrm>
        </p:grpSpPr>
        <p:sp>
          <p:nvSpPr>
            <p:cNvPr id="19" name="AutoShape 19"/>
            <p:cNvSpPr/>
            <p:nvPr/>
          </p:nvSpPr>
          <p:spPr>
            <a:xfrm flipV="1">
              <a:off x="8021846" y="7695585"/>
              <a:ext cx="2138829" cy="0"/>
            </a:xfrm>
            <a:prstGeom prst="line">
              <a:avLst/>
            </a:prstGeom>
            <a:ln w="38100" cap="flat">
              <a:solidFill>
                <a:srgbClr val="2B4B8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0" name="직사각형 29"/>
            <p:cNvSpPr/>
            <p:nvPr/>
          </p:nvSpPr>
          <p:spPr>
            <a:xfrm>
              <a:off x="8011631" y="7810500"/>
              <a:ext cx="2159567" cy="4079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ts val="2659"/>
                </a:lnSpc>
              </a:pPr>
              <a:r>
                <a:rPr lang="en-US" altLang="ko-KR" sz="2000" b="1">
                  <a:solidFill>
                    <a:srgbClr val="000000"/>
                  </a:solidFill>
                  <a:latin typeface="맑은 고딕" panose="020B0503020000020004" pitchFamily="50" charset="-127"/>
                  <a:cs typeface="네모고딕"/>
                  <a:sym typeface="네모고딕"/>
                </a:rPr>
                <a:t>실시간 정보 조회</a:t>
              </a:r>
              <a:endParaRPr lang="en-US" altLang="ko-KR" sz="2000" b="1" dirty="0">
                <a:solidFill>
                  <a:srgbClr val="000000"/>
                </a:solidFill>
                <a:latin typeface="맑은 고딕" panose="020B0503020000020004" pitchFamily="50" charset="-127"/>
                <a:cs typeface="네모고딕"/>
                <a:sym typeface="네모고딕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8111666" y="7147605"/>
              <a:ext cx="1903085" cy="4385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ts val="2659"/>
                </a:lnSpc>
              </a:pPr>
              <a:r>
                <a:rPr lang="en-US" altLang="ko-KR" sz="2000" b="1">
                  <a:solidFill>
                    <a:srgbClr val="000000"/>
                  </a:solidFill>
                  <a:latin typeface="맑은 고딕" panose="020B0503020000020004" pitchFamily="50" charset="-127"/>
                  <a:cs typeface="네모고딕"/>
                  <a:sym typeface="네모고딕"/>
                </a:rPr>
                <a:t>일반 정보 조회</a:t>
              </a:r>
              <a:endParaRPr lang="en-US" altLang="ko-KR" sz="2000" b="1" dirty="0">
                <a:solidFill>
                  <a:srgbClr val="000000"/>
                </a:solidFill>
                <a:latin typeface="맑은 고딕" panose="020B0503020000020004" pitchFamily="50" charset="-127"/>
                <a:cs typeface="네모고딕"/>
                <a:sym typeface="네모고딕"/>
              </a:endParaRPr>
            </a:p>
          </p:txBody>
        </p:sp>
        <p:sp>
          <p:nvSpPr>
            <p:cNvPr id="36" name="Freeform 21"/>
            <p:cNvSpPr/>
            <p:nvPr/>
          </p:nvSpPr>
          <p:spPr>
            <a:xfrm>
              <a:off x="7915424" y="7062159"/>
              <a:ext cx="2369831" cy="1294331"/>
            </a:xfrm>
            <a:custGeom>
              <a:avLst/>
              <a:gdLst/>
              <a:ahLst/>
              <a:cxnLst/>
              <a:rect l="l" t="t" r="r" b="b"/>
              <a:pathLst>
                <a:path w="587728" h="358197">
                  <a:moveTo>
                    <a:pt x="61535" y="0"/>
                  </a:moveTo>
                  <a:lnTo>
                    <a:pt x="526193" y="0"/>
                  </a:lnTo>
                  <a:cubicBezTo>
                    <a:pt x="560178" y="0"/>
                    <a:pt x="587728" y="27550"/>
                    <a:pt x="587728" y="61535"/>
                  </a:cubicBezTo>
                  <a:lnTo>
                    <a:pt x="587728" y="296662"/>
                  </a:lnTo>
                  <a:cubicBezTo>
                    <a:pt x="587728" y="330646"/>
                    <a:pt x="560178" y="358197"/>
                    <a:pt x="526193" y="358197"/>
                  </a:cubicBezTo>
                  <a:lnTo>
                    <a:pt x="61535" y="358197"/>
                  </a:lnTo>
                  <a:cubicBezTo>
                    <a:pt x="45215" y="358197"/>
                    <a:pt x="29563" y="351713"/>
                    <a:pt x="18023" y="340173"/>
                  </a:cubicBezTo>
                  <a:cubicBezTo>
                    <a:pt x="6483" y="328633"/>
                    <a:pt x="0" y="312982"/>
                    <a:pt x="0" y="296662"/>
                  </a:cubicBezTo>
                  <a:lnTo>
                    <a:pt x="0" y="61535"/>
                  </a:lnTo>
                  <a:cubicBezTo>
                    <a:pt x="0" y="45215"/>
                    <a:pt x="6483" y="29563"/>
                    <a:pt x="18023" y="18023"/>
                  </a:cubicBezTo>
                  <a:cubicBezTo>
                    <a:pt x="29563" y="6483"/>
                    <a:pt x="45215" y="0"/>
                    <a:pt x="6153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B4B8B"/>
              </a:solidFill>
              <a:prstDash val="solid"/>
              <a:miter/>
            </a:ln>
          </p:spPr>
        </p:sp>
        <p:sp>
          <p:nvSpPr>
            <p:cNvPr id="37" name="TextBox 22"/>
            <p:cNvSpPr txBox="1"/>
            <p:nvPr/>
          </p:nvSpPr>
          <p:spPr>
            <a:xfrm>
              <a:off x="7961227" y="6966829"/>
              <a:ext cx="2369831" cy="1432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n-US" sz="2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8045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83159" y="2647637"/>
            <a:ext cx="6960841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✅ 노선 추가 시 리스트 처리 로직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35969" y="3784520"/>
            <a:ext cx="10844517" cy="475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4" lvl="1" indent="-313052" algn="l">
              <a:lnSpc>
                <a:spcPts val="4059"/>
              </a:lnSpc>
              <a:buFont typeface="Arial"/>
              <a:buChar char="•"/>
            </a:pP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노선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추가할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때,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정류장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간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경로가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시스템에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등록되도록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구현</a:t>
            </a:r>
            <a:endParaRPr lang="en-US" sz="28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448356" y="4644623"/>
            <a:ext cx="13629989" cy="105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4" lvl="1" indent="-313052" algn="l">
              <a:lnSpc>
                <a:spcPts val="4059"/>
              </a:lnSpc>
              <a:buFont typeface="Arial"/>
              <a:buChar char="•"/>
            </a:pP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노선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ID가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들어오면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해당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노선이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경유하는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정류장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목록을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정방향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,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역방향으로</a:t>
            </a:r>
            <a:endParaRPr lang="en-US" sz="28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algn="l">
              <a:lnSpc>
                <a:spcPts val="4059"/>
              </a:lnSpc>
            </a:pP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   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나눠서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처리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80411" y="7072040"/>
            <a:ext cx="6690284" cy="472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➡️ ORS(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OpenRouteService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)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연동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 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80411" y="6095070"/>
            <a:ext cx="12077246" cy="472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➡️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대구광역시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공공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API에서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NodeID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,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LinkID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정보가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완전하지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않음</a:t>
            </a:r>
            <a:r>
              <a:rPr lang="en-US" sz="28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17224293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3810000" y="5863245"/>
            <a:ext cx="9971275" cy="3014803"/>
          </a:xfrm>
          <a:custGeom>
            <a:avLst/>
            <a:gdLst/>
            <a:ahLst/>
            <a:cxnLst/>
            <a:rect l="l" t="t" r="r" b="b"/>
            <a:pathLst>
              <a:path w="9032253" h="3014803">
                <a:moveTo>
                  <a:pt x="0" y="0"/>
                </a:moveTo>
                <a:lnTo>
                  <a:pt x="9032252" y="0"/>
                </a:lnTo>
                <a:lnTo>
                  <a:pt x="9032252" y="3014803"/>
                </a:lnTo>
                <a:lnTo>
                  <a:pt x="0" y="30148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959439" y="1035793"/>
            <a:ext cx="8421812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79953" y="2409189"/>
            <a:ext cx="10851297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✅ ORS(OPENROUTESERVICE) 연동 이유와 방식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32450" y="3215722"/>
            <a:ext cx="7783150" cy="406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46" lvl="1" indent="-269873" algn="l">
              <a:lnSpc>
                <a:spcPts val="3499"/>
              </a:lnSpc>
              <a:buFont typeface="Arial"/>
              <a:buChar char="•"/>
            </a:pPr>
            <a:r>
              <a:rPr lang="en-US" sz="24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독일</a:t>
            </a:r>
            <a:r>
              <a:rPr lang="en-US" sz="24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GIS </a:t>
            </a:r>
            <a:r>
              <a:rPr lang="en-US" sz="24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회사에서</a:t>
            </a:r>
            <a:r>
              <a:rPr lang="en-US" sz="24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4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만든</a:t>
            </a:r>
            <a:r>
              <a:rPr lang="en-US" sz="24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4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오픈소스</a:t>
            </a:r>
            <a:r>
              <a:rPr lang="en-US" sz="24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4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도로</a:t>
            </a:r>
            <a:r>
              <a:rPr lang="en-US" sz="24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4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경로</a:t>
            </a:r>
            <a:r>
              <a:rPr lang="en-US" sz="24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API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32450" y="3780818"/>
            <a:ext cx="6487750" cy="406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46" lvl="1" indent="-269873" algn="l">
              <a:lnSpc>
                <a:spcPts val="3499"/>
              </a:lnSpc>
              <a:buFont typeface="Arial"/>
              <a:buChar char="•"/>
            </a:pPr>
            <a:r>
              <a:rPr lang="en-US" sz="24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정류장</a:t>
            </a:r>
            <a:r>
              <a:rPr lang="en-US" sz="24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간 </a:t>
            </a:r>
            <a:r>
              <a:rPr lang="en-US" sz="24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실제</a:t>
            </a:r>
            <a:r>
              <a:rPr lang="en-US" sz="24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4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도로</a:t>
            </a:r>
            <a:r>
              <a:rPr lang="en-US" sz="24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4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경로를</a:t>
            </a:r>
            <a:r>
              <a:rPr lang="en-US" sz="24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4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그려줌</a:t>
            </a:r>
            <a:r>
              <a:rPr lang="en-US" sz="24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32012" y="4995388"/>
            <a:ext cx="5367189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➡️ ORS(OpenRouteService) 연동 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32012" y="4442448"/>
            <a:ext cx="10013752" cy="403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➡️ </a:t>
            </a:r>
            <a:r>
              <a:rPr lang="en-US" sz="24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대구광역시</a:t>
            </a:r>
            <a:r>
              <a:rPr lang="en-US" sz="24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4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공공</a:t>
            </a:r>
            <a:r>
              <a:rPr lang="en-US" sz="24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4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API에서</a:t>
            </a:r>
            <a:r>
              <a:rPr lang="en-US" sz="24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4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NodeID</a:t>
            </a:r>
            <a:r>
              <a:rPr lang="en-US" sz="24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, </a:t>
            </a:r>
            <a:r>
              <a:rPr lang="en-US" sz="24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RouteID</a:t>
            </a:r>
            <a:r>
              <a:rPr lang="en-US" sz="24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4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정보가</a:t>
            </a:r>
            <a:r>
              <a:rPr lang="en-US" sz="24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4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완전하지</a:t>
            </a:r>
            <a:r>
              <a:rPr lang="en-US" sz="24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4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않음</a:t>
            </a:r>
            <a:r>
              <a:rPr lang="en-US" sz="24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11466094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339054" y="2831877"/>
            <a:ext cx="6960841" cy="570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REDIS란</a:t>
            </a:r>
            <a:r>
              <a:rPr lang="en-US" sz="3200" b="1" spc="217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39054" y="5267737"/>
            <a:ext cx="11130807" cy="453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5" lvl="1" indent="-302257" algn="l">
              <a:lnSpc>
                <a:spcPts val="3919"/>
              </a:lnSpc>
              <a:buFont typeface="Arial"/>
              <a:buChar char="•"/>
            </a:pP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데이터를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디스크가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아니라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메모리에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저장하기때문에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매우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빠름</a:t>
            </a:r>
            <a:endParaRPr lang="en-US" sz="27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339054" y="4569237"/>
            <a:ext cx="6195346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5" lvl="1" indent="-302257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서버 재시작 시 모든 데이터 유실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39054" y="5966238"/>
            <a:ext cx="11130807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5" lvl="1" indent="-302257" algn="l">
              <a:lnSpc>
                <a:spcPts val="3919"/>
              </a:lnSpc>
              <a:buFont typeface="Arial"/>
              <a:buChar char="•"/>
            </a:pP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단, JPA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Repository에는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저장되지</a:t>
            </a:r>
            <a:r>
              <a:rPr lang="en-US" sz="279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않음</a:t>
            </a:r>
            <a:endParaRPr lang="en-US" sz="27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339054" y="3870736"/>
            <a:ext cx="5575102" cy="450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5" lvl="1" indent="-302257" algn="l">
              <a:lnSpc>
                <a:spcPts val="3919"/>
              </a:lnSpc>
              <a:buFont typeface="Arial"/>
              <a:buChar char="•"/>
            </a:pP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In-Memory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데이터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저장소</a:t>
            </a:r>
            <a:endParaRPr lang="en-US" sz="27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339054" y="6664738"/>
            <a:ext cx="11130807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5" lvl="1" indent="-302257" algn="l">
              <a:lnSpc>
                <a:spcPts val="3919"/>
              </a:lnSpc>
              <a:buFont typeface="Arial"/>
              <a:buChar char="•"/>
            </a:pP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한번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불러온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데이터를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Redis에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저장해서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빠르게</a:t>
            </a:r>
            <a:r>
              <a:rPr lang="en-US" sz="279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불러옴</a:t>
            </a:r>
            <a:endParaRPr lang="en-US" sz="27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339054" y="7360063"/>
            <a:ext cx="11130807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5" lvl="1" indent="-302257" algn="l">
              <a:lnSpc>
                <a:spcPts val="3919"/>
              </a:lnSpc>
              <a:buFont typeface="Arial"/>
              <a:buChar char="•"/>
            </a:pP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관리자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페이지에서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실시간으로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Redis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사용량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볼 수 </a:t>
            </a:r>
            <a:r>
              <a:rPr lang="en-US" sz="2799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있게</a:t>
            </a:r>
            <a:r>
              <a:rPr lang="en-US" sz="279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구현</a:t>
            </a:r>
            <a:endParaRPr lang="en-US" sz="27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sp>
        <p:nvSpPr>
          <p:cNvPr id="13" name="Freeform 13"/>
          <p:cNvSpPr/>
          <p:nvPr/>
        </p:nvSpPr>
        <p:spPr>
          <a:xfrm>
            <a:off x="9122228" y="2318303"/>
            <a:ext cx="5719717" cy="2353934"/>
          </a:xfrm>
          <a:custGeom>
            <a:avLst/>
            <a:gdLst/>
            <a:ahLst/>
            <a:cxnLst/>
            <a:rect l="l" t="t" r="r" b="b"/>
            <a:pathLst>
              <a:path w="9042590" h="3767746">
                <a:moveTo>
                  <a:pt x="0" y="0"/>
                </a:moveTo>
                <a:lnTo>
                  <a:pt x="9042590" y="0"/>
                </a:lnTo>
                <a:lnTo>
                  <a:pt x="9042590" y="3767746"/>
                </a:lnTo>
                <a:lnTo>
                  <a:pt x="0" y="37677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solidFill>
              <a:schemeClr val="bg1">
                <a:lumMod val="85000"/>
              </a:schemeClr>
            </a:solidFill>
          </a:ln>
        </p:spPr>
      </p:sp>
      <p:sp>
        <p:nvSpPr>
          <p:cNvPr id="14" name="Freeform 14"/>
          <p:cNvSpPr/>
          <p:nvPr/>
        </p:nvSpPr>
        <p:spPr>
          <a:xfrm>
            <a:off x="11949429" y="3208370"/>
            <a:ext cx="5719716" cy="2110867"/>
          </a:xfrm>
          <a:custGeom>
            <a:avLst/>
            <a:gdLst/>
            <a:ahLst/>
            <a:cxnLst/>
            <a:rect l="l" t="t" r="r" b="b"/>
            <a:pathLst>
              <a:path w="9042590" h="3204749">
                <a:moveTo>
                  <a:pt x="0" y="0"/>
                </a:moveTo>
                <a:lnTo>
                  <a:pt x="9042590" y="0"/>
                </a:lnTo>
                <a:lnTo>
                  <a:pt x="9042590" y="3204750"/>
                </a:lnTo>
                <a:lnTo>
                  <a:pt x="0" y="3204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</p:spTree>
    <p:extLst>
      <p:ext uri="{BB962C8B-B14F-4D97-AF65-F5344CB8AC3E}">
        <p14:creationId xmlns:p14="http://schemas.microsoft.com/office/powerpoint/2010/main" val="3575132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339054" y="2812827"/>
            <a:ext cx="6960841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24"/>
              </a:lnSpc>
            </a:pPr>
            <a:r>
              <a:rPr lang="en-US" sz="3499" b="1" spc="23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관리자 모니터링 시스템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39054" y="4097404"/>
            <a:ext cx="11376946" cy="453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5" lvl="1" indent="-302257" algn="l">
              <a:lnSpc>
                <a:spcPts val="3919"/>
              </a:lnSpc>
              <a:buFont typeface="Arial"/>
              <a:buChar char="•"/>
            </a:pP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현재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Redis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연결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중인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클라이언트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및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실시간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사용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현황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시각화</a:t>
            </a:r>
            <a:endParaRPr lang="en-US" sz="27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339054" y="6145970"/>
            <a:ext cx="9624346" cy="453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5" lvl="1" indent="-302257" algn="l">
              <a:lnSpc>
                <a:spcPts val="3919"/>
              </a:lnSpc>
              <a:buFont typeface="Arial"/>
              <a:buChar char="•"/>
            </a:pP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Spring AOP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기반의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관리자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행위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추적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로그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시스템</a:t>
            </a:r>
            <a:endParaRPr lang="en-US" sz="27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339054" y="5121687"/>
            <a:ext cx="12443746" cy="453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5" lvl="1" indent="-302257" algn="l">
              <a:lnSpc>
                <a:spcPts val="3919"/>
              </a:lnSpc>
              <a:buFont typeface="Arial"/>
              <a:buChar char="•"/>
            </a:pP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Redis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연결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수, 키 수,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메모리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사용량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등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핵심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지표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실시간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대시보드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제공</a:t>
            </a:r>
            <a:endParaRPr lang="en-US" sz="27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39054" y="7171384"/>
            <a:ext cx="11130807" cy="453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5" lvl="1" indent="-302257" algn="l">
              <a:lnSpc>
                <a:spcPts val="3919"/>
              </a:lnSpc>
              <a:buFont typeface="Arial"/>
              <a:buChar char="•"/>
            </a:pP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관리자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활동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추적을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통해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보안성과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책임성을</a:t>
            </a:r>
            <a:r>
              <a:rPr lang="en-US" sz="2799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99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강화</a:t>
            </a:r>
            <a:endParaRPr lang="en-US" sz="2799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11693976" y="5885252"/>
            <a:ext cx="4265628" cy="3459525"/>
          </a:xfrm>
          <a:custGeom>
            <a:avLst/>
            <a:gdLst/>
            <a:ahLst/>
            <a:cxnLst/>
            <a:rect l="l" t="t" r="r" b="b"/>
            <a:pathLst>
              <a:path w="6130411" h="4971908">
                <a:moveTo>
                  <a:pt x="0" y="0"/>
                </a:moveTo>
                <a:lnTo>
                  <a:pt x="6130411" y="0"/>
                </a:lnTo>
                <a:lnTo>
                  <a:pt x="6130411" y="4971908"/>
                </a:lnTo>
                <a:lnTo>
                  <a:pt x="0" y="4971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</p:spTree>
    <p:extLst>
      <p:ext uri="{BB962C8B-B14F-4D97-AF65-F5344CB8AC3E}">
        <p14:creationId xmlns:p14="http://schemas.microsoft.com/office/powerpoint/2010/main" val="6384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769899" y="2353511"/>
            <a:ext cx="1248912" cy="1248912"/>
          </a:xfrm>
          <a:custGeom>
            <a:avLst/>
            <a:gdLst/>
            <a:ahLst/>
            <a:cxnLst/>
            <a:rect l="l" t="t" r="r" b="b"/>
            <a:pathLst>
              <a:path w="1248912" h="1248912">
                <a:moveTo>
                  <a:pt x="0" y="0"/>
                </a:moveTo>
                <a:lnTo>
                  <a:pt x="1248912" y="0"/>
                </a:lnTo>
                <a:lnTo>
                  <a:pt x="1248912" y="1248912"/>
                </a:lnTo>
                <a:lnTo>
                  <a:pt x="0" y="12489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368085" y="2620462"/>
            <a:ext cx="7651181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관리자 모니터링 시스템</a:t>
            </a:r>
          </a:p>
        </p:txBody>
      </p:sp>
      <p:sp>
        <p:nvSpPr>
          <p:cNvPr id="11" name="Freeform 11"/>
          <p:cNvSpPr/>
          <p:nvPr/>
        </p:nvSpPr>
        <p:spPr>
          <a:xfrm>
            <a:off x="990600" y="6489602"/>
            <a:ext cx="15119520" cy="3014600"/>
          </a:xfrm>
          <a:custGeom>
            <a:avLst/>
            <a:gdLst/>
            <a:ahLst/>
            <a:cxnLst/>
            <a:rect l="l" t="t" r="r" b="b"/>
            <a:pathLst>
              <a:path w="16634520" h="3817926">
                <a:moveTo>
                  <a:pt x="0" y="0"/>
                </a:moveTo>
                <a:lnTo>
                  <a:pt x="16634520" y="0"/>
                </a:lnTo>
                <a:lnTo>
                  <a:pt x="16634520" y="3817926"/>
                </a:lnTo>
                <a:lnTo>
                  <a:pt x="0" y="38179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91161"/>
            </a:stretch>
          </a:blipFill>
          <a:ln>
            <a:solidFill>
              <a:schemeClr val="bg1">
                <a:lumMod val="85000"/>
              </a:scheme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2175871" y="3725943"/>
            <a:ext cx="14355122" cy="151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63"/>
              </a:lnSpc>
            </a:pPr>
            <a:r>
              <a:rPr lang="en-US" sz="2931" b="1" u="none" strike="noStrike" spc="199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✅ 구현 기능</a:t>
            </a:r>
          </a:p>
          <a:p>
            <a:pPr marL="0" lvl="0" indent="0" algn="l">
              <a:lnSpc>
                <a:spcPts val="5863"/>
              </a:lnSpc>
            </a:pPr>
            <a:endParaRPr lang="en-US" sz="2931" b="1" u="none" strike="noStrike" spc="199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돋움" panose="020B0604000101010101" pitchFamily="50" charset="-127"/>
              <a:sym typeface="네모고딕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959439" y="1035793"/>
            <a:ext cx="8421812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sp>
        <p:nvSpPr>
          <p:cNvPr id="13" name="Freeform 9"/>
          <p:cNvSpPr/>
          <p:nvPr/>
        </p:nvSpPr>
        <p:spPr>
          <a:xfrm>
            <a:off x="10022895" y="2682897"/>
            <a:ext cx="6172200" cy="4653564"/>
          </a:xfrm>
          <a:custGeom>
            <a:avLst/>
            <a:gdLst/>
            <a:ahLst/>
            <a:cxnLst/>
            <a:rect l="l" t="t" r="r" b="b"/>
            <a:pathLst>
              <a:path w="7381372" h="5572084">
                <a:moveTo>
                  <a:pt x="0" y="0"/>
                </a:moveTo>
                <a:lnTo>
                  <a:pt x="7381372" y="0"/>
                </a:lnTo>
                <a:lnTo>
                  <a:pt x="7381372" y="5572084"/>
                </a:lnTo>
                <a:lnTo>
                  <a:pt x="0" y="55720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sp>
        <p:nvSpPr>
          <p:cNvPr id="7" name="TextBox 7"/>
          <p:cNvSpPr txBox="1"/>
          <p:nvPr/>
        </p:nvSpPr>
        <p:spPr>
          <a:xfrm>
            <a:off x="2386228" y="4363359"/>
            <a:ext cx="8007512" cy="3847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6000"/>
              </a:lnSpc>
              <a:buFont typeface="Arial"/>
              <a:buChar char="•"/>
            </a:pPr>
            <a:r>
              <a:rPr lang="en-US" sz="3000" b="1" spc="204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실시간 API 응답 속도 추적</a:t>
            </a:r>
          </a:p>
          <a:p>
            <a:pPr marL="647702" lvl="1" indent="-323851" algn="l">
              <a:lnSpc>
                <a:spcPts val="6000"/>
              </a:lnSpc>
              <a:buFont typeface="Arial"/>
              <a:buChar char="•"/>
            </a:pPr>
            <a:r>
              <a:rPr lang="en-US" sz="3000" b="1" spc="204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Redis 사용 현황 확인</a:t>
            </a:r>
          </a:p>
          <a:p>
            <a:pPr marL="647702" lvl="1" indent="-323851" algn="l">
              <a:lnSpc>
                <a:spcPts val="6000"/>
              </a:lnSpc>
              <a:buFont typeface="Arial"/>
              <a:buChar char="•"/>
            </a:pPr>
            <a:r>
              <a:rPr lang="en-US" sz="3000" b="1" spc="204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관리자 로그 히스토리 추적</a:t>
            </a:r>
          </a:p>
          <a:p>
            <a:pPr marL="647702" lvl="1" indent="-323851" algn="l">
              <a:lnSpc>
                <a:spcPts val="6000"/>
              </a:lnSpc>
              <a:buFont typeface="Arial"/>
              <a:buChar char="•"/>
            </a:pPr>
            <a:r>
              <a:rPr lang="en-US" sz="3000" b="1" spc="204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이상 징후 감지 기반 대응 가능</a:t>
            </a:r>
          </a:p>
          <a:p>
            <a:pPr algn="l">
              <a:lnSpc>
                <a:spcPts val="6000"/>
              </a:lnSpc>
            </a:pPr>
            <a:endParaRPr lang="en-US" sz="3000" b="1" spc="204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</p:spTree>
    <p:extLst>
      <p:ext uri="{BB962C8B-B14F-4D97-AF65-F5344CB8AC3E}">
        <p14:creationId xmlns:p14="http://schemas.microsoft.com/office/powerpoint/2010/main" val="3695801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769899" y="2353511"/>
            <a:ext cx="1248912" cy="1248912"/>
          </a:xfrm>
          <a:custGeom>
            <a:avLst/>
            <a:gdLst/>
            <a:ahLst/>
            <a:cxnLst/>
            <a:rect l="l" t="t" r="r" b="b"/>
            <a:pathLst>
              <a:path w="1248912" h="1248912">
                <a:moveTo>
                  <a:pt x="0" y="0"/>
                </a:moveTo>
                <a:lnTo>
                  <a:pt x="1248912" y="0"/>
                </a:lnTo>
                <a:lnTo>
                  <a:pt x="1248912" y="1248912"/>
                </a:lnTo>
                <a:lnTo>
                  <a:pt x="0" y="12489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266282" y="3430665"/>
            <a:ext cx="5980500" cy="5802971"/>
          </a:xfrm>
          <a:custGeom>
            <a:avLst/>
            <a:gdLst/>
            <a:ahLst/>
            <a:cxnLst/>
            <a:rect l="l" t="t" r="r" b="b"/>
            <a:pathLst>
              <a:path w="5980500" h="5802971">
                <a:moveTo>
                  <a:pt x="0" y="0"/>
                </a:moveTo>
                <a:lnTo>
                  <a:pt x="5980500" y="0"/>
                </a:lnTo>
                <a:lnTo>
                  <a:pt x="5980500" y="5802970"/>
                </a:lnTo>
                <a:lnTo>
                  <a:pt x="0" y="5802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993754" y="3430665"/>
            <a:ext cx="7661049" cy="5827635"/>
          </a:xfrm>
          <a:custGeom>
            <a:avLst/>
            <a:gdLst/>
            <a:ahLst/>
            <a:cxnLst/>
            <a:rect l="l" t="t" r="r" b="b"/>
            <a:pathLst>
              <a:path w="7661049" h="5827635">
                <a:moveTo>
                  <a:pt x="0" y="0"/>
                </a:moveTo>
                <a:lnTo>
                  <a:pt x="7661049" y="0"/>
                </a:lnTo>
                <a:lnTo>
                  <a:pt x="7661049" y="5827635"/>
                </a:lnTo>
                <a:lnTo>
                  <a:pt x="0" y="58276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28575" cap="rnd">
            <a:solidFill>
              <a:srgbClr val="62AEFC"/>
            </a:solidFill>
            <a:prstDash val="solid"/>
            <a:round/>
          </a:ln>
        </p:spPr>
      </p:sp>
      <p:sp>
        <p:nvSpPr>
          <p:cNvPr id="8" name="TextBox 8"/>
          <p:cNvSpPr txBox="1"/>
          <p:nvPr/>
        </p:nvSpPr>
        <p:spPr>
          <a:xfrm>
            <a:off x="2368085" y="2620462"/>
            <a:ext cx="7651181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관리자페이지 - 공지사항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59439" y="1035793"/>
            <a:ext cx="8421812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sp>
        <p:nvSpPr>
          <p:cNvPr id="10" name="AutoShape 10"/>
          <p:cNvSpPr/>
          <p:nvPr/>
        </p:nvSpPr>
        <p:spPr>
          <a:xfrm flipV="1">
            <a:off x="8246782" y="6344482"/>
            <a:ext cx="746972" cy="2307665"/>
          </a:xfrm>
          <a:prstGeom prst="line">
            <a:avLst/>
          </a:prstGeom>
          <a:ln w="38100" cap="flat">
            <a:solidFill>
              <a:srgbClr val="62AEF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2266282" y="8092058"/>
            <a:ext cx="5980500" cy="1019713"/>
            <a:chOff x="0" y="0"/>
            <a:chExt cx="1575111" cy="26856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5111" cy="268566"/>
            </a:xfrm>
            <a:custGeom>
              <a:avLst/>
              <a:gdLst/>
              <a:ahLst/>
              <a:cxnLst/>
              <a:rect l="l" t="t" r="r" b="b"/>
              <a:pathLst>
                <a:path w="1575111" h="268566">
                  <a:moveTo>
                    <a:pt x="36247" y="0"/>
                  </a:moveTo>
                  <a:lnTo>
                    <a:pt x="1538864" y="0"/>
                  </a:lnTo>
                  <a:cubicBezTo>
                    <a:pt x="1548477" y="0"/>
                    <a:pt x="1557697" y="3819"/>
                    <a:pt x="1564495" y="10616"/>
                  </a:cubicBezTo>
                  <a:cubicBezTo>
                    <a:pt x="1571292" y="17414"/>
                    <a:pt x="1575111" y="26634"/>
                    <a:pt x="1575111" y="36247"/>
                  </a:cubicBezTo>
                  <a:lnTo>
                    <a:pt x="1575111" y="232320"/>
                  </a:lnTo>
                  <a:cubicBezTo>
                    <a:pt x="1575111" y="252338"/>
                    <a:pt x="1558883" y="268566"/>
                    <a:pt x="1538864" y="268566"/>
                  </a:cubicBezTo>
                  <a:lnTo>
                    <a:pt x="36247" y="268566"/>
                  </a:lnTo>
                  <a:cubicBezTo>
                    <a:pt x="26634" y="268566"/>
                    <a:pt x="17414" y="264747"/>
                    <a:pt x="10616" y="257950"/>
                  </a:cubicBezTo>
                  <a:cubicBezTo>
                    <a:pt x="3819" y="251152"/>
                    <a:pt x="0" y="241933"/>
                    <a:pt x="0" y="232320"/>
                  </a:cubicBezTo>
                  <a:lnTo>
                    <a:pt x="0" y="36247"/>
                  </a:lnTo>
                  <a:cubicBezTo>
                    <a:pt x="0" y="26634"/>
                    <a:pt x="3819" y="17414"/>
                    <a:pt x="10616" y="10616"/>
                  </a:cubicBezTo>
                  <a:cubicBezTo>
                    <a:pt x="17414" y="3819"/>
                    <a:pt x="26634" y="0"/>
                    <a:pt x="3624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62AEFC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575111" cy="306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87297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769899" y="2353511"/>
            <a:ext cx="1248912" cy="1248912"/>
          </a:xfrm>
          <a:custGeom>
            <a:avLst/>
            <a:gdLst/>
            <a:ahLst/>
            <a:cxnLst/>
            <a:rect l="l" t="t" r="r" b="b"/>
            <a:pathLst>
              <a:path w="1248912" h="1248912">
                <a:moveTo>
                  <a:pt x="0" y="0"/>
                </a:moveTo>
                <a:lnTo>
                  <a:pt x="1248912" y="0"/>
                </a:lnTo>
                <a:lnTo>
                  <a:pt x="1248912" y="1248912"/>
                </a:lnTo>
                <a:lnTo>
                  <a:pt x="0" y="12489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184638" y="3503408"/>
            <a:ext cx="8607364" cy="553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8"/>
              </a:lnSpc>
            </a:pPr>
            <a:r>
              <a:rPr lang="ko-KR" altLang="en-US" sz="2719" b="1" spc="184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목적</a:t>
            </a:r>
            <a:r>
              <a:rPr lang="en-US" altLang="ko-KR" sz="2719" b="1" spc="184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: </a:t>
            </a:r>
            <a:r>
              <a:rPr lang="en-US" sz="2719" b="1" spc="184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관리자가 공지사항을 등록·수정하고 팝업</a:t>
            </a:r>
          </a:p>
          <a:p>
            <a:pPr algn="l">
              <a:lnSpc>
                <a:spcPts val="5438"/>
              </a:lnSpc>
            </a:pPr>
            <a:r>
              <a:rPr lang="en-US" sz="2719" b="1" spc="184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태로 사용자에게 노출하기 위한 기능</a:t>
            </a:r>
          </a:p>
          <a:p>
            <a:pPr algn="l">
              <a:lnSpc>
                <a:spcPts val="5438"/>
              </a:lnSpc>
            </a:pPr>
            <a:endParaRPr lang="en-US" sz="2719" b="1" spc="184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marL="0" lvl="0" indent="0" algn="l">
              <a:lnSpc>
                <a:spcPts val="5438"/>
              </a:lnSpc>
            </a:pPr>
            <a:r>
              <a:rPr lang="en-US" sz="2719" b="1" u="none" strike="noStrike" spc="184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✅ 구현 기능</a:t>
            </a:r>
          </a:p>
          <a:p>
            <a:pPr marL="587090" lvl="1" indent="-293545" algn="l">
              <a:lnSpc>
                <a:spcPts val="5438"/>
              </a:lnSpc>
              <a:buFont typeface="Arial"/>
              <a:buChar char="•"/>
            </a:pPr>
            <a:r>
              <a:rPr lang="en-US" sz="2719" b="1" u="none" strike="noStrike" spc="184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관리자 전용 공지사항 CRUD 기능 제공</a:t>
            </a:r>
          </a:p>
          <a:p>
            <a:pPr marL="587090" lvl="1" indent="-293545" algn="l">
              <a:lnSpc>
                <a:spcPts val="5438"/>
              </a:lnSpc>
              <a:buFont typeface="Arial"/>
              <a:buChar char="•"/>
            </a:pPr>
            <a:r>
              <a:rPr lang="en-US" sz="2719" b="1" u="none" strike="noStrike" spc="184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@REQUESTPART + MULTIPARTFILE 활용</a:t>
            </a:r>
          </a:p>
          <a:p>
            <a:pPr marL="587090" lvl="1" indent="-293545" algn="l">
              <a:lnSpc>
                <a:spcPts val="5438"/>
              </a:lnSpc>
              <a:buFont typeface="Arial"/>
              <a:buChar char="•"/>
            </a:pPr>
            <a:r>
              <a:rPr lang="en-US" sz="2719" b="1" u="none" strike="noStrike" spc="184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비동기 저장 (FETCH API + FORMDATA)</a:t>
            </a:r>
          </a:p>
          <a:p>
            <a:pPr marL="587090" lvl="1" indent="-293545" algn="l">
              <a:lnSpc>
                <a:spcPts val="5438"/>
              </a:lnSpc>
              <a:buFont typeface="Arial"/>
              <a:buChar char="•"/>
            </a:pPr>
            <a:r>
              <a:rPr lang="en-US" sz="2719" b="1" u="none" strike="noStrike" spc="184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첨부파일은 S3 OR 로컬 저장 가능 구조 설계</a:t>
            </a:r>
          </a:p>
        </p:txBody>
      </p:sp>
      <p:sp>
        <p:nvSpPr>
          <p:cNvPr id="7" name="Freeform 7"/>
          <p:cNvSpPr/>
          <p:nvPr/>
        </p:nvSpPr>
        <p:spPr>
          <a:xfrm>
            <a:off x="10349718" y="2620462"/>
            <a:ext cx="4302515" cy="6523538"/>
          </a:xfrm>
          <a:custGeom>
            <a:avLst/>
            <a:gdLst/>
            <a:ahLst/>
            <a:cxnLst/>
            <a:rect l="l" t="t" r="r" b="b"/>
            <a:pathLst>
              <a:path w="4302515" h="6523538">
                <a:moveTo>
                  <a:pt x="0" y="0"/>
                </a:moveTo>
                <a:lnTo>
                  <a:pt x="4302515" y="0"/>
                </a:lnTo>
                <a:lnTo>
                  <a:pt x="4302515" y="6523538"/>
                </a:lnTo>
                <a:lnTo>
                  <a:pt x="0" y="65235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2582"/>
            </a:stretch>
          </a:blipFill>
          <a:ln w="19050" cap="sq">
            <a:solidFill>
              <a:schemeClr val="bg1">
                <a:lumMod val="85000"/>
              </a:schemeClr>
            </a:solidFill>
            <a:prstDash val="solid"/>
            <a:miter/>
          </a:ln>
        </p:spPr>
      </p:sp>
      <p:sp>
        <p:nvSpPr>
          <p:cNvPr id="8" name="TextBox 8"/>
          <p:cNvSpPr txBox="1"/>
          <p:nvPr/>
        </p:nvSpPr>
        <p:spPr>
          <a:xfrm>
            <a:off x="2368085" y="2620462"/>
            <a:ext cx="7651181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관리자페이지 - 공지사항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722318" y="1785974"/>
            <a:ext cx="4708930" cy="6715052"/>
            <a:chOff x="0" y="0"/>
            <a:chExt cx="6278574" cy="8953403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11" name="Freeform 11"/>
            <p:cNvSpPr/>
            <p:nvPr/>
          </p:nvSpPr>
          <p:spPr>
            <a:xfrm>
              <a:off x="0" y="0"/>
              <a:ext cx="6278574" cy="8953403"/>
            </a:xfrm>
            <a:custGeom>
              <a:avLst/>
              <a:gdLst/>
              <a:ahLst/>
              <a:cxnLst/>
              <a:rect l="l" t="t" r="r" b="b"/>
              <a:pathLst>
                <a:path w="6278574" h="8953403">
                  <a:moveTo>
                    <a:pt x="0" y="0"/>
                  </a:moveTo>
                  <a:lnTo>
                    <a:pt x="6278574" y="0"/>
                  </a:lnTo>
                  <a:lnTo>
                    <a:pt x="6278574" y="8953403"/>
                  </a:lnTo>
                  <a:lnTo>
                    <a:pt x="0" y="8953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w="19050" cap="sq">
              <a:solidFill>
                <a:schemeClr val="bg1">
                  <a:lumMod val="85000"/>
                </a:schemeClr>
              </a:solidFill>
              <a:prstDash val="solid"/>
              <a:miter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0" y="6364761"/>
              <a:ext cx="6278574" cy="2588642"/>
              <a:chOff x="0" y="0"/>
              <a:chExt cx="1240212" cy="51133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240212" cy="511337"/>
              </a:xfrm>
              <a:custGeom>
                <a:avLst/>
                <a:gdLst/>
                <a:ahLst/>
                <a:cxnLst/>
                <a:rect l="l" t="t" r="r" b="b"/>
                <a:pathLst>
                  <a:path w="1240212" h="511337">
                    <a:moveTo>
                      <a:pt x="27950" y="0"/>
                    </a:moveTo>
                    <a:lnTo>
                      <a:pt x="1212263" y="0"/>
                    </a:lnTo>
                    <a:cubicBezTo>
                      <a:pt x="1219675" y="0"/>
                      <a:pt x="1226784" y="2945"/>
                      <a:pt x="1232026" y="8186"/>
                    </a:cubicBezTo>
                    <a:cubicBezTo>
                      <a:pt x="1237267" y="13428"/>
                      <a:pt x="1240212" y="20537"/>
                      <a:pt x="1240212" y="27950"/>
                    </a:cubicBezTo>
                    <a:lnTo>
                      <a:pt x="1240212" y="483387"/>
                    </a:lnTo>
                    <a:cubicBezTo>
                      <a:pt x="1240212" y="490800"/>
                      <a:pt x="1237267" y="497909"/>
                      <a:pt x="1232026" y="503150"/>
                    </a:cubicBezTo>
                    <a:cubicBezTo>
                      <a:pt x="1226784" y="508392"/>
                      <a:pt x="1219675" y="511337"/>
                      <a:pt x="1212263" y="511337"/>
                    </a:cubicBezTo>
                    <a:lnTo>
                      <a:pt x="27950" y="511337"/>
                    </a:lnTo>
                    <a:cubicBezTo>
                      <a:pt x="20537" y="511337"/>
                      <a:pt x="13428" y="508392"/>
                      <a:pt x="8186" y="503150"/>
                    </a:cubicBezTo>
                    <a:cubicBezTo>
                      <a:pt x="2945" y="497909"/>
                      <a:pt x="0" y="490800"/>
                      <a:pt x="0" y="483387"/>
                    </a:cubicBezTo>
                    <a:lnTo>
                      <a:pt x="0" y="27950"/>
                    </a:lnTo>
                    <a:cubicBezTo>
                      <a:pt x="0" y="20537"/>
                      <a:pt x="2945" y="13428"/>
                      <a:pt x="8186" y="8186"/>
                    </a:cubicBezTo>
                    <a:cubicBezTo>
                      <a:pt x="13428" y="2945"/>
                      <a:pt x="20537" y="0"/>
                      <a:pt x="2795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chemeClr val="bg1">
                    <a:lumMod val="85000"/>
                  </a:schemeClr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240212" cy="549437"/>
              </a:xfrm>
              <a:prstGeom prst="rect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latin typeface="Agency FB" panose="020B0503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96508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769899" y="2412675"/>
            <a:ext cx="1248912" cy="1248912"/>
          </a:xfrm>
          <a:custGeom>
            <a:avLst/>
            <a:gdLst/>
            <a:ahLst/>
            <a:cxnLst/>
            <a:rect l="l" t="t" r="r" b="b"/>
            <a:pathLst>
              <a:path w="1248912" h="1248912">
                <a:moveTo>
                  <a:pt x="0" y="0"/>
                </a:moveTo>
                <a:lnTo>
                  <a:pt x="1248912" y="0"/>
                </a:lnTo>
                <a:lnTo>
                  <a:pt x="1248912" y="1248912"/>
                </a:lnTo>
                <a:lnTo>
                  <a:pt x="0" y="12489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263391" y="3527365"/>
            <a:ext cx="13651890" cy="5573369"/>
          </a:xfrm>
          <a:custGeom>
            <a:avLst/>
            <a:gdLst/>
            <a:ahLst/>
            <a:cxnLst/>
            <a:rect l="l" t="t" r="r" b="b"/>
            <a:pathLst>
              <a:path w="3595559" h="1467883">
                <a:moveTo>
                  <a:pt x="9641" y="0"/>
                </a:moveTo>
                <a:lnTo>
                  <a:pt x="3585919" y="0"/>
                </a:lnTo>
                <a:cubicBezTo>
                  <a:pt x="3588476" y="0"/>
                  <a:pt x="3590928" y="1016"/>
                  <a:pt x="3592736" y="2824"/>
                </a:cubicBezTo>
                <a:cubicBezTo>
                  <a:pt x="3594543" y="4632"/>
                  <a:pt x="3595559" y="7084"/>
                  <a:pt x="3595559" y="9641"/>
                </a:cubicBezTo>
                <a:lnTo>
                  <a:pt x="3595559" y="1458243"/>
                </a:lnTo>
                <a:cubicBezTo>
                  <a:pt x="3595559" y="1460800"/>
                  <a:pt x="3594543" y="1463252"/>
                  <a:pt x="3592736" y="1465060"/>
                </a:cubicBezTo>
                <a:cubicBezTo>
                  <a:pt x="3590928" y="1466868"/>
                  <a:pt x="3588476" y="1467883"/>
                  <a:pt x="3585919" y="1467883"/>
                </a:cubicBezTo>
                <a:lnTo>
                  <a:pt x="9641" y="1467883"/>
                </a:lnTo>
                <a:cubicBezTo>
                  <a:pt x="7084" y="1467883"/>
                  <a:pt x="4632" y="1466868"/>
                  <a:pt x="2824" y="1465060"/>
                </a:cubicBezTo>
                <a:cubicBezTo>
                  <a:pt x="1016" y="1463252"/>
                  <a:pt x="0" y="1460800"/>
                  <a:pt x="0" y="1458243"/>
                </a:cubicBezTo>
                <a:lnTo>
                  <a:pt x="0" y="9641"/>
                </a:lnTo>
                <a:cubicBezTo>
                  <a:pt x="0" y="7084"/>
                  <a:pt x="1016" y="4632"/>
                  <a:pt x="2824" y="2824"/>
                </a:cubicBezTo>
                <a:cubicBezTo>
                  <a:pt x="4632" y="1016"/>
                  <a:pt x="7084" y="0"/>
                  <a:pt x="9641" y="0"/>
                </a:cubicBezTo>
                <a:close/>
              </a:path>
            </a:pathLst>
          </a:custGeom>
          <a:solidFill>
            <a:srgbClr val="FEFCF9"/>
          </a:solidFill>
        </p:spPr>
      </p:sp>
      <p:sp>
        <p:nvSpPr>
          <p:cNvPr id="12" name="TextBox 12"/>
          <p:cNvSpPr txBox="1"/>
          <p:nvPr/>
        </p:nvSpPr>
        <p:spPr>
          <a:xfrm>
            <a:off x="2368085" y="2679626"/>
            <a:ext cx="6365295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관리자페이지 - 광고회사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sp>
        <p:nvSpPr>
          <p:cNvPr id="6" name="Freeform 6"/>
          <p:cNvSpPr/>
          <p:nvPr/>
        </p:nvSpPr>
        <p:spPr>
          <a:xfrm>
            <a:off x="2375342" y="3973457"/>
            <a:ext cx="7416863" cy="4690889"/>
          </a:xfrm>
          <a:custGeom>
            <a:avLst/>
            <a:gdLst/>
            <a:ahLst/>
            <a:cxnLst/>
            <a:rect l="l" t="t" r="r" b="b"/>
            <a:pathLst>
              <a:path w="7416863" h="4690889">
                <a:moveTo>
                  <a:pt x="0" y="0"/>
                </a:moveTo>
                <a:lnTo>
                  <a:pt x="7416862" y="0"/>
                </a:lnTo>
                <a:lnTo>
                  <a:pt x="7416862" y="4690889"/>
                </a:lnTo>
                <a:lnTo>
                  <a:pt x="0" y="46908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</p:spTree>
    <p:extLst>
      <p:ext uri="{BB962C8B-B14F-4D97-AF65-F5344CB8AC3E}">
        <p14:creationId xmlns:p14="http://schemas.microsoft.com/office/powerpoint/2010/main" val="33024191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8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9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2" name="Freeform 11"/>
          <p:cNvSpPr/>
          <p:nvPr/>
        </p:nvSpPr>
        <p:spPr>
          <a:xfrm>
            <a:off x="7620000" y="4457700"/>
            <a:ext cx="9443318" cy="5134803"/>
          </a:xfrm>
          <a:custGeom>
            <a:avLst/>
            <a:gdLst/>
            <a:ahLst/>
            <a:cxnLst/>
            <a:rect l="l" t="t" r="r" b="b"/>
            <a:pathLst>
              <a:path w="12591090" h="6846405">
                <a:moveTo>
                  <a:pt x="0" y="0"/>
                </a:moveTo>
                <a:lnTo>
                  <a:pt x="12591090" y="0"/>
                </a:lnTo>
                <a:lnTo>
                  <a:pt x="12591090" y="6846405"/>
                </a:lnTo>
                <a:lnTo>
                  <a:pt x="0" y="68464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solidFill>
              <a:schemeClr val="bg1">
                <a:lumMod val="85000"/>
              </a:schemeClr>
            </a:solidFill>
          </a:ln>
        </p:spPr>
      </p:sp>
      <p:sp>
        <p:nvSpPr>
          <p:cNvPr id="3" name="TextBox 10"/>
          <p:cNvSpPr txBox="1"/>
          <p:nvPr/>
        </p:nvSpPr>
        <p:spPr>
          <a:xfrm>
            <a:off x="2313046" y="3302892"/>
            <a:ext cx="13651890" cy="579036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l">
              <a:lnSpc>
                <a:spcPts val="3640"/>
              </a:lnSpc>
            </a:pPr>
            <a:r>
              <a:rPr lang="en-US" sz="2600" b="1" spc="176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목적</a:t>
            </a:r>
            <a:r>
              <a:rPr lang="en-US" sz="2600" b="1" spc="176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: </a:t>
            </a:r>
            <a:r>
              <a:rPr lang="en-US" sz="2600" b="1" spc="176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광고</a:t>
            </a:r>
            <a:r>
              <a:rPr lang="en-US" sz="2600" b="1" spc="176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600" b="1" spc="176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등록</a:t>
            </a:r>
            <a:r>
              <a:rPr lang="en-US" sz="2600" b="1" spc="176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시 </a:t>
            </a:r>
            <a:r>
              <a:rPr lang="en-US" sz="2600" b="1" spc="176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선택할</a:t>
            </a:r>
            <a:r>
              <a:rPr lang="en-US" sz="2600" b="1" spc="176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600" b="1" spc="176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회사</a:t>
            </a:r>
            <a:r>
              <a:rPr lang="en-US" sz="2600" b="1" spc="176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600" b="1" spc="176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정보를</a:t>
            </a:r>
            <a:r>
              <a:rPr lang="en-US" sz="2600" b="1" spc="17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사전에 </a:t>
            </a:r>
            <a:r>
              <a:rPr lang="en-US" sz="2600" b="1" spc="176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관리하고</a:t>
            </a:r>
            <a:r>
              <a:rPr lang="en-US" sz="2600" b="1" spc="176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600" b="1" spc="176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자동</a:t>
            </a:r>
            <a:r>
              <a:rPr lang="en-US" sz="2600" b="1" spc="176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600" b="1" spc="176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연동하기</a:t>
            </a:r>
            <a:r>
              <a:rPr lang="en-US" sz="2600" b="1" spc="176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600" b="1" spc="176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위한</a:t>
            </a:r>
            <a:r>
              <a:rPr lang="en-US" sz="2600" b="1" spc="176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600" b="1" spc="176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</a:t>
            </a:r>
            <a:endParaRPr lang="en-US" sz="2600" b="1" spc="176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algn="l">
              <a:lnSpc>
                <a:spcPts val="4200"/>
              </a:lnSpc>
            </a:pPr>
            <a:endParaRPr lang="en-US" sz="2600" b="1" spc="176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algn="l">
              <a:lnSpc>
                <a:spcPts val="3779"/>
              </a:lnSpc>
            </a:pPr>
            <a:endParaRPr lang="en-US" sz="2700" b="1" i="1" spc="183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돋움" panose="020B0604000101010101" pitchFamily="50" charset="-127"/>
              <a:sym typeface="네모고딕 Medium"/>
            </a:endParaRPr>
          </a:p>
          <a:p>
            <a:pPr algn="l">
              <a:lnSpc>
                <a:spcPts val="3779"/>
              </a:lnSpc>
            </a:pPr>
            <a:r>
              <a:rPr lang="en-US" sz="2700" b="1" i="1" spc="183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✅ </a:t>
            </a:r>
            <a:r>
              <a:rPr lang="en-US" sz="2700" b="1" i="1" spc="183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구현</a:t>
            </a:r>
            <a:r>
              <a:rPr lang="en-US" sz="2700" b="1" i="1" spc="183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 </a:t>
            </a:r>
            <a:r>
              <a:rPr lang="en-US" sz="2700" b="1" i="1" spc="183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기능</a:t>
            </a:r>
            <a:endParaRPr lang="en-US" sz="2700" b="1" i="1" spc="183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돋움" panose="020B0604000101010101" pitchFamily="50" charset="-127"/>
              <a:sym typeface="네모고딕 Medium"/>
            </a:endParaRP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관리자용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광고회사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CRUD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입력폼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+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테이블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연동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UI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구성</a:t>
            </a:r>
            <a:endParaRPr lang="en-US" sz="2700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광고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등록폼의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회사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선택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</a:p>
          <a:p>
            <a:pPr algn="l">
              <a:lnSpc>
                <a:spcPts val="3779"/>
              </a:lnSpc>
            </a:pP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    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드롭다운과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자동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연동</a:t>
            </a:r>
            <a:endParaRPr lang="en-US" sz="2700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algn="l">
              <a:lnSpc>
                <a:spcPts val="4200"/>
              </a:lnSpc>
            </a:pPr>
            <a:endParaRPr lang="en-US" sz="2700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algn="l">
              <a:lnSpc>
                <a:spcPts val="4200"/>
              </a:lnSpc>
            </a:pPr>
            <a:endParaRPr lang="en-US" sz="2700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sp>
        <p:nvSpPr>
          <p:cNvPr id="4" name="Freeform 5"/>
          <p:cNvSpPr/>
          <p:nvPr/>
        </p:nvSpPr>
        <p:spPr>
          <a:xfrm>
            <a:off x="769899" y="2353511"/>
            <a:ext cx="1248912" cy="1248912"/>
          </a:xfrm>
          <a:custGeom>
            <a:avLst/>
            <a:gdLst/>
            <a:ahLst/>
            <a:cxnLst/>
            <a:rect l="l" t="t" r="r" b="b"/>
            <a:pathLst>
              <a:path w="1248912" h="1248912">
                <a:moveTo>
                  <a:pt x="0" y="0"/>
                </a:moveTo>
                <a:lnTo>
                  <a:pt x="1248912" y="0"/>
                </a:lnTo>
                <a:lnTo>
                  <a:pt x="1248912" y="1248912"/>
                </a:lnTo>
                <a:lnTo>
                  <a:pt x="0" y="12489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8"/>
          <p:cNvSpPr txBox="1"/>
          <p:nvPr/>
        </p:nvSpPr>
        <p:spPr>
          <a:xfrm>
            <a:off x="2368085" y="2620462"/>
            <a:ext cx="7651181" cy="570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관리자페이지 - </a:t>
            </a:r>
            <a:r>
              <a:rPr lang="ko-KR" alt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광고회사</a:t>
            </a:r>
            <a:endParaRPr lang="en-US" sz="3200" b="1" spc="217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돋움" panose="020B0604000101010101" pitchFamily="50" charset="-127"/>
              <a:sym typeface="네모고딕 Medium"/>
            </a:endParaRPr>
          </a:p>
        </p:txBody>
      </p:sp>
      <p:sp>
        <p:nvSpPr>
          <p:cNvPr id="6" name="TextBox 9"/>
          <p:cNvSpPr txBox="1"/>
          <p:nvPr/>
        </p:nvSpPr>
        <p:spPr>
          <a:xfrm>
            <a:off x="4959439" y="1035793"/>
            <a:ext cx="8421812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</p:spTree>
    <p:extLst>
      <p:ext uri="{BB962C8B-B14F-4D97-AF65-F5344CB8AC3E}">
        <p14:creationId xmlns:p14="http://schemas.microsoft.com/office/powerpoint/2010/main" val="31200385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2220803" y="3422476"/>
            <a:ext cx="4484527" cy="6183743"/>
          </a:xfrm>
          <a:custGeom>
            <a:avLst/>
            <a:gdLst/>
            <a:ahLst/>
            <a:cxnLst/>
            <a:rect l="l" t="t" r="r" b="b"/>
            <a:pathLst>
              <a:path w="4484527" h="6183743">
                <a:moveTo>
                  <a:pt x="0" y="0"/>
                </a:moveTo>
                <a:lnTo>
                  <a:pt x="4484528" y="0"/>
                </a:lnTo>
                <a:lnTo>
                  <a:pt x="4484528" y="6183743"/>
                </a:lnTo>
                <a:lnTo>
                  <a:pt x="0" y="6183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246203" y="3737499"/>
            <a:ext cx="8376341" cy="5868721"/>
            <a:chOff x="0" y="0"/>
            <a:chExt cx="11168454" cy="7824961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3548391"/>
              <a:ext cx="5954834" cy="4276570"/>
              <a:chOff x="0" y="0"/>
              <a:chExt cx="1176264" cy="84475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176264" cy="844754"/>
              </a:xfrm>
              <a:custGeom>
                <a:avLst/>
                <a:gdLst/>
                <a:ahLst/>
                <a:cxnLst/>
                <a:rect l="l" t="t" r="r" b="b"/>
                <a:pathLst>
                  <a:path w="1176264" h="844754">
                    <a:moveTo>
                      <a:pt x="29469" y="0"/>
                    </a:moveTo>
                    <a:lnTo>
                      <a:pt x="1146794" y="0"/>
                    </a:lnTo>
                    <a:cubicBezTo>
                      <a:pt x="1163070" y="0"/>
                      <a:pt x="1176264" y="13194"/>
                      <a:pt x="1176264" y="29469"/>
                    </a:cubicBezTo>
                    <a:lnTo>
                      <a:pt x="1176264" y="815285"/>
                    </a:lnTo>
                    <a:cubicBezTo>
                      <a:pt x="1176264" y="831561"/>
                      <a:pt x="1163070" y="844754"/>
                      <a:pt x="1146794" y="844754"/>
                    </a:cubicBezTo>
                    <a:lnTo>
                      <a:pt x="29469" y="844754"/>
                    </a:lnTo>
                    <a:cubicBezTo>
                      <a:pt x="21653" y="844754"/>
                      <a:pt x="14158" y="841650"/>
                      <a:pt x="8631" y="836123"/>
                    </a:cubicBezTo>
                    <a:cubicBezTo>
                      <a:pt x="3105" y="830597"/>
                      <a:pt x="0" y="823101"/>
                      <a:pt x="0" y="815285"/>
                    </a:cubicBezTo>
                    <a:lnTo>
                      <a:pt x="0" y="29469"/>
                    </a:lnTo>
                    <a:cubicBezTo>
                      <a:pt x="0" y="13194"/>
                      <a:pt x="13194" y="0"/>
                      <a:pt x="2946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47625" cap="sq">
                <a:solidFill>
                  <a:srgbClr val="78B7FB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176264" cy="8828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latin typeface="Agency FB" panose="020B0503020202020204" pitchFamily="34" charset="0"/>
                </a:endParaR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0"/>
              <a:ext cx="5954834" cy="3445667"/>
              <a:chOff x="0" y="0"/>
              <a:chExt cx="1176264" cy="68062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176264" cy="680626"/>
              </a:xfrm>
              <a:custGeom>
                <a:avLst/>
                <a:gdLst/>
                <a:ahLst/>
                <a:cxnLst/>
                <a:rect l="l" t="t" r="r" b="b"/>
                <a:pathLst>
                  <a:path w="1176264" h="680626">
                    <a:moveTo>
                      <a:pt x="29469" y="0"/>
                    </a:moveTo>
                    <a:lnTo>
                      <a:pt x="1146794" y="0"/>
                    </a:lnTo>
                    <a:cubicBezTo>
                      <a:pt x="1163070" y="0"/>
                      <a:pt x="1176264" y="13194"/>
                      <a:pt x="1176264" y="29469"/>
                    </a:cubicBezTo>
                    <a:lnTo>
                      <a:pt x="1176264" y="651157"/>
                    </a:lnTo>
                    <a:cubicBezTo>
                      <a:pt x="1176264" y="667432"/>
                      <a:pt x="1163070" y="680626"/>
                      <a:pt x="1146794" y="680626"/>
                    </a:cubicBezTo>
                    <a:lnTo>
                      <a:pt x="29469" y="680626"/>
                    </a:lnTo>
                    <a:cubicBezTo>
                      <a:pt x="13194" y="680626"/>
                      <a:pt x="0" y="667432"/>
                      <a:pt x="0" y="651157"/>
                    </a:cubicBezTo>
                    <a:lnTo>
                      <a:pt x="0" y="29469"/>
                    </a:lnTo>
                    <a:cubicBezTo>
                      <a:pt x="0" y="13194"/>
                      <a:pt x="13194" y="0"/>
                      <a:pt x="2946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47625" cap="sq">
                <a:solidFill>
                  <a:srgbClr val="FA8958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176264" cy="7187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latin typeface="Agency FB" panose="020B0503020202020204" pitchFamily="34" charset="0"/>
                </a:endParaRPr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6090370" y="5123129"/>
              <a:ext cx="599643" cy="896485"/>
            </a:xfrm>
            <a:custGeom>
              <a:avLst/>
              <a:gdLst/>
              <a:ahLst/>
              <a:cxnLst/>
              <a:rect l="l" t="t" r="r" b="b"/>
              <a:pathLst>
                <a:path w="599643" h="896485">
                  <a:moveTo>
                    <a:pt x="0" y="0"/>
                  </a:moveTo>
                  <a:lnTo>
                    <a:pt x="599643" y="0"/>
                  </a:lnTo>
                  <a:lnTo>
                    <a:pt x="599643" y="896485"/>
                  </a:lnTo>
                  <a:lnTo>
                    <a:pt x="0" y="89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6090370" y="1274591"/>
              <a:ext cx="599643" cy="896485"/>
            </a:xfrm>
            <a:custGeom>
              <a:avLst/>
              <a:gdLst/>
              <a:ahLst/>
              <a:cxnLst/>
              <a:rect l="l" t="t" r="r" b="b"/>
              <a:pathLst>
                <a:path w="599643" h="896485">
                  <a:moveTo>
                    <a:pt x="0" y="0"/>
                  </a:moveTo>
                  <a:lnTo>
                    <a:pt x="599643" y="0"/>
                  </a:lnTo>
                  <a:lnTo>
                    <a:pt x="599643" y="896485"/>
                  </a:lnTo>
                  <a:lnTo>
                    <a:pt x="0" y="89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7031851" y="5197327"/>
              <a:ext cx="4136603" cy="854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960"/>
                </a:lnSpc>
              </a:pPr>
              <a:r>
                <a:rPr lang="en-US" sz="3200" b="1" spc="217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함초롬돋움" panose="020B0604000101010101" pitchFamily="50" charset="-127"/>
                  <a:sym typeface="네모고딕 Medium"/>
                </a:rPr>
                <a:t>대시보드용 API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31852" y="1348789"/>
              <a:ext cx="3592794" cy="854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960"/>
                </a:lnSpc>
              </a:pPr>
              <a:r>
                <a:rPr lang="en-US" sz="3200" b="1" spc="217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함초롬돋움" panose="020B0604000101010101" pitchFamily="50" charset="-127"/>
                  <a:sym typeface="네모고딕 Medium"/>
                </a:rPr>
                <a:t>관리자용 API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769899" y="2412675"/>
            <a:ext cx="1248912" cy="1248912"/>
          </a:xfrm>
          <a:custGeom>
            <a:avLst/>
            <a:gdLst/>
            <a:ahLst/>
            <a:cxnLst/>
            <a:rect l="l" t="t" r="r" b="b"/>
            <a:pathLst>
              <a:path w="1248912" h="1248912">
                <a:moveTo>
                  <a:pt x="0" y="0"/>
                </a:moveTo>
                <a:lnTo>
                  <a:pt x="1248912" y="0"/>
                </a:lnTo>
                <a:lnTo>
                  <a:pt x="1248912" y="1248912"/>
                </a:lnTo>
                <a:lnTo>
                  <a:pt x="0" y="12489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2368085" y="2679626"/>
            <a:ext cx="6365295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관리자페이지 - 광고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959439" y="1035793"/>
            <a:ext cx="8421812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</p:spTree>
    <p:extLst>
      <p:ext uri="{BB962C8B-B14F-4D97-AF65-F5344CB8AC3E}">
        <p14:creationId xmlns:p14="http://schemas.microsoft.com/office/powerpoint/2010/main" val="14164479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7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8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3" name="Freeform 22"/>
          <p:cNvSpPr/>
          <p:nvPr/>
        </p:nvSpPr>
        <p:spPr>
          <a:xfrm>
            <a:off x="769899" y="2412675"/>
            <a:ext cx="1248912" cy="1248912"/>
          </a:xfrm>
          <a:custGeom>
            <a:avLst/>
            <a:gdLst/>
            <a:ahLst/>
            <a:cxnLst/>
            <a:rect l="l" t="t" r="r" b="b"/>
            <a:pathLst>
              <a:path w="1248912" h="1248912">
                <a:moveTo>
                  <a:pt x="0" y="0"/>
                </a:moveTo>
                <a:lnTo>
                  <a:pt x="1248912" y="0"/>
                </a:lnTo>
                <a:lnTo>
                  <a:pt x="1248912" y="1248912"/>
                </a:lnTo>
                <a:lnTo>
                  <a:pt x="0" y="12489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23"/>
          <p:cNvSpPr txBox="1"/>
          <p:nvPr/>
        </p:nvSpPr>
        <p:spPr>
          <a:xfrm>
            <a:off x="2368085" y="2679626"/>
            <a:ext cx="6365295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관리자페이지 - 광고</a:t>
            </a:r>
          </a:p>
        </p:txBody>
      </p:sp>
      <p:sp>
        <p:nvSpPr>
          <p:cNvPr id="5" name="TextBox 24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sp>
        <p:nvSpPr>
          <p:cNvPr id="9" name="TextBox 20"/>
          <p:cNvSpPr txBox="1"/>
          <p:nvPr/>
        </p:nvSpPr>
        <p:spPr>
          <a:xfrm>
            <a:off x="2368084" y="3320827"/>
            <a:ext cx="14047797" cy="526390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just">
              <a:lnSpc>
                <a:spcPts val="4050"/>
              </a:lnSpc>
            </a:pPr>
            <a:r>
              <a:rPr lang="en-US" sz="27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목적 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: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배너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및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팝업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광고를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등록·관리하고</a:t>
            </a:r>
            <a:r>
              <a:rPr lang="en-US" sz="27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, 기간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·링크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등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노출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조건을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설정하기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위한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</a:t>
            </a:r>
            <a:endParaRPr lang="en-US" sz="2700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algn="just">
              <a:lnSpc>
                <a:spcPts val="4050"/>
              </a:lnSpc>
            </a:pPr>
            <a:endParaRPr lang="en-US" sz="2700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algn="just">
              <a:lnSpc>
                <a:spcPts val="4050"/>
              </a:lnSpc>
            </a:pP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✅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구현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</a:t>
            </a:r>
            <a:endParaRPr lang="en-US" sz="2700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marL="582930" lvl="1" indent="-291465" algn="just">
              <a:lnSpc>
                <a:spcPts val="4050"/>
              </a:lnSpc>
              <a:buFont typeface="Arial"/>
              <a:buChar char="•"/>
            </a:pP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광고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관리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CRUD</a:t>
            </a:r>
          </a:p>
          <a:p>
            <a:pPr marL="582930" lvl="1" indent="-291465" algn="just">
              <a:lnSpc>
                <a:spcPts val="4050"/>
              </a:lnSpc>
              <a:buFont typeface="Arial"/>
              <a:buChar char="•"/>
            </a:pP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팝업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노출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기간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설정</a:t>
            </a:r>
            <a:endParaRPr lang="en-US" sz="2700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marL="582930" lvl="1" indent="-291465" algn="just">
              <a:lnSpc>
                <a:spcPts val="4050"/>
              </a:lnSpc>
              <a:buFont typeface="Arial"/>
              <a:buChar char="•"/>
            </a:pP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클릭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시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링크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이동</a:t>
            </a:r>
            <a:endParaRPr lang="en-US" sz="2700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marL="582930" lvl="1" indent="-291465" algn="just">
              <a:lnSpc>
                <a:spcPts val="4050"/>
              </a:lnSpc>
              <a:buFont typeface="Arial"/>
              <a:buChar char="•"/>
            </a:pP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광고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등록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시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팝업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여부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설정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가능</a:t>
            </a:r>
            <a:endParaRPr lang="en-US" sz="2700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marL="582930" lvl="1" indent="-291465" algn="just">
              <a:lnSpc>
                <a:spcPts val="4050"/>
              </a:lnSpc>
              <a:buFont typeface="Arial"/>
              <a:buChar char="•"/>
            </a:pPr>
            <a:r>
              <a:rPr lang="en-US" sz="2700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광고</a:t>
            </a:r>
            <a:r>
              <a:rPr lang="en-US" sz="2700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00" b="1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연장</a:t>
            </a:r>
            <a:r>
              <a:rPr lang="en-US" sz="27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기능</a:t>
            </a:r>
            <a:endParaRPr lang="en-US" sz="2700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sp>
        <p:nvSpPr>
          <p:cNvPr id="10" name="Freeform 21"/>
          <p:cNvSpPr/>
          <p:nvPr/>
        </p:nvSpPr>
        <p:spPr>
          <a:xfrm>
            <a:off x="8458200" y="4632801"/>
            <a:ext cx="8491082" cy="4769694"/>
          </a:xfrm>
          <a:custGeom>
            <a:avLst/>
            <a:gdLst/>
            <a:ahLst/>
            <a:cxnLst/>
            <a:rect l="l" t="t" r="r" b="b"/>
            <a:pathLst>
              <a:path w="11321443" h="6578587">
                <a:moveTo>
                  <a:pt x="0" y="0"/>
                </a:moveTo>
                <a:lnTo>
                  <a:pt x="11321443" y="0"/>
                </a:lnTo>
                <a:lnTo>
                  <a:pt x="11321443" y="6578587"/>
                </a:lnTo>
                <a:lnTo>
                  <a:pt x="0" y="65785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8" r="-528"/>
            </a:stretch>
          </a:blipFill>
          <a:ln w="19050" cap="sq">
            <a:solidFill>
              <a:schemeClr val="bg1">
                <a:lumMod val="85000"/>
              </a:schemeClr>
            </a:solidFill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24518133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11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12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7" name="Freeform 22"/>
          <p:cNvSpPr/>
          <p:nvPr/>
        </p:nvSpPr>
        <p:spPr>
          <a:xfrm>
            <a:off x="769899" y="2412675"/>
            <a:ext cx="1248912" cy="1248912"/>
          </a:xfrm>
          <a:custGeom>
            <a:avLst/>
            <a:gdLst/>
            <a:ahLst/>
            <a:cxnLst/>
            <a:rect l="l" t="t" r="r" b="b"/>
            <a:pathLst>
              <a:path w="1248912" h="1248912">
                <a:moveTo>
                  <a:pt x="0" y="0"/>
                </a:moveTo>
                <a:lnTo>
                  <a:pt x="1248912" y="0"/>
                </a:lnTo>
                <a:lnTo>
                  <a:pt x="1248912" y="1248912"/>
                </a:lnTo>
                <a:lnTo>
                  <a:pt x="0" y="12489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23"/>
          <p:cNvSpPr txBox="1"/>
          <p:nvPr/>
        </p:nvSpPr>
        <p:spPr>
          <a:xfrm>
            <a:off x="2368085" y="2679626"/>
            <a:ext cx="6365295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관리자페이지 - 광고</a:t>
            </a:r>
          </a:p>
        </p:txBody>
      </p:sp>
      <p:sp>
        <p:nvSpPr>
          <p:cNvPr id="9" name="TextBox 24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pic>
        <p:nvPicPr>
          <p:cNvPr id="13" name="Picture 2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t="1507" b="1507"/>
          <a:stretch>
            <a:fillRect/>
          </a:stretch>
        </p:blipFill>
        <p:spPr>
          <a:xfrm>
            <a:off x="6629400" y="2679626"/>
            <a:ext cx="10762504" cy="589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804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769899" y="2412675"/>
            <a:ext cx="1248912" cy="1248912"/>
          </a:xfrm>
          <a:custGeom>
            <a:avLst/>
            <a:gdLst/>
            <a:ahLst/>
            <a:cxnLst/>
            <a:rect l="l" t="t" r="r" b="b"/>
            <a:pathLst>
              <a:path w="1248912" h="1248912">
                <a:moveTo>
                  <a:pt x="0" y="0"/>
                </a:moveTo>
                <a:lnTo>
                  <a:pt x="1248912" y="0"/>
                </a:lnTo>
                <a:lnTo>
                  <a:pt x="1248912" y="1248912"/>
                </a:lnTo>
                <a:lnTo>
                  <a:pt x="0" y="12489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230862" y="3985149"/>
            <a:ext cx="13005036" cy="4847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2707" b="1" spc="184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목적 : 팝업 형태로 사용자에게 노출시킬 수 있도록 하여</a:t>
            </a:r>
          </a:p>
          <a:p>
            <a:pPr algn="l">
              <a:lnSpc>
                <a:spcPts val="4195"/>
              </a:lnSpc>
            </a:pPr>
            <a:r>
              <a:rPr lang="en-US" sz="2707" b="1" spc="184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정보 전달력과 접근성을 높이는 기능</a:t>
            </a:r>
          </a:p>
          <a:p>
            <a:pPr algn="l">
              <a:lnSpc>
                <a:spcPts val="4195"/>
              </a:lnSpc>
            </a:pPr>
            <a:endParaRPr lang="en-US" sz="2707" b="1" spc="184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algn="l">
              <a:lnSpc>
                <a:spcPts val="4195"/>
              </a:lnSpc>
            </a:pPr>
            <a:r>
              <a:rPr lang="en-US" sz="2707" b="1" spc="184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✅ 구현 기능</a:t>
            </a:r>
          </a:p>
          <a:p>
            <a:pPr marL="584461" lvl="1" indent="-292230" algn="l">
              <a:lnSpc>
                <a:spcPts val="4195"/>
              </a:lnSpc>
              <a:buFont typeface="Arial"/>
              <a:buChar char="•"/>
            </a:pPr>
            <a:r>
              <a:rPr lang="en-US" sz="2707" b="1" spc="184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팝업 광고/공지 자동 노출 기능 구현</a:t>
            </a:r>
          </a:p>
          <a:p>
            <a:pPr marL="584461" lvl="1" indent="-292230" algn="l">
              <a:lnSpc>
                <a:spcPts val="4195"/>
              </a:lnSpc>
              <a:buFont typeface="Arial"/>
              <a:buChar char="•"/>
            </a:pPr>
            <a:r>
              <a:rPr lang="en-US" sz="2707" b="1" spc="184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광고 이미지 + 공지 텍스트 표시 + 닫기 버튼</a:t>
            </a:r>
          </a:p>
          <a:p>
            <a:pPr marL="584461" lvl="1" indent="-292230" algn="l">
              <a:lnSpc>
                <a:spcPts val="4195"/>
              </a:lnSpc>
              <a:buFont typeface="Arial"/>
              <a:buChar char="•"/>
            </a:pPr>
            <a:r>
              <a:rPr lang="en-US" sz="2707" b="1" spc="184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관리자 페이지에서 팝업 여부 설정 가능</a:t>
            </a:r>
          </a:p>
          <a:p>
            <a:pPr marL="584461" lvl="1" indent="-292230" algn="l">
              <a:lnSpc>
                <a:spcPts val="4195"/>
              </a:lnSpc>
              <a:buFont typeface="Arial"/>
              <a:buChar char="•"/>
            </a:pPr>
            <a:r>
              <a:rPr lang="en-US" sz="2707" b="1" spc="184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‘하루 동안 보지 않기’ 2차 개발 예정</a:t>
            </a:r>
          </a:p>
          <a:p>
            <a:pPr algn="l">
              <a:lnSpc>
                <a:spcPts val="4195"/>
              </a:lnSpc>
            </a:pPr>
            <a:endParaRPr lang="en-US" sz="2707" b="1" spc="184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0363200" y="7200900"/>
            <a:ext cx="7051469" cy="2105509"/>
          </a:xfrm>
          <a:custGeom>
            <a:avLst/>
            <a:gdLst/>
            <a:ahLst/>
            <a:cxnLst/>
            <a:rect l="l" t="t" r="r" b="b"/>
            <a:pathLst>
              <a:path w="7051469" h="2105509">
                <a:moveTo>
                  <a:pt x="0" y="0"/>
                </a:moveTo>
                <a:lnTo>
                  <a:pt x="7051469" y="0"/>
                </a:lnTo>
                <a:lnTo>
                  <a:pt x="7051469" y="2105509"/>
                </a:lnTo>
                <a:lnTo>
                  <a:pt x="0" y="21055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solidFill>
              <a:schemeClr val="bg1">
                <a:lumMod val="85000"/>
              </a:scheme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12021930" y="2451539"/>
            <a:ext cx="4303354" cy="4551148"/>
          </a:xfrm>
          <a:custGeom>
            <a:avLst/>
            <a:gdLst/>
            <a:ahLst/>
            <a:cxnLst/>
            <a:rect l="l" t="t" r="r" b="b"/>
            <a:pathLst>
              <a:path w="4303354" h="4551148">
                <a:moveTo>
                  <a:pt x="0" y="0"/>
                </a:moveTo>
                <a:lnTo>
                  <a:pt x="4303354" y="0"/>
                </a:lnTo>
                <a:lnTo>
                  <a:pt x="4303354" y="4551148"/>
                </a:lnTo>
                <a:lnTo>
                  <a:pt x="0" y="45511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sp>
        <p:nvSpPr>
          <p:cNvPr id="9" name="TextBox 9"/>
          <p:cNvSpPr txBox="1"/>
          <p:nvPr/>
        </p:nvSpPr>
        <p:spPr>
          <a:xfrm>
            <a:off x="2368085" y="2679626"/>
            <a:ext cx="6365295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관리자페이지 - 광고/공지 팝업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</p:spTree>
    <p:extLst>
      <p:ext uri="{BB962C8B-B14F-4D97-AF65-F5344CB8AC3E}">
        <p14:creationId xmlns:p14="http://schemas.microsoft.com/office/powerpoint/2010/main" val="40332785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7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2" name="Freeform 13"/>
          <p:cNvSpPr/>
          <p:nvPr/>
        </p:nvSpPr>
        <p:spPr>
          <a:xfrm>
            <a:off x="838034" y="2422544"/>
            <a:ext cx="1213493" cy="1229137"/>
          </a:xfrm>
          <a:custGeom>
            <a:avLst/>
            <a:gdLst/>
            <a:ahLst/>
            <a:cxnLst/>
            <a:rect l="l" t="t" r="r" b="b"/>
            <a:pathLst>
              <a:path w="1213493" h="1229137">
                <a:moveTo>
                  <a:pt x="0" y="0"/>
                </a:moveTo>
                <a:lnTo>
                  <a:pt x="1213493" y="0"/>
                </a:lnTo>
                <a:lnTo>
                  <a:pt x="1213493" y="1229137"/>
                </a:lnTo>
                <a:lnTo>
                  <a:pt x="0" y="12291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14"/>
          <p:cNvSpPr txBox="1"/>
          <p:nvPr/>
        </p:nvSpPr>
        <p:spPr>
          <a:xfrm>
            <a:off x="2368085" y="2679626"/>
            <a:ext cx="6365295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사용자페이지 - 분실물/습득물</a:t>
            </a:r>
          </a:p>
        </p:txBody>
      </p:sp>
      <p:sp>
        <p:nvSpPr>
          <p:cNvPr id="4" name="TextBox 15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sp>
        <p:nvSpPr>
          <p:cNvPr id="8" name="Freeform 6"/>
          <p:cNvSpPr/>
          <p:nvPr/>
        </p:nvSpPr>
        <p:spPr>
          <a:xfrm>
            <a:off x="2402445" y="3771900"/>
            <a:ext cx="6746129" cy="5189330"/>
          </a:xfrm>
          <a:custGeom>
            <a:avLst/>
            <a:gdLst/>
            <a:ahLst/>
            <a:cxnLst/>
            <a:rect l="l" t="t" r="r" b="b"/>
            <a:pathLst>
              <a:path w="6746129" h="5189330">
                <a:moveTo>
                  <a:pt x="0" y="0"/>
                </a:moveTo>
                <a:lnTo>
                  <a:pt x="6746129" y="0"/>
                </a:lnTo>
                <a:lnTo>
                  <a:pt x="6746129" y="5189330"/>
                </a:lnTo>
                <a:lnTo>
                  <a:pt x="0" y="51893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solidFill>
              <a:schemeClr val="bg1">
                <a:lumMod val="85000"/>
              </a:schemeClr>
            </a:solidFill>
          </a:ln>
        </p:spPr>
      </p:sp>
      <p:sp>
        <p:nvSpPr>
          <p:cNvPr id="9" name="Freeform 5"/>
          <p:cNvSpPr/>
          <p:nvPr/>
        </p:nvSpPr>
        <p:spPr>
          <a:xfrm>
            <a:off x="9601200" y="3773837"/>
            <a:ext cx="5273029" cy="2594665"/>
          </a:xfrm>
          <a:custGeom>
            <a:avLst/>
            <a:gdLst/>
            <a:ahLst/>
            <a:cxnLst/>
            <a:rect l="l" t="t" r="r" b="b"/>
            <a:pathLst>
              <a:path w="5273029" h="2594665">
                <a:moveTo>
                  <a:pt x="0" y="0"/>
                </a:moveTo>
                <a:lnTo>
                  <a:pt x="5273029" y="0"/>
                </a:lnTo>
                <a:lnTo>
                  <a:pt x="5273029" y="2594665"/>
                </a:lnTo>
                <a:lnTo>
                  <a:pt x="0" y="25946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solidFill>
              <a:schemeClr val="bg1">
                <a:lumMod val="85000"/>
              </a:schemeClr>
            </a:solidFill>
          </a:ln>
        </p:spPr>
      </p:sp>
    </p:spTree>
    <p:extLst>
      <p:ext uri="{BB962C8B-B14F-4D97-AF65-F5344CB8AC3E}">
        <p14:creationId xmlns:p14="http://schemas.microsoft.com/office/powerpoint/2010/main" val="29910502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1000" y="419100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411724" y="3116476"/>
            <a:ext cx="13260995" cy="4847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6"/>
              </a:lnSpc>
            </a:pPr>
            <a:endParaRPr b="1" dirty="0">
              <a:latin typeface="Agency FB" panose="020B0503020202020204" pitchFamily="34" charset="0"/>
            </a:endParaRPr>
          </a:p>
          <a:p>
            <a:pPr algn="l">
              <a:lnSpc>
                <a:spcPts val="4216"/>
              </a:lnSpc>
            </a:pPr>
            <a:r>
              <a:rPr lang="en-US" sz="2720" b="1" spc="184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목적</a:t>
            </a:r>
            <a:r>
              <a:rPr lang="en-US" sz="2720" b="1" spc="184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: </a:t>
            </a:r>
            <a:r>
              <a:rPr lang="en-US" sz="2720" b="1" spc="184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분실물</a:t>
            </a:r>
            <a:r>
              <a:rPr lang="en-US" sz="2720" b="1" spc="184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20" b="1" spc="184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신고와</a:t>
            </a:r>
            <a:r>
              <a:rPr lang="en-US" sz="2720" b="1" spc="184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20" b="1" spc="184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습득물</a:t>
            </a:r>
            <a:r>
              <a:rPr lang="en-US" sz="2720" b="1" spc="184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20" b="1" spc="184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확인을</a:t>
            </a:r>
            <a:r>
              <a:rPr lang="en-US" sz="2720" b="1" spc="184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통한 회수 </a:t>
            </a:r>
            <a:r>
              <a:rPr lang="en-US" sz="2720" b="1" spc="184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지원</a:t>
            </a:r>
            <a:r>
              <a:rPr lang="en-US" sz="2720" b="1" spc="184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기능</a:t>
            </a:r>
            <a:endParaRPr lang="en-US" sz="2720" b="1" spc="184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algn="l">
              <a:lnSpc>
                <a:spcPts val="4216"/>
              </a:lnSpc>
            </a:pPr>
            <a:endParaRPr lang="en-US" sz="2720" b="1" spc="184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algn="l">
              <a:lnSpc>
                <a:spcPts val="4216"/>
              </a:lnSpc>
            </a:pPr>
            <a:r>
              <a:rPr lang="en-US" sz="2720" b="1" spc="184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✅ </a:t>
            </a:r>
            <a:r>
              <a:rPr lang="en-US" sz="2720" b="1" spc="184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구현</a:t>
            </a:r>
            <a:r>
              <a:rPr lang="en-US" sz="2720" b="1" spc="184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20" b="1" spc="184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</a:t>
            </a:r>
            <a:endParaRPr lang="en-US" sz="2720" b="1" spc="184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marL="587345" lvl="1" indent="-293673" algn="l">
              <a:lnSpc>
                <a:spcPts val="4216"/>
              </a:lnSpc>
              <a:buFont typeface="Arial"/>
              <a:buChar char="•"/>
            </a:pPr>
            <a:r>
              <a:rPr lang="en-US" sz="2720" b="1" spc="184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분실물</a:t>
            </a:r>
            <a:r>
              <a:rPr lang="en-US" sz="2720" b="1" spc="184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CRUD</a:t>
            </a:r>
          </a:p>
          <a:p>
            <a:pPr marL="587345" lvl="1" indent="-293673" algn="l">
              <a:lnSpc>
                <a:spcPts val="4216"/>
              </a:lnSpc>
              <a:buFont typeface="Arial"/>
              <a:buChar char="•"/>
            </a:pPr>
            <a:r>
              <a:rPr lang="en-US" sz="2720" b="1" spc="184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습득물</a:t>
            </a:r>
            <a:r>
              <a:rPr lang="en-US" sz="2720" b="1" spc="184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20" b="1" spc="184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목록</a:t>
            </a:r>
            <a:r>
              <a:rPr lang="en-US" sz="2720" b="1" spc="184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조회</a:t>
            </a:r>
          </a:p>
          <a:p>
            <a:pPr marL="293672" lvl="1" algn="l">
              <a:lnSpc>
                <a:spcPts val="4216"/>
              </a:lnSpc>
            </a:pPr>
            <a:r>
              <a:rPr lang="en-US" sz="2720" b="1" spc="184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 - 일반회원은 </a:t>
            </a:r>
            <a:r>
              <a:rPr lang="en-US" sz="2720" b="1" spc="184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열람만</a:t>
            </a:r>
            <a:r>
              <a:rPr lang="en-US" sz="2720" b="1" spc="184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20" b="1" spc="184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가능</a:t>
            </a:r>
            <a:endParaRPr lang="en-US" sz="2720" b="1" spc="184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marL="587345" lvl="1" indent="-293673" algn="l">
              <a:lnSpc>
                <a:spcPts val="4216"/>
              </a:lnSpc>
              <a:buFont typeface="Arial"/>
              <a:buChar char="•"/>
            </a:pPr>
            <a:r>
              <a:rPr lang="en-US" sz="2720" b="1" spc="184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SCHEDULER </a:t>
            </a:r>
            <a:r>
              <a:rPr lang="en-US" sz="2720" b="1" spc="184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기반</a:t>
            </a:r>
            <a:r>
              <a:rPr lang="en-US" sz="2720" b="1" spc="184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20" b="1" spc="184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자동</a:t>
            </a:r>
            <a:r>
              <a:rPr lang="en-US" sz="2720" b="1" spc="184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720" b="1" spc="184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숨김</a:t>
            </a:r>
            <a:r>
              <a:rPr lang="en-US" sz="2720" b="1" spc="184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처리 </a:t>
            </a:r>
          </a:p>
          <a:p>
            <a:pPr algn="l">
              <a:lnSpc>
                <a:spcPts val="4216"/>
              </a:lnSpc>
            </a:pPr>
            <a:r>
              <a:rPr lang="en-US" sz="2720" b="1" spc="184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    →   7일 경과 시 숨김 처리</a:t>
            </a:r>
            <a:endParaRPr lang="en-US" sz="2720" b="1" spc="184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sp>
        <p:nvSpPr>
          <p:cNvPr id="13" name="Freeform 13"/>
          <p:cNvSpPr/>
          <p:nvPr/>
        </p:nvSpPr>
        <p:spPr>
          <a:xfrm>
            <a:off x="888930" y="2456441"/>
            <a:ext cx="1213493" cy="1229137"/>
          </a:xfrm>
          <a:custGeom>
            <a:avLst/>
            <a:gdLst/>
            <a:ahLst/>
            <a:cxnLst/>
            <a:rect l="l" t="t" r="r" b="b"/>
            <a:pathLst>
              <a:path w="1213493" h="1229137">
                <a:moveTo>
                  <a:pt x="0" y="0"/>
                </a:moveTo>
                <a:lnTo>
                  <a:pt x="1213493" y="0"/>
                </a:lnTo>
                <a:lnTo>
                  <a:pt x="1213493" y="1229137"/>
                </a:lnTo>
                <a:lnTo>
                  <a:pt x="0" y="12291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418981" y="2713523"/>
            <a:ext cx="6365295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사용자페이지 - 분실물/습득물</a:t>
            </a:r>
          </a:p>
        </p:txBody>
      </p:sp>
      <p:sp>
        <p:nvSpPr>
          <p:cNvPr id="18" name="Freeform 12"/>
          <p:cNvSpPr/>
          <p:nvPr/>
        </p:nvSpPr>
        <p:spPr>
          <a:xfrm>
            <a:off x="8813305" y="4346282"/>
            <a:ext cx="8651987" cy="4953262"/>
          </a:xfrm>
          <a:custGeom>
            <a:avLst/>
            <a:gdLst/>
            <a:ahLst/>
            <a:cxnLst/>
            <a:rect l="l" t="t" r="r" b="b"/>
            <a:pathLst>
              <a:path w="11050235" h="6326259">
                <a:moveTo>
                  <a:pt x="0" y="0"/>
                </a:moveTo>
                <a:lnTo>
                  <a:pt x="11050234" y="0"/>
                </a:lnTo>
                <a:lnTo>
                  <a:pt x="11050234" y="6326259"/>
                </a:lnTo>
                <a:lnTo>
                  <a:pt x="0" y="63262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solidFill>
              <a:schemeClr val="bg1">
                <a:lumMod val="85000"/>
              </a:schemeClr>
            </a:solidFill>
          </a:ln>
        </p:spPr>
      </p:sp>
      <p:sp>
        <p:nvSpPr>
          <p:cNvPr id="16" name="Freeform 20"/>
          <p:cNvSpPr/>
          <p:nvPr/>
        </p:nvSpPr>
        <p:spPr>
          <a:xfrm>
            <a:off x="10520552" y="4999490"/>
            <a:ext cx="7070929" cy="1971022"/>
          </a:xfrm>
          <a:custGeom>
            <a:avLst/>
            <a:gdLst/>
            <a:ahLst/>
            <a:cxnLst/>
            <a:rect l="l" t="t" r="r" b="b"/>
            <a:pathLst>
              <a:path w="12254286" h="3415882">
                <a:moveTo>
                  <a:pt x="0" y="0"/>
                </a:moveTo>
                <a:lnTo>
                  <a:pt x="12254286" y="0"/>
                </a:lnTo>
                <a:lnTo>
                  <a:pt x="12254286" y="3415882"/>
                </a:lnTo>
                <a:lnTo>
                  <a:pt x="0" y="34158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</p:spTree>
    <p:extLst>
      <p:ext uri="{BB962C8B-B14F-4D97-AF65-F5344CB8AC3E}">
        <p14:creationId xmlns:p14="http://schemas.microsoft.com/office/powerpoint/2010/main" val="10739290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769899" y="2412675"/>
            <a:ext cx="1248912" cy="1248912"/>
          </a:xfrm>
          <a:custGeom>
            <a:avLst/>
            <a:gdLst/>
            <a:ahLst/>
            <a:cxnLst/>
            <a:rect l="l" t="t" r="r" b="b"/>
            <a:pathLst>
              <a:path w="1248912" h="1248912">
                <a:moveTo>
                  <a:pt x="0" y="0"/>
                </a:moveTo>
                <a:lnTo>
                  <a:pt x="1248912" y="0"/>
                </a:lnTo>
                <a:lnTo>
                  <a:pt x="1248912" y="1248912"/>
                </a:lnTo>
                <a:lnTo>
                  <a:pt x="0" y="12489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905000" y="3883770"/>
            <a:ext cx="6749410" cy="5374530"/>
          </a:xfrm>
          <a:custGeom>
            <a:avLst/>
            <a:gdLst/>
            <a:ahLst/>
            <a:cxnLst/>
            <a:rect l="l" t="t" r="r" b="b"/>
            <a:pathLst>
              <a:path w="6749410" h="5374530">
                <a:moveTo>
                  <a:pt x="0" y="0"/>
                </a:moveTo>
                <a:lnTo>
                  <a:pt x="6749410" y="0"/>
                </a:lnTo>
                <a:lnTo>
                  <a:pt x="6749410" y="5374530"/>
                </a:lnTo>
                <a:lnTo>
                  <a:pt x="0" y="53745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solidFill>
              <a:schemeClr val="bg1">
                <a:lumMod val="85000"/>
              </a:scheme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9144000" y="3883770"/>
            <a:ext cx="6298255" cy="5333657"/>
          </a:xfrm>
          <a:custGeom>
            <a:avLst/>
            <a:gdLst/>
            <a:ahLst/>
            <a:cxnLst/>
            <a:rect l="l" t="t" r="r" b="b"/>
            <a:pathLst>
              <a:path w="6531446" h="5531134">
                <a:moveTo>
                  <a:pt x="0" y="0"/>
                </a:moveTo>
                <a:lnTo>
                  <a:pt x="6531446" y="0"/>
                </a:lnTo>
                <a:lnTo>
                  <a:pt x="6531446" y="5531134"/>
                </a:lnTo>
                <a:lnTo>
                  <a:pt x="0" y="55311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>
            <a:solidFill>
              <a:schemeClr val="bg1">
                <a:lumMod val="85000"/>
              </a:schemeClr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2368085" y="2679626"/>
            <a:ext cx="6365295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관리자페이지 - 분실물/습득물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</p:spTree>
    <p:extLst>
      <p:ext uri="{BB962C8B-B14F-4D97-AF65-F5344CB8AC3E}">
        <p14:creationId xmlns:p14="http://schemas.microsoft.com/office/powerpoint/2010/main" val="2653044660"/>
      </p:ext>
    </p:extLst>
  </p:cSld>
  <p:clrMapOvr>
    <a:masterClrMapping/>
  </p:clrMapOvr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12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13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grpSp>
        <p:nvGrpSpPr>
          <p:cNvPr id="2" name="Group 8"/>
          <p:cNvGrpSpPr/>
          <p:nvPr/>
        </p:nvGrpSpPr>
        <p:grpSpPr>
          <a:xfrm>
            <a:off x="496211" y="2087241"/>
            <a:ext cx="16412441" cy="6326758"/>
            <a:chOff x="0" y="-192881"/>
            <a:chExt cx="21883255" cy="8435676"/>
          </a:xfrm>
        </p:grpSpPr>
        <p:sp>
          <p:nvSpPr>
            <p:cNvPr id="7" name="TextBox 11"/>
            <p:cNvSpPr txBox="1"/>
            <p:nvPr/>
          </p:nvSpPr>
          <p:spPr>
            <a:xfrm>
              <a:off x="0" y="-192881"/>
              <a:ext cx="21883255" cy="7590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  <p:sp>
          <p:nvSpPr>
            <p:cNvPr id="4" name="TextBox 12"/>
            <p:cNvSpPr txBox="1"/>
            <p:nvPr/>
          </p:nvSpPr>
          <p:spPr>
            <a:xfrm>
              <a:off x="2446247" y="1625600"/>
              <a:ext cx="19271950" cy="6617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69"/>
                </a:lnSpc>
              </a:pPr>
              <a:r>
                <a:rPr lang="en-US" sz="2754" b="1" spc="187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목적: 습득물 등록과 분실물 매칭을 통해 회수 이력을 관리하기 위한 기능</a:t>
              </a:r>
            </a:p>
            <a:p>
              <a:pPr algn="l">
                <a:lnSpc>
                  <a:spcPts val="4269"/>
                </a:lnSpc>
              </a:pPr>
              <a:endParaRPr lang="en-US" sz="2754" b="1" spc="18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endParaRPr>
            </a:p>
            <a:p>
              <a:pPr algn="l">
                <a:lnSpc>
                  <a:spcPts val="4269"/>
                </a:lnSpc>
              </a:pPr>
              <a:r>
                <a:rPr lang="en-US" sz="2754" b="1" spc="187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✅ 구현 기능</a:t>
              </a:r>
            </a:p>
            <a:p>
              <a:pPr marL="594678" lvl="1" indent="-297339" algn="l">
                <a:lnSpc>
                  <a:spcPts val="4269"/>
                </a:lnSpc>
                <a:buFont typeface="Arial"/>
                <a:buChar char="•"/>
              </a:pPr>
              <a:r>
                <a:rPr lang="en-US" sz="2754" b="1" spc="187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습득물 CRUD</a:t>
              </a:r>
            </a:p>
            <a:p>
              <a:pPr marL="594678" lvl="1" indent="-297339" algn="l">
                <a:lnSpc>
                  <a:spcPts val="4269"/>
                </a:lnSpc>
                <a:buFont typeface="Arial"/>
                <a:buChar char="•"/>
              </a:pPr>
              <a:r>
                <a:rPr lang="en-US" sz="2754" b="1" spc="187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2가지 매칭 처리 기능</a:t>
              </a:r>
            </a:p>
            <a:p>
              <a:pPr marL="594678" lvl="1" indent="-297339" algn="l">
                <a:lnSpc>
                  <a:spcPts val="4269"/>
                </a:lnSpc>
                <a:buFont typeface="Arial"/>
                <a:buChar char="•"/>
              </a:pPr>
              <a:r>
                <a:rPr lang="en-US" sz="2754" b="1" spc="187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분실물 숨김/삭제 처리</a:t>
              </a:r>
            </a:p>
            <a:p>
              <a:pPr marL="594678" lvl="1" indent="-297339" algn="l">
                <a:lnSpc>
                  <a:spcPts val="4269"/>
                </a:lnSpc>
                <a:buFont typeface="Arial"/>
                <a:buChar char="•"/>
              </a:pPr>
              <a:r>
                <a:rPr lang="en-US" sz="2754" b="1" spc="187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관리자 작업 로그 기록</a:t>
              </a:r>
            </a:p>
            <a:p>
              <a:pPr algn="l">
                <a:lnSpc>
                  <a:spcPts val="4269"/>
                </a:lnSpc>
              </a:pPr>
              <a:endParaRPr lang="en-US" sz="2754" b="1" spc="18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endParaRPr>
            </a:p>
            <a:p>
              <a:pPr algn="l">
                <a:lnSpc>
                  <a:spcPts val="4269"/>
                </a:lnSpc>
              </a:pPr>
              <a:endParaRPr lang="en-US" sz="2754" b="1" spc="18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endParaRPr>
            </a:p>
          </p:txBody>
        </p:sp>
      </p:grpSp>
      <p:sp>
        <p:nvSpPr>
          <p:cNvPr id="8" name="Freeform 5"/>
          <p:cNvSpPr/>
          <p:nvPr/>
        </p:nvSpPr>
        <p:spPr>
          <a:xfrm>
            <a:off x="769899" y="2412675"/>
            <a:ext cx="1248912" cy="1248912"/>
          </a:xfrm>
          <a:custGeom>
            <a:avLst/>
            <a:gdLst/>
            <a:ahLst/>
            <a:cxnLst/>
            <a:rect l="l" t="t" r="r" b="b"/>
            <a:pathLst>
              <a:path w="1248912" h="1248912">
                <a:moveTo>
                  <a:pt x="0" y="0"/>
                </a:moveTo>
                <a:lnTo>
                  <a:pt x="1248912" y="0"/>
                </a:lnTo>
                <a:lnTo>
                  <a:pt x="1248912" y="1248912"/>
                </a:lnTo>
                <a:lnTo>
                  <a:pt x="0" y="1248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15"/>
          <p:cNvSpPr txBox="1"/>
          <p:nvPr/>
        </p:nvSpPr>
        <p:spPr>
          <a:xfrm>
            <a:off x="2368085" y="2679626"/>
            <a:ext cx="6365295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관리자페이지 - 분실물/습득물</a:t>
            </a:r>
          </a:p>
        </p:txBody>
      </p:sp>
      <p:sp>
        <p:nvSpPr>
          <p:cNvPr id="10" name="TextBox 21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sp>
        <p:nvSpPr>
          <p:cNvPr id="14" name="Freeform 14"/>
          <p:cNvSpPr/>
          <p:nvPr/>
        </p:nvSpPr>
        <p:spPr>
          <a:xfrm>
            <a:off x="7391400" y="4215262"/>
            <a:ext cx="9393458" cy="5959356"/>
          </a:xfrm>
          <a:custGeom>
            <a:avLst/>
            <a:gdLst/>
            <a:ahLst/>
            <a:cxnLst/>
            <a:rect l="l" t="t" r="r" b="b"/>
            <a:pathLst>
              <a:path w="9078956" h="6217628">
                <a:moveTo>
                  <a:pt x="0" y="0"/>
                </a:moveTo>
                <a:lnTo>
                  <a:pt x="9078956" y="0"/>
                </a:lnTo>
                <a:lnTo>
                  <a:pt x="9078956" y="6217628"/>
                </a:lnTo>
                <a:lnTo>
                  <a:pt x="0" y="62176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5" r="-355"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5" name="Freeform 13"/>
          <p:cNvSpPr/>
          <p:nvPr/>
        </p:nvSpPr>
        <p:spPr>
          <a:xfrm>
            <a:off x="9467972" y="4215262"/>
            <a:ext cx="7826558" cy="4138293"/>
          </a:xfrm>
          <a:custGeom>
            <a:avLst/>
            <a:gdLst/>
            <a:ahLst/>
            <a:cxnLst/>
            <a:rect l="l" t="t" r="r" b="b"/>
            <a:pathLst>
              <a:path w="11909513" h="6297155">
                <a:moveTo>
                  <a:pt x="0" y="0"/>
                </a:moveTo>
                <a:lnTo>
                  <a:pt x="11909513" y="0"/>
                </a:lnTo>
                <a:lnTo>
                  <a:pt x="11909513" y="6297155"/>
                </a:lnTo>
                <a:lnTo>
                  <a:pt x="0" y="62971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effectLst>
            <a:innerShdw blurRad="114300">
              <a:prstClr val="black"/>
            </a:innerShdw>
          </a:effectLst>
        </p:spPr>
      </p:sp>
    </p:spTree>
    <p:extLst>
      <p:ext uri="{BB962C8B-B14F-4D97-AF65-F5344CB8AC3E}">
        <p14:creationId xmlns:p14="http://schemas.microsoft.com/office/powerpoint/2010/main" val="51331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2"/>
          <p:cNvGrpSpPr/>
          <p:nvPr/>
        </p:nvGrpSpPr>
        <p:grpSpPr>
          <a:xfrm>
            <a:off x="417929" y="426839"/>
            <a:ext cx="17375942" cy="9293064"/>
            <a:chOff x="-52361" y="-176378"/>
            <a:chExt cx="23167923" cy="12390752"/>
          </a:xfrm>
        </p:grpSpPr>
        <p:grpSp>
          <p:nvGrpSpPr>
            <p:cNvPr id="3" name="Group 23"/>
            <p:cNvGrpSpPr/>
            <p:nvPr/>
          </p:nvGrpSpPr>
          <p:grpSpPr>
            <a:xfrm>
              <a:off x="-52361" y="-176378"/>
              <a:ext cx="23167923" cy="12390752"/>
              <a:chOff x="-10343" y="-38100"/>
              <a:chExt cx="4576380" cy="2447556"/>
            </a:xfrm>
          </p:grpSpPr>
          <p:sp>
            <p:nvSpPr>
              <p:cNvPr id="5" name="Freeform 24"/>
              <p:cNvSpPr/>
              <p:nvPr/>
            </p:nvSpPr>
            <p:spPr>
              <a:xfrm>
                <a:off x="-10343" y="-21229"/>
                <a:ext cx="4566037" cy="2409456"/>
              </a:xfrm>
              <a:custGeom>
                <a:avLst/>
                <a:gdLst/>
                <a:ahLst/>
                <a:cxnLst/>
                <a:rect l="l" t="t" r="r" b="b"/>
                <a:pathLst>
                  <a:path w="4566037" h="2409456">
                    <a:moveTo>
                      <a:pt x="7592" y="0"/>
                    </a:moveTo>
                    <a:lnTo>
                      <a:pt x="4558445" y="0"/>
                    </a:lnTo>
                    <a:cubicBezTo>
                      <a:pt x="4562638" y="0"/>
                      <a:pt x="4566037" y="3399"/>
                      <a:pt x="4566037" y="7592"/>
                    </a:cubicBezTo>
                    <a:lnTo>
                      <a:pt x="4566037" y="2401864"/>
                    </a:lnTo>
                    <a:cubicBezTo>
                      <a:pt x="4566037" y="2403878"/>
                      <a:pt x="4565237" y="2405809"/>
                      <a:pt x="4563813" y="2407233"/>
                    </a:cubicBezTo>
                    <a:cubicBezTo>
                      <a:pt x="4562390" y="2408656"/>
                      <a:pt x="4560458" y="2409456"/>
                      <a:pt x="4558445" y="2409456"/>
                    </a:cubicBezTo>
                    <a:lnTo>
                      <a:pt x="7592" y="2409456"/>
                    </a:lnTo>
                    <a:cubicBezTo>
                      <a:pt x="3399" y="2409456"/>
                      <a:pt x="0" y="2406057"/>
                      <a:pt x="0" y="2401864"/>
                    </a:cubicBezTo>
                    <a:lnTo>
                      <a:pt x="0" y="7592"/>
                    </a:lnTo>
                    <a:cubicBezTo>
                      <a:pt x="0" y="3399"/>
                      <a:pt x="3399" y="0"/>
                      <a:pt x="7592" y="0"/>
                    </a:cubicBezTo>
                    <a:close/>
                  </a:path>
                </a:pathLst>
              </a:custGeom>
              <a:solidFill>
                <a:srgbClr val="FEFCF9"/>
              </a:solidFill>
            </p:spPr>
          </p:sp>
          <p:sp>
            <p:nvSpPr>
              <p:cNvPr id="6" name="TextBox 25"/>
              <p:cNvSpPr txBox="1"/>
              <p:nvPr/>
            </p:nvSpPr>
            <p:spPr>
              <a:xfrm>
                <a:off x="0" y="-38100"/>
                <a:ext cx="4566037" cy="24475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latin typeface="Agency FB" panose="020B0503020202020204" pitchFamily="34" charset="0"/>
                </a:endParaRPr>
              </a:p>
            </p:txBody>
          </p:sp>
        </p:grpSp>
        <p:pic>
          <p:nvPicPr>
            <p:cNvPr id="4" name="Picture 26">
              <a:hlinkClick r:id="" action="ppaction://media"/>
            </p:cNvPr>
            <p:cNvPicPr>
              <a:picLocks noChangeAspect="1"/>
            </p:cNvPicPr>
            <p:nvPr>
              <a:videoFile r:link="rId2"/>
              <p:extLst>
                <p:ext uri="{DAA4B4D4-6D71-4841-9C94-3DE7FCFB9230}">
                  <p14:media xmlns:p14="http://schemas.microsoft.com/office/powerpoint/2010/main" r:embed="rId1"/>
                </p:ext>
              </p:extLst>
            </p:nvPr>
          </p:nvPicPr>
          <p:blipFill>
            <a:blip r:embed="rId4"/>
            <a:srcRect/>
            <a:stretch>
              <a:fillRect/>
            </a:stretch>
          </p:blipFill>
          <p:spPr>
            <a:xfrm>
              <a:off x="9136028" y="23760"/>
              <a:ext cx="13931152" cy="11277598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</p:grpSp>
      <p:sp>
        <p:nvSpPr>
          <p:cNvPr id="10" name="TextBox 21"/>
          <p:cNvSpPr txBox="1"/>
          <p:nvPr/>
        </p:nvSpPr>
        <p:spPr>
          <a:xfrm>
            <a:off x="-497012" y="723900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sp>
        <p:nvSpPr>
          <p:cNvPr id="11" name="Freeform 5"/>
          <p:cNvSpPr/>
          <p:nvPr/>
        </p:nvSpPr>
        <p:spPr>
          <a:xfrm>
            <a:off x="769899" y="2412675"/>
            <a:ext cx="1248912" cy="1248912"/>
          </a:xfrm>
          <a:custGeom>
            <a:avLst/>
            <a:gdLst/>
            <a:ahLst/>
            <a:cxnLst/>
            <a:rect l="l" t="t" r="r" b="b"/>
            <a:pathLst>
              <a:path w="1248912" h="1248912">
                <a:moveTo>
                  <a:pt x="0" y="0"/>
                </a:moveTo>
                <a:lnTo>
                  <a:pt x="1248912" y="0"/>
                </a:lnTo>
                <a:lnTo>
                  <a:pt x="1248912" y="1248912"/>
                </a:lnTo>
                <a:lnTo>
                  <a:pt x="0" y="12489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5"/>
          <p:cNvSpPr txBox="1"/>
          <p:nvPr/>
        </p:nvSpPr>
        <p:spPr>
          <a:xfrm>
            <a:off x="2368085" y="2679626"/>
            <a:ext cx="4718515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관리자페이지 </a:t>
            </a:r>
          </a:p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 - 분실물/습득물</a:t>
            </a:r>
          </a:p>
        </p:txBody>
      </p:sp>
    </p:spTree>
    <p:extLst>
      <p:ext uri="{BB962C8B-B14F-4D97-AF65-F5344CB8AC3E}">
        <p14:creationId xmlns:p14="http://schemas.microsoft.com/office/powerpoint/2010/main" val="4115389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2368085" y="3342867"/>
            <a:ext cx="5232392" cy="6140605"/>
          </a:xfrm>
          <a:custGeom>
            <a:avLst/>
            <a:gdLst/>
            <a:ahLst/>
            <a:cxnLst/>
            <a:rect l="l" t="t" r="r" b="b"/>
            <a:pathLst>
              <a:path w="5232392" h="6140605">
                <a:moveTo>
                  <a:pt x="0" y="0"/>
                </a:moveTo>
                <a:lnTo>
                  <a:pt x="5232392" y="0"/>
                </a:lnTo>
                <a:lnTo>
                  <a:pt x="5232392" y="6140605"/>
                </a:lnTo>
                <a:lnTo>
                  <a:pt x="0" y="6140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368085" y="3855312"/>
            <a:ext cx="8864648" cy="5628160"/>
            <a:chOff x="0" y="0"/>
            <a:chExt cx="11819531" cy="7504213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7116513" cy="924300"/>
              <a:chOff x="0" y="0"/>
              <a:chExt cx="1405731" cy="18257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05731" cy="182578"/>
              </a:xfrm>
              <a:custGeom>
                <a:avLst/>
                <a:gdLst/>
                <a:ahLst/>
                <a:cxnLst/>
                <a:rect l="l" t="t" r="r" b="b"/>
                <a:pathLst>
                  <a:path w="1405731" h="182578">
                    <a:moveTo>
                      <a:pt x="24659" y="0"/>
                    </a:moveTo>
                    <a:lnTo>
                      <a:pt x="1381072" y="0"/>
                    </a:lnTo>
                    <a:cubicBezTo>
                      <a:pt x="1394691" y="0"/>
                      <a:pt x="1405731" y="11040"/>
                      <a:pt x="1405731" y="24659"/>
                    </a:cubicBezTo>
                    <a:lnTo>
                      <a:pt x="1405731" y="157919"/>
                    </a:lnTo>
                    <a:cubicBezTo>
                      <a:pt x="1405731" y="164459"/>
                      <a:pt x="1403133" y="170731"/>
                      <a:pt x="1398509" y="175356"/>
                    </a:cubicBezTo>
                    <a:cubicBezTo>
                      <a:pt x="1393884" y="179980"/>
                      <a:pt x="1387612" y="182578"/>
                      <a:pt x="1381072" y="182578"/>
                    </a:cubicBezTo>
                    <a:lnTo>
                      <a:pt x="24659" y="182578"/>
                    </a:lnTo>
                    <a:cubicBezTo>
                      <a:pt x="11040" y="182578"/>
                      <a:pt x="0" y="171538"/>
                      <a:pt x="0" y="157919"/>
                    </a:cubicBezTo>
                    <a:lnTo>
                      <a:pt x="0" y="24659"/>
                    </a:lnTo>
                    <a:cubicBezTo>
                      <a:pt x="0" y="11040"/>
                      <a:pt x="11040" y="0"/>
                      <a:pt x="2465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FA8958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405731" cy="2206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latin typeface="Agency FB" panose="020B0503020202020204" pitchFamily="34" charset="0"/>
                </a:endParaR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4979428"/>
              <a:ext cx="7116513" cy="2524785"/>
              <a:chOff x="0" y="0"/>
              <a:chExt cx="1405731" cy="49872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05731" cy="498723"/>
              </a:xfrm>
              <a:custGeom>
                <a:avLst/>
                <a:gdLst/>
                <a:ahLst/>
                <a:cxnLst/>
                <a:rect l="l" t="t" r="r" b="b"/>
                <a:pathLst>
                  <a:path w="1405731" h="498723">
                    <a:moveTo>
                      <a:pt x="24659" y="0"/>
                    </a:moveTo>
                    <a:lnTo>
                      <a:pt x="1381072" y="0"/>
                    </a:lnTo>
                    <a:cubicBezTo>
                      <a:pt x="1394691" y="0"/>
                      <a:pt x="1405731" y="11040"/>
                      <a:pt x="1405731" y="24659"/>
                    </a:cubicBezTo>
                    <a:lnTo>
                      <a:pt x="1405731" y="474064"/>
                    </a:lnTo>
                    <a:cubicBezTo>
                      <a:pt x="1405731" y="480604"/>
                      <a:pt x="1403133" y="486876"/>
                      <a:pt x="1398509" y="491501"/>
                    </a:cubicBezTo>
                    <a:cubicBezTo>
                      <a:pt x="1393884" y="496125"/>
                      <a:pt x="1387612" y="498723"/>
                      <a:pt x="1381072" y="498723"/>
                    </a:cubicBezTo>
                    <a:lnTo>
                      <a:pt x="24659" y="498723"/>
                    </a:lnTo>
                    <a:cubicBezTo>
                      <a:pt x="11040" y="498723"/>
                      <a:pt x="0" y="487683"/>
                      <a:pt x="0" y="474064"/>
                    </a:cubicBezTo>
                    <a:lnTo>
                      <a:pt x="0" y="24659"/>
                    </a:lnTo>
                    <a:cubicBezTo>
                      <a:pt x="0" y="11040"/>
                      <a:pt x="11040" y="0"/>
                      <a:pt x="2465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1986C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405731" cy="5368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latin typeface="Agency FB" panose="020B0503020202020204" pitchFamily="34" charset="0"/>
                </a:endParaRPr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7236259" y="1275"/>
              <a:ext cx="599643" cy="896485"/>
            </a:xfrm>
            <a:custGeom>
              <a:avLst/>
              <a:gdLst/>
              <a:ahLst/>
              <a:cxnLst/>
              <a:rect l="l" t="t" r="r" b="b"/>
              <a:pathLst>
                <a:path w="599643" h="896485">
                  <a:moveTo>
                    <a:pt x="0" y="0"/>
                  </a:moveTo>
                  <a:lnTo>
                    <a:pt x="599643" y="0"/>
                  </a:lnTo>
                  <a:lnTo>
                    <a:pt x="599643" y="896485"/>
                  </a:lnTo>
                  <a:lnTo>
                    <a:pt x="0" y="89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7236259" y="5793578"/>
              <a:ext cx="599643" cy="896485"/>
            </a:xfrm>
            <a:custGeom>
              <a:avLst/>
              <a:gdLst/>
              <a:ahLst/>
              <a:cxnLst/>
              <a:rect l="l" t="t" r="r" b="b"/>
              <a:pathLst>
                <a:path w="599643" h="896485">
                  <a:moveTo>
                    <a:pt x="0" y="0"/>
                  </a:moveTo>
                  <a:lnTo>
                    <a:pt x="599643" y="0"/>
                  </a:lnTo>
                  <a:lnTo>
                    <a:pt x="599643" y="896485"/>
                  </a:lnTo>
                  <a:lnTo>
                    <a:pt x="0" y="89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8089902" y="108913"/>
              <a:ext cx="3729629" cy="854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960"/>
                </a:lnSpc>
              </a:pPr>
              <a:r>
                <a:rPr lang="en-US" sz="3200" b="1" spc="217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함초롬돋움" panose="020B0604000101010101" pitchFamily="50" charset="-127"/>
                  <a:sym typeface="네모고딕 Medium"/>
                </a:rPr>
                <a:t>관리자용 API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89902" y="5879402"/>
              <a:ext cx="3729629" cy="854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960"/>
                </a:lnSpc>
              </a:pPr>
              <a:r>
                <a:rPr lang="en-US" sz="3200" b="1" spc="217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함초롬돋움" panose="020B0604000101010101" pitchFamily="50" charset="-127"/>
                  <a:sym typeface="네모고딕 Medium"/>
                </a:rPr>
                <a:t>관리자용 API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99398" y="5001575"/>
            <a:ext cx="15194207" cy="6527178"/>
          </a:xfrm>
          <a:prstGeom prst="rect">
            <a:avLst/>
          </a:prstGeom>
        </p:spPr>
        <p:txBody>
          <a:bodyPr lIns="51325" tIns="51325" rIns="51325" bIns="51325" rtlCol="0" anchor="ctr"/>
          <a:lstStyle/>
          <a:p>
            <a:pPr algn="ctr">
              <a:lnSpc>
                <a:spcPts val="2659"/>
              </a:lnSpc>
            </a:pPr>
            <a:endParaRPr>
              <a:latin typeface="Agency FB" panose="020B0503020202020204" pitchFamily="34" charset="0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769899" y="2353511"/>
            <a:ext cx="1248912" cy="1248912"/>
          </a:xfrm>
          <a:custGeom>
            <a:avLst/>
            <a:gdLst/>
            <a:ahLst/>
            <a:cxnLst/>
            <a:rect l="l" t="t" r="r" b="b"/>
            <a:pathLst>
              <a:path w="1248912" h="1248912">
                <a:moveTo>
                  <a:pt x="0" y="0"/>
                </a:moveTo>
                <a:lnTo>
                  <a:pt x="1248912" y="0"/>
                </a:lnTo>
                <a:lnTo>
                  <a:pt x="1248912" y="1248912"/>
                </a:lnTo>
                <a:lnTo>
                  <a:pt x="0" y="12489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7795279" y="3342867"/>
            <a:ext cx="9612292" cy="5675008"/>
            <a:chOff x="0" y="0"/>
            <a:chExt cx="2531633" cy="149465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531632" cy="1494652"/>
            </a:xfrm>
            <a:custGeom>
              <a:avLst/>
              <a:gdLst/>
              <a:ahLst/>
              <a:cxnLst/>
              <a:rect l="l" t="t" r="r" b="b"/>
              <a:pathLst>
                <a:path w="2531632" h="1494652">
                  <a:moveTo>
                    <a:pt x="13692" y="0"/>
                  </a:moveTo>
                  <a:lnTo>
                    <a:pt x="2517940" y="0"/>
                  </a:lnTo>
                  <a:cubicBezTo>
                    <a:pt x="2521572" y="0"/>
                    <a:pt x="2525054" y="1443"/>
                    <a:pt x="2527622" y="4010"/>
                  </a:cubicBezTo>
                  <a:cubicBezTo>
                    <a:pt x="2530190" y="6578"/>
                    <a:pt x="2531632" y="10061"/>
                    <a:pt x="2531632" y="13692"/>
                  </a:cubicBezTo>
                  <a:lnTo>
                    <a:pt x="2531632" y="1480960"/>
                  </a:lnTo>
                  <a:cubicBezTo>
                    <a:pt x="2531632" y="1488522"/>
                    <a:pt x="2525502" y="1494652"/>
                    <a:pt x="2517940" y="1494652"/>
                  </a:cubicBezTo>
                  <a:lnTo>
                    <a:pt x="13692" y="1494652"/>
                  </a:lnTo>
                  <a:cubicBezTo>
                    <a:pt x="6130" y="1494652"/>
                    <a:pt x="0" y="1488522"/>
                    <a:pt x="0" y="1480960"/>
                  </a:cubicBezTo>
                  <a:lnTo>
                    <a:pt x="0" y="13692"/>
                  </a:lnTo>
                  <a:cubicBezTo>
                    <a:pt x="0" y="10061"/>
                    <a:pt x="1443" y="6578"/>
                    <a:pt x="4010" y="4010"/>
                  </a:cubicBezTo>
                  <a:cubicBezTo>
                    <a:pt x="6578" y="1443"/>
                    <a:pt x="10061" y="0"/>
                    <a:pt x="13692" y="0"/>
                  </a:cubicBez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2531633" cy="1532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2368085" y="2620462"/>
            <a:ext cx="6365295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관리자페이지 - Q&amp;A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</p:spTree>
    <p:extLst>
      <p:ext uri="{BB962C8B-B14F-4D97-AF65-F5344CB8AC3E}">
        <p14:creationId xmlns:p14="http://schemas.microsoft.com/office/powerpoint/2010/main" val="17907170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10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3" name="TextBox 21"/>
          <p:cNvSpPr txBox="1"/>
          <p:nvPr/>
        </p:nvSpPr>
        <p:spPr>
          <a:xfrm>
            <a:off x="1394355" y="3421085"/>
            <a:ext cx="15603767" cy="5193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9"/>
              </a:lnSpc>
            </a:pPr>
            <a:endParaRPr b="1">
              <a:latin typeface="Agency FB" panose="020B0503020202020204" pitchFamily="34" charset="0"/>
            </a:endParaRPr>
          </a:p>
          <a:p>
            <a:pPr algn="l">
              <a:lnSpc>
                <a:spcPts val="4529"/>
              </a:lnSpc>
            </a:pPr>
            <a:r>
              <a:rPr lang="en-US" sz="2922" b="1" spc="19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목적 : Q&amp;A 응답과 상태 관리를 </a:t>
            </a:r>
          </a:p>
          <a:p>
            <a:pPr marL="0" lvl="0" indent="0" algn="l">
              <a:lnSpc>
                <a:spcPts val="4529"/>
              </a:lnSpc>
            </a:pPr>
            <a:r>
              <a:rPr lang="en-US" sz="2922" b="1" spc="19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위한 관리자 기능</a:t>
            </a:r>
          </a:p>
          <a:p>
            <a:pPr marL="0" lvl="0" indent="0" algn="l">
              <a:lnSpc>
                <a:spcPts val="4529"/>
              </a:lnSpc>
            </a:pPr>
            <a:endParaRPr lang="en-US" sz="2922" b="1" spc="198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marL="0" lvl="0" indent="0" algn="l">
              <a:lnSpc>
                <a:spcPts val="4529"/>
              </a:lnSpc>
            </a:pPr>
            <a:r>
              <a:rPr lang="en-US" sz="2922" b="1" u="none" strike="noStrike" spc="19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✅ 구현 기능</a:t>
            </a:r>
          </a:p>
          <a:p>
            <a:pPr marL="630917" lvl="1" indent="-315458" algn="l">
              <a:lnSpc>
                <a:spcPts val="4529"/>
              </a:lnSpc>
              <a:buFont typeface="Arial"/>
              <a:buChar char="•"/>
            </a:pPr>
            <a:r>
              <a:rPr lang="en-US" sz="2922" b="1" u="none" strike="noStrike" spc="19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Q&amp;A 목록 조회</a:t>
            </a:r>
          </a:p>
          <a:p>
            <a:pPr marL="630917" lvl="1" indent="-315458" algn="l">
              <a:lnSpc>
                <a:spcPts val="4529"/>
              </a:lnSpc>
              <a:buFont typeface="Arial"/>
              <a:buChar char="•"/>
            </a:pPr>
            <a:r>
              <a:rPr lang="en-US" sz="2922" b="1" u="none" strike="noStrike" spc="19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답변 등록/수정</a:t>
            </a:r>
          </a:p>
          <a:p>
            <a:pPr marL="630917" lvl="1" indent="-315458" algn="l">
              <a:lnSpc>
                <a:spcPts val="4529"/>
              </a:lnSpc>
              <a:buFont typeface="Arial"/>
              <a:buChar char="•"/>
            </a:pPr>
            <a:r>
              <a:rPr lang="en-US" sz="2922" b="1" u="none" strike="noStrike" spc="19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답변 등록 시 상태 자동 변경</a:t>
            </a:r>
          </a:p>
          <a:p>
            <a:pPr marL="630917" lvl="1" indent="-315458" algn="l">
              <a:lnSpc>
                <a:spcPts val="4529"/>
              </a:lnSpc>
              <a:buFont typeface="Arial"/>
              <a:buChar char="•"/>
            </a:pPr>
            <a:r>
              <a:rPr lang="en-US" sz="2922" b="1" u="none" strike="noStrike" spc="198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숨김 처리 로직 구현</a:t>
            </a:r>
          </a:p>
        </p:txBody>
      </p:sp>
      <p:sp>
        <p:nvSpPr>
          <p:cNvPr id="4" name="Freeform 23"/>
          <p:cNvSpPr/>
          <p:nvPr/>
        </p:nvSpPr>
        <p:spPr>
          <a:xfrm>
            <a:off x="769899" y="2353511"/>
            <a:ext cx="1248912" cy="1248912"/>
          </a:xfrm>
          <a:custGeom>
            <a:avLst/>
            <a:gdLst/>
            <a:ahLst/>
            <a:cxnLst/>
            <a:rect l="l" t="t" r="r" b="b"/>
            <a:pathLst>
              <a:path w="1248912" h="1248912">
                <a:moveTo>
                  <a:pt x="0" y="0"/>
                </a:moveTo>
                <a:lnTo>
                  <a:pt x="1248912" y="0"/>
                </a:lnTo>
                <a:lnTo>
                  <a:pt x="1248912" y="1248912"/>
                </a:lnTo>
                <a:lnTo>
                  <a:pt x="0" y="1248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29"/>
          <p:cNvSpPr txBox="1"/>
          <p:nvPr/>
        </p:nvSpPr>
        <p:spPr>
          <a:xfrm>
            <a:off x="2368085" y="2620462"/>
            <a:ext cx="6365295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관리자페이지 - Q&amp;A</a:t>
            </a:r>
          </a:p>
        </p:txBody>
      </p:sp>
      <p:sp>
        <p:nvSpPr>
          <p:cNvPr id="6" name="TextBox 30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sp>
        <p:nvSpPr>
          <p:cNvPr id="11" name="Freeform 22"/>
          <p:cNvSpPr/>
          <p:nvPr/>
        </p:nvSpPr>
        <p:spPr>
          <a:xfrm>
            <a:off x="7543800" y="3178802"/>
            <a:ext cx="9685787" cy="5678293"/>
          </a:xfrm>
          <a:custGeom>
            <a:avLst/>
            <a:gdLst/>
            <a:ahLst/>
            <a:cxnLst/>
            <a:rect l="l" t="t" r="r" b="b"/>
            <a:pathLst>
              <a:path w="12914383" h="7571057">
                <a:moveTo>
                  <a:pt x="0" y="0"/>
                </a:moveTo>
                <a:lnTo>
                  <a:pt x="12914383" y="0"/>
                </a:lnTo>
                <a:lnTo>
                  <a:pt x="12914383" y="7571057"/>
                </a:lnTo>
                <a:lnTo>
                  <a:pt x="0" y="75710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solidFill>
              <a:schemeClr val="bg1">
                <a:lumMod val="85000"/>
              </a:schemeClr>
            </a:solidFill>
          </a:ln>
        </p:spPr>
      </p:sp>
      <p:sp>
        <p:nvSpPr>
          <p:cNvPr id="12" name="Freeform 28"/>
          <p:cNvSpPr/>
          <p:nvPr/>
        </p:nvSpPr>
        <p:spPr>
          <a:xfrm>
            <a:off x="9707047" y="6466484"/>
            <a:ext cx="7813914" cy="2226965"/>
          </a:xfrm>
          <a:custGeom>
            <a:avLst/>
            <a:gdLst/>
            <a:ahLst/>
            <a:cxnLst/>
            <a:rect l="l" t="t" r="r" b="b"/>
            <a:pathLst>
              <a:path w="12816390" h="3652671">
                <a:moveTo>
                  <a:pt x="0" y="0"/>
                </a:moveTo>
                <a:lnTo>
                  <a:pt x="12816390" y="0"/>
                </a:lnTo>
                <a:lnTo>
                  <a:pt x="12816390" y="3652671"/>
                </a:lnTo>
                <a:lnTo>
                  <a:pt x="0" y="36526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</p:spTree>
    <p:extLst>
      <p:ext uri="{BB962C8B-B14F-4D97-AF65-F5344CB8AC3E}">
        <p14:creationId xmlns:p14="http://schemas.microsoft.com/office/powerpoint/2010/main" val="19880952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851744" y="2574813"/>
            <a:ext cx="1213493" cy="1229137"/>
          </a:xfrm>
          <a:custGeom>
            <a:avLst/>
            <a:gdLst/>
            <a:ahLst/>
            <a:cxnLst/>
            <a:rect l="l" t="t" r="r" b="b"/>
            <a:pathLst>
              <a:path w="1213493" h="1229137">
                <a:moveTo>
                  <a:pt x="0" y="0"/>
                </a:moveTo>
                <a:lnTo>
                  <a:pt x="1213493" y="0"/>
                </a:lnTo>
                <a:lnTo>
                  <a:pt x="1213493" y="1229137"/>
                </a:lnTo>
                <a:lnTo>
                  <a:pt x="0" y="12291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6" name="Picture 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t="8602" b="35565"/>
          <a:stretch>
            <a:fillRect/>
          </a:stretch>
        </p:blipFill>
        <p:spPr>
          <a:xfrm>
            <a:off x="3162972" y="5559017"/>
            <a:ext cx="13677228" cy="410444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Box 7"/>
          <p:cNvSpPr txBox="1"/>
          <p:nvPr/>
        </p:nvSpPr>
        <p:spPr>
          <a:xfrm>
            <a:off x="2339054" y="2831877"/>
            <a:ext cx="6960841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웹 사용자 페이지 - Q&amp;A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97884" y="3507173"/>
            <a:ext cx="14162908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3"/>
              </a:lnSpc>
            </a:pPr>
            <a:r>
              <a:rPr lang="en-US" sz="2892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목적 : 일반회원이 겪는 버스 관련 문제나 궁금증을 해소할 수 있도록 </a:t>
            </a:r>
          </a:p>
          <a:p>
            <a:pPr algn="l">
              <a:lnSpc>
                <a:spcPts val="4483"/>
              </a:lnSpc>
            </a:pPr>
            <a:r>
              <a:rPr lang="en-US" sz="2892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질문과 답변을 주고받는 공간 제공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339054" y="3287925"/>
            <a:ext cx="13863438" cy="2240978"/>
            <a:chOff x="0" y="-192881"/>
            <a:chExt cx="18484583" cy="2987971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-192881"/>
              <a:ext cx="18484583" cy="2748034"/>
              <a:chOff x="0" y="-38100"/>
              <a:chExt cx="3651276" cy="54282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3651276" cy="504722"/>
              </a:xfrm>
              <a:custGeom>
                <a:avLst/>
                <a:gdLst/>
                <a:ahLst/>
                <a:cxnLst/>
                <a:rect l="l" t="t" r="r" b="b"/>
                <a:pathLst>
                  <a:path w="3651276" h="504722">
                    <a:moveTo>
                      <a:pt x="0" y="0"/>
                    </a:moveTo>
                    <a:lnTo>
                      <a:pt x="3651276" y="0"/>
                    </a:lnTo>
                    <a:lnTo>
                      <a:pt x="3651276" y="504722"/>
                    </a:lnTo>
                    <a:lnTo>
                      <a:pt x="0" y="504722"/>
                    </a:lnTo>
                    <a:close/>
                  </a:path>
                </a:pathLst>
              </a:custGeom>
              <a:solidFill>
                <a:srgbClr val="FEFCF9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3651276" cy="5428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latin typeface="Agency FB" panose="020B0503020202020204" pitchFamily="34" charset="0"/>
                </a:endParaRPr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0" y="59298"/>
              <a:ext cx="16750088" cy="2735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53905" lvl="1" indent="-276953" algn="l">
                <a:lnSpc>
                  <a:spcPts val="3976"/>
                </a:lnSpc>
                <a:buFont typeface="Arial"/>
                <a:buChar char="•"/>
              </a:pPr>
              <a:r>
                <a:rPr lang="en-US" sz="2565" b="1" u="none" strike="noStrike" spc="174" dirty="0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Q&amp;A </a:t>
              </a:r>
              <a:r>
                <a:rPr lang="en-US" sz="2565" b="1" u="none" strike="noStrike" spc="174" dirty="0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전체</a:t>
              </a:r>
              <a:r>
                <a:rPr lang="en-US" sz="2565" b="1" u="none" strike="noStrike" spc="174" dirty="0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 </a:t>
              </a:r>
              <a:r>
                <a:rPr lang="en-US" sz="2565" b="1" u="none" strike="noStrike" spc="174" dirty="0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목록</a:t>
              </a:r>
              <a:r>
                <a:rPr lang="en-US" sz="2565" b="1" u="none" strike="noStrike" spc="174" dirty="0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 </a:t>
              </a:r>
              <a:r>
                <a:rPr lang="en-US" sz="2565" b="1" u="none" strike="noStrike" spc="174" dirty="0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조회</a:t>
              </a:r>
              <a:r>
                <a:rPr lang="en-US" sz="2565" b="1" u="none" strike="noStrike" spc="174" dirty="0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 &amp; </a:t>
              </a:r>
              <a:r>
                <a:rPr lang="en-US" sz="2565" b="1" u="none" strike="noStrike" spc="174" dirty="0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검색</a:t>
              </a:r>
              <a:endParaRPr lang="en-US" sz="2565" b="1" u="none" strike="noStrike" spc="174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endParaRPr>
            </a:p>
            <a:p>
              <a:pPr marL="553905" lvl="1" indent="-276953" algn="l">
                <a:lnSpc>
                  <a:spcPts val="3976"/>
                </a:lnSpc>
                <a:buFont typeface="Arial"/>
                <a:buChar char="•"/>
              </a:pPr>
              <a:r>
                <a:rPr lang="en-US" sz="2565" b="1" u="none" strike="noStrike" spc="174" dirty="0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로그인</a:t>
              </a:r>
              <a:r>
                <a:rPr lang="en-US" sz="2565" b="1" u="none" strike="noStrike" spc="174" dirty="0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 시 </a:t>
              </a:r>
              <a:r>
                <a:rPr lang="en-US" sz="2565" b="1" u="none" strike="noStrike" spc="174" dirty="0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질문</a:t>
              </a:r>
              <a:r>
                <a:rPr lang="en-US" sz="2565" b="1" u="none" strike="noStrike" spc="174" dirty="0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 </a:t>
              </a:r>
              <a:r>
                <a:rPr lang="en-US" sz="2565" b="1" u="none" strike="noStrike" spc="174" dirty="0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작성</a:t>
              </a:r>
              <a:r>
                <a:rPr lang="en-US" sz="2565" b="1" u="none" strike="noStrike" spc="174" dirty="0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 </a:t>
              </a:r>
              <a:r>
                <a:rPr lang="en-US" sz="2565" b="1" u="none" strike="noStrike" spc="174" dirty="0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가능</a:t>
              </a:r>
              <a:endParaRPr lang="en-US" sz="2565" b="1" u="none" strike="noStrike" spc="174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endParaRPr>
            </a:p>
            <a:p>
              <a:pPr marL="553905" lvl="1" indent="-276953" algn="l">
                <a:lnSpc>
                  <a:spcPts val="3976"/>
                </a:lnSpc>
                <a:buFont typeface="Arial"/>
                <a:buChar char="•"/>
              </a:pPr>
              <a:r>
                <a:rPr lang="en-US" sz="2565" b="1" u="none" strike="noStrike" spc="174" dirty="0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비밀글</a:t>
              </a:r>
              <a:r>
                <a:rPr lang="en-US" sz="2565" b="1" u="none" strike="noStrike" spc="174" dirty="0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 </a:t>
              </a:r>
              <a:r>
                <a:rPr lang="en-US" sz="2565" b="1" u="none" strike="noStrike" spc="174" dirty="0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설정</a:t>
              </a:r>
              <a:r>
                <a:rPr lang="en-US" sz="2565" b="1" u="none" strike="noStrike" spc="174" dirty="0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 </a:t>
              </a:r>
              <a:r>
                <a:rPr lang="en-US" sz="2565" b="1" u="none" strike="noStrike" spc="174" dirty="0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기능</a:t>
              </a:r>
              <a:endParaRPr lang="en-US" sz="2565" b="1" u="none" strike="noStrike" spc="174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endParaRPr>
            </a:p>
            <a:p>
              <a:pPr marL="553905" lvl="1" indent="-276953" algn="l">
                <a:lnSpc>
                  <a:spcPts val="3976"/>
                </a:lnSpc>
                <a:buFont typeface="Arial"/>
                <a:buChar char="•"/>
              </a:pPr>
              <a:r>
                <a:rPr lang="en-US" sz="2565" b="1" u="none" strike="noStrike" spc="174" dirty="0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작성자</a:t>
              </a:r>
              <a:r>
                <a:rPr lang="en-US" sz="2565" b="1" u="none" strike="noStrike" spc="174" dirty="0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 </a:t>
              </a:r>
              <a:r>
                <a:rPr lang="en-US" sz="2565" b="1" u="none" strike="noStrike" spc="174" dirty="0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또는</a:t>
              </a:r>
              <a:r>
                <a:rPr lang="en-US" sz="2565" b="1" u="none" strike="noStrike" spc="174" dirty="0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 </a:t>
              </a:r>
              <a:r>
                <a:rPr lang="en-US" sz="2565" b="1" u="none" strike="noStrike" spc="174" dirty="0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관리자만</a:t>
              </a:r>
              <a:r>
                <a:rPr lang="en-US" sz="2565" b="1" u="none" strike="noStrike" spc="174" dirty="0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 </a:t>
              </a:r>
              <a:r>
                <a:rPr lang="en-US" sz="2565" b="1" u="none" strike="noStrike" spc="174" dirty="0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비밀글</a:t>
              </a:r>
              <a:r>
                <a:rPr lang="en-US" sz="2565" b="1" u="none" strike="noStrike" spc="174" dirty="0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 </a:t>
              </a:r>
              <a:r>
                <a:rPr lang="en-US" sz="2565" b="1" u="none" strike="noStrike" spc="174" dirty="0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확인</a:t>
              </a:r>
              <a:r>
                <a:rPr lang="en-US" sz="2565" b="1" u="none" strike="noStrike" spc="174" dirty="0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 </a:t>
              </a:r>
              <a:r>
                <a:rPr lang="en-US" sz="2565" b="1" u="none" strike="noStrike" spc="174" dirty="0" err="1">
                  <a:solidFill>
                    <a:srgbClr val="2B4B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네모고딕"/>
                  <a:sym typeface="네모고딕"/>
                </a:rPr>
                <a:t>가능</a:t>
              </a:r>
              <a:endParaRPr lang="en-US" sz="2565" b="1" u="none" strike="noStrike" spc="174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238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851744" y="2574813"/>
            <a:ext cx="1213493" cy="1229137"/>
          </a:xfrm>
          <a:custGeom>
            <a:avLst/>
            <a:gdLst/>
            <a:ahLst/>
            <a:cxnLst/>
            <a:rect l="l" t="t" r="r" b="b"/>
            <a:pathLst>
              <a:path w="1213493" h="1229137">
                <a:moveTo>
                  <a:pt x="0" y="0"/>
                </a:moveTo>
                <a:lnTo>
                  <a:pt x="1213493" y="0"/>
                </a:lnTo>
                <a:lnTo>
                  <a:pt x="1213493" y="1229137"/>
                </a:lnTo>
                <a:lnTo>
                  <a:pt x="0" y="12291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339054" y="2831877"/>
            <a:ext cx="6960841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웹 사용자 페이지 - 버스 정보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97884" y="3507173"/>
            <a:ext cx="14162908" cy="4039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3"/>
              </a:lnSpc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목적 : 일반 사용자들이 버스 요금, 정류장, 회사 정보 등을 간편하게 조회</a:t>
            </a:r>
          </a:p>
          <a:p>
            <a:pPr marL="0" lvl="0" indent="0" algn="l">
              <a:lnSpc>
                <a:spcPts val="4483"/>
              </a:lnSpc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- 버스 요금 정보        </a:t>
            </a:r>
          </a:p>
          <a:p>
            <a:pPr marL="0" lvl="0" indent="0" algn="l">
              <a:lnSpc>
                <a:spcPts val="4483"/>
              </a:lnSpc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- 정류장 주소 정보        </a:t>
            </a:r>
          </a:p>
          <a:p>
            <a:pPr marL="0" lvl="0" indent="0" algn="l">
              <a:lnSpc>
                <a:spcPts val="4483"/>
              </a:lnSpc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- 버스 회사 정보</a:t>
            </a:r>
          </a:p>
          <a:p>
            <a:pPr marL="0" lvl="0" indent="0" algn="l">
              <a:lnSpc>
                <a:spcPts val="4483"/>
              </a:lnSpc>
            </a:pPr>
            <a:endParaRPr lang="en-US" sz="2892" b="1" u="none" strike="noStrike" spc="196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marL="0" lvl="0" indent="0" algn="l">
              <a:lnSpc>
                <a:spcPts val="4483"/>
              </a:lnSpc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✅ 구현 기능</a:t>
            </a:r>
          </a:p>
          <a:p>
            <a:pPr marL="624467" lvl="1" indent="-312233" algn="l">
              <a:lnSpc>
                <a:spcPts val="4483"/>
              </a:lnSpc>
              <a:buFont typeface="Arial"/>
              <a:buChar char="•"/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버스 관련 정보를 조회</a:t>
            </a:r>
          </a:p>
        </p:txBody>
      </p:sp>
    </p:spTree>
    <p:extLst>
      <p:ext uri="{BB962C8B-B14F-4D97-AF65-F5344CB8AC3E}">
        <p14:creationId xmlns:p14="http://schemas.microsoft.com/office/powerpoint/2010/main" val="32213866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6139" y="563110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851744" y="2574813"/>
            <a:ext cx="1213493" cy="1229137"/>
          </a:xfrm>
          <a:custGeom>
            <a:avLst/>
            <a:gdLst/>
            <a:ahLst/>
            <a:cxnLst/>
            <a:rect l="l" t="t" r="r" b="b"/>
            <a:pathLst>
              <a:path w="1213493" h="1229137">
                <a:moveTo>
                  <a:pt x="0" y="0"/>
                </a:moveTo>
                <a:lnTo>
                  <a:pt x="1213493" y="0"/>
                </a:lnTo>
                <a:lnTo>
                  <a:pt x="1213493" y="1229137"/>
                </a:lnTo>
                <a:lnTo>
                  <a:pt x="0" y="12291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895600" y="4228915"/>
            <a:ext cx="7987685" cy="5349575"/>
          </a:xfrm>
          <a:custGeom>
            <a:avLst/>
            <a:gdLst/>
            <a:ahLst/>
            <a:cxnLst/>
            <a:rect l="l" t="t" r="r" b="b"/>
            <a:pathLst>
              <a:path w="8041150" h="4191955">
                <a:moveTo>
                  <a:pt x="0" y="0"/>
                </a:moveTo>
                <a:lnTo>
                  <a:pt x="8041151" y="0"/>
                </a:lnTo>
                <a:lnTo>
                  <a:pt x="8041151" y="4191954"/>
                </a:lnTo>
                <a:lnTo>
                  <a:pt x="0" y="41919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98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39054" y="2831877"/>
            <a:ext cx="6960841" cy="570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웹 사용자 페이지 - 버스 정보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97884" y="3507173"/>
            <a:ext cx="10479916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24467" lvl="1" indent="-312233" algn="l">
              <a:lnSpc>
                <a:spcPts val="4483"/>
              </a:lnSpc>
              <a:buFont typeface="Arial"/>
              <a:buChar char="•"/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관리자 계정에서 SWAGGER를 통해 등록, 수정, 삭제</a:t>
            </a:r>
          </a:p>
        </p:txBody>
      </p:sp>
    </p:spTree>
    <p:extLst>
      <p:ext uri="{BB962C8B-B14F-4D97-AF65-F5344CB8AC3E}">
        <p14:creationId xmlns:p14="http://schemas.microsoft.com/office/powerpoint/2010/main" val="29902005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533400" y="471519"/>
            <a:ext cx="17336671" cy="9160781"/>
            <a:chOff x="0" y="0"/>
            <a:chExt cx="4566037" cy="2412716"/>
          </a:xfrm>
        </p:grpSpPr>
        <p:sp>
          <p:nvSpPr>
            <p:cNvPr id="4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5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6" name="Freeform 5"/>
          <p:cNvSpPr/>
          <p:nvPr/>
        </p:nvSpPr>
        <p:spPr>
          <a:xfrm>
            <a:off x="851744" y="2574813"/>
            <a:ext cx="1213493" cy="1229137"/>
          </a:xfrm>
          <a:custGeom>
            <a:avLst/>
            <a:gdLst/>
            <a:ahLst/>
            <a:cxnLst/>
            <a:rect l="l" t="t" r="r" b="b"/>
            <a:pathLst>
              <a:path w="1213493" h="1229137">
                <a:moveTo>
                  <a:pt x="0" y="0"/>
                </a:moveTo>
                <a:lnTo>
                  <a:pt x="1213493" y="0"/>
                </a:lnTo>
                <a:lnTo>
                  <a:pt x="1213493" y="1229137"/>
                </a:lnTo>
                <a:lnTo>
                  <a:pt x="0" y="12291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10"/>
          <p:cNvSpPr txBox="1"/>
          <p:nvPr/>
        </p:nvSpPr>
        <p:spPr>
          <a:xfrm>
            <a:off x="2339054" y="2831877"/>
            <a:ext cx="6960841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웹 사용자 페이지 - 버스 정보</a:t>
            </a:r>
          </a:p>
        </p:txBody>
      </p:sp>
      <p:sp>
        <p:nvSpPr>
          <p:cNvPr id="8" name="TextBox 11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sp>
        <p:nvSpPr>
          <p:cNvPr id="2" name="Freeform 8"/>
          <p:cNvSpPr/>
          <p:nvPr/>
        </p:nvSpPr>
        <p:spPr>
          <a:xfrm>
            <a:off x="2438400" y="4578243"/>
            <a:ext cx="12489875" cy="5034100"/>
          </a:xfrm>
          <a:custGeom>
            <a:avLst/>
            <a:gdLst/>
            <a:ahLst/>
            <a:cxnLst/>
            <a:rect l="l" t="t" r="r" b="b"/>
            <a:pathLst>
              <a:path w="12489875" h="5034100">
                <a:moveTo>
                  <a:pt x="0" y="0"/>
                </a:moveTo>
                <a:lnTo>
                  <a:pt x="12489875" y="0"/>
                </a:lnTo>
                <a:lnTo>
                  <a:pt x="12489875" y="5034100"/>
                </a:lnTo>
                <a:lnTo>
                  <a:pt x="0" y="5034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22191"/>
            </a:stretch>
          </a:blipFill>
          <a:ln>
            <a:solidFill>
              <a:srgbClr val="E9E4DE"/>
            </a:solidFill>
          </a:ln>
        </p:spPr>
      </p:sp>
      <p:sp>
        <p:nvSpPr>
          <p:cNvPr id="9" name="직사각형 8"/>
          <p:cNvSpPr/>
          <p:nvPr/>
        </p:nvSpPr>
        <p:spPr>
          <a:xfrm>
            <a:off x="2339054" y="3803950"/>
            <a:ext cx="3158044" cy="6627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ts val="4960"/>
              </a:lnSpc>
            </a:pPr>
            <a:r>
              <a:rPr lang="en-US" altLang="ko-KR" sz="3200" b="1" spc="217">
                <a:solidFill>
                  <a:srgbClr val="2B4B8B"/>
                </a:solidFill>
                <a:latin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버스 </a:t>
            </a:r>
            <a:r>
              <a:rPr lang="ko-KR" altLang="en-US" sz="3200" b="1" spc="217">
                <a:solidFill>
                  <a:srgbClr val="2B4B8B"/>
                </a:solidFill>
                <a:latin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요금 안내</a:t>
            </a:r>
            <a:endParaRPr lang="en-US" altLang="ko-KR" sz="3200" b="1" spc="217">
              <a:solidFill>
                <a:srgbClr val="2B4B8B"/>
              </a:solidFill>
              <a:latin typeface="맑은 고딕" panose="020B0503020000020004" pitchFamily="50" charset="-127"/>
              <a:cs typeface="함초롬돋움" panose="020B0604000101010101" pitchFamily="50" charset="-127"/>
              <a:sym typeface="네모고딕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74050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10" name="TextBox 9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2" name="Freeform 9"/>
          <p:cNvSpPr/>
          <p:nvPr/>
        </p:nvSpPr>
        <p:spPr>
          <a:xfrm>
            <a:off x="2514600" y="4721367"/>
            <a:ext cx="12039600" cy="5002523"/>
          </a:xfrm>
          <a:custGeom>
            <a:avLst/>
            <a:gdLst/>
            <a:ahLst/>
            <a:cxnLst/>
            <a:rect l="l" t="t" r="r" b="b"/>
            <a:pathLst>
              <a:path w="12489875" h="5034100">
                <a:moveTo>
                  <a:pt x="0" y="0"/>
                </a:moveTo>
                <a:lnTo>
                  <a:pt x="12489875" y="0"/>
                </a:lnTo>
                <a:lnTo>
                  <a:pt x="12489875" y="5034100"/>
                </a:lnTo>
                <a:lnTo>
                  <a:pt x="0" y="5034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1881"/>
            </a:stretch>
          </a:blipFill>
          <a:ln>
            <a:solidFill>
              <a:srgbClr val="E9E4DE"/>
            </a:solidFill>
          </a:ln>
        </p:spPr>
      </p:sp>
      <p:sp>
        <p:nvSpPr>
          <p:cNvPr id="3" name="Freeform 5"/>
          <p:cNvSpPr/>
          <p:nvPr/>
        </p:nvSpPr>
        <p:spPr>
          <a:xfrm>
            <a:off x="851744" y="2574813"/>
            <a:ext cx="1213493" cy="1229137"/>
          </a:xfrm>
          <a:custGeom>
            <a:avLst/>
            <a:gdLst/>
            <a:ahLst/>
            <a:cxnLst/>
            <a:rect l="l" t="t" r="r" b="b"/>
            <a:pathLst>
              <a:path w="1213493" h="1229137">
                <a:moveTo>
                  <a:pt x="0" y="0"/>
                </a:moveTo>
                <a:lnTo>
                  <a:pt x="1213493" y="0"/>
                </a:lnTo>
                <a:lnTo>
                  <a:pt x="1213493" y="1229137"/>
                </a:lnTo>
                <a:lnTo>
                  <a:pt x="0" y="12291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10"/>
          <p:cNvSpPr txBox="1"/>
          <p:nvPr/>
        </p:nvSpPr>
        <p:spPr>
          <a:xfrm>
            <a:off x="2339054" y="2831877"/>
            <a:ext cx="6960841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웹 사용자 페이지 - 버스 정보</a:t>
            </a:r>
          </a:p>
        </p:txBody>
      </p:sp>
      <p:sp>
        <p:nvSpPr>
          <p:cNvPr id="5" name="TextBox 11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339054" y="3803950"/>
            <a:ext cx="4378635" cy="6627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ts val="4960"/>
              </a:lnSpc>
            </a:pPr>
            <a:r>
              <a:rPr lang="en-US" altLang="ko-KR" sz="3200" b="1" spc="217">
                <a:solidFill>
                  <a:srgbClr val="2B4B8B"/>
                </a:solidFill>
                <a:latin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버스 </a:t>
            </a:r>
            <a:r>
              <a:rPr lang="ko-KR" altLang="en-US" sz="3200" b="1" spc="217">
                <a:solidFill>
                  <a:srgbClr val="2B4B8B"/>
                </a:solidFill>
                <a:latin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회사 정보 조회 </a:t>
            </a:r>
            <a:endParaRPr lang="en-US" altLang="ko-KR" sz="3200" b="1" spc="217">
              <a:solidFill>
                <a:srgbClr val="2B4B8B"/>
              </a:solidFill>
              <a:latin typeface="맑은 고딕" panose="020B0503020000020004" pitchFamily="50" charset="-127"/>
              <a:cs typeface="함초롬돋움" panose="020B0604000101010101" pitchFamily="50" charset="-127"/>
              <a:sym typeface="네모고딕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89046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8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9" name="TextBox 8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2" name="Freeform 7"/>
          <p:cNvSpPr/>
          <p:nvPr/>
        </p:nvSpPr>
        <p:spPr>
          <a:xfrm>
            <a:off x="2514600" y="4539026"/>
            <a:ext cx="11963400" cy="5112535"/>
          </a:xfrm>
          <a:custGeom>
            <a:avLst/>
            <a:gdLst/>
            <a:ahLst/>
            <a:cxnLst/>
            <a:rect l="l" t="t" r="r" b="b"/>
            <a:pathLst>
              <a:path w="12489875" h="5048227">
                <a:moveTo>
                  <a:pt x="0" y="0"/>
                </a:moveTo>
                <a:lnTo>
                  <a:pt x="12489875" y="0"/>
                </a:lnTo>
                <a:lnTo>
                  <a:pt x="12489875" y="5048227"/>
                </a:lnTo>
                <a:lnTo>
                  <a:pt x="0" y="50482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2159"/>
            </a:stretch>
          </a:blipFill>
          <a:ln>
            <a:solidFill>
              <a:srgbClr val="E9E4DE"/>
            </a:solidFill>
          </a:ln>
        </p:spPr>
      </p:sp>
      <p:sp>
        <p:nvSpPr>
          <p:cNvPr id="3" name="Freeform 5"/>
          <p:cNvSpPr/>
          <p:nvPr/>
        </p:nvSpPr>
        <p:spPr>
          <a:xfrm>
            <a:off x="851744" y="2574813"/>
            <a:ext cx="1213493" cy="1229137"/>
          </a:xfrm>
          <a:custGeom>
            <a:avLst/>
            <a:gdLst/>
            <a:ahLst/>
            <a:cxnLst/>
            <a:rect l="l" t="t" r="r" b="b"/>
            <a:pathLst>
              <a:path w="1213493" h="1229137">
                <a:moveTo>
                  <a:pt x="0" y="0"/>
                </a:moveTo>
                <a:lnTo>
                  <a:pt x="1213493" y="0"/>
                </a:lnTo>
                <a:lnTo>
                  <a:pt x="1213493" y="1229137"/>
                </a:lnTo>
                <a:lnTo>
                  <a:pt x="0" y="12291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10"/>
          <p:cNvSpPr txBox="1"/>
          <p:nvPr/>
        </p:nvSpPr>
        <p:spPr>
          <a:xfrm>
            <a:off x="2339054" y="2831877"/>
            <a:ext cx="6960841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웹 사용자 페이지 - 버스 정보</a:t>
            </a:r>
          </a:p>
        </p:txBody>
      </p:sp>
      <p:sp>
        <p:nvSpPr>
          <p:cNvPr id="5" name="TextBox 11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339054" y="3803950"/>
            <a:ext cx="2547749" cy="6627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ts val="4960"/>
              </a:lnSpc>
            </a:pPr>
            <a:r>
              <a:rPr lang="ko-KR" altLang="en-US" sz="3200" b="1" spc="217">
                <a:solidFill>
                  <a:srgbClr val="2B4B8B"/>
                </a:solidFill>
                <a:latin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정류소 조회</a:t>
            </a:r>
            <a:endParaRPr lang="en-US" altLang="ko-KR" sz="3200" b="1" spc="217">
              <a:solidFill>
                <a:srgbClr val="2B4B8B"/>
              </a:solidFill>
              <a:latin typeface="맑은 고딕" panose="020B0503020000020004" pitchFamily="50" charset="-127"/>
              <a:cs typeface="함초롬돋움" panose="020B0604000101010101" pitchFamily="50" charset="-127"/>
              <a:sym typeface="네모고딕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00565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851744" y="2574813"/>
            <a:ext cx="1213493" cy="1229137"/>
          </a:xfrm>
          <a:custGeom>
            <a:avLst/>
            <a:gdLst/>
            <a:ahLst/>
            <a:cxnLst/>
            <a:rect l="l" t="t" r="r" b="b"/>
            <a:pathLst>
              <a:path w="1213493" h="1229137">
                <a:moveTo>
                  <a:pt x="0" y="0"/>
                </a:moveTo>
                <a:lnTo>
                  <a:pt x="1213493" y="0"/>
                </a:lnTo>
                <a:lnTo>
                  <a:pt x="1213493" y="1229137"/>
                </a:lnTo>
                <a:lnTo>
                  <a:pt x="0" y="12291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397884" y="3507173"/>
            <a:ext cx="14162908" cy="5193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3"/>
              </a:lnSpc>
            </a:pPr>
            <a:r>
              <a:rPr lang="en-US" sz="2892" b="1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목적 : 일반 사용자들이 운행 시간표를 간편하게 조회</a:t>
            </a:r>
          </a:p>
          <a:p>
            <a:pPr algn="l">
              <a:lnSpc>
                <a:spcPts val="4483"/>
              </a:lnSpc>
            </a:pPr>
            <a:r>
              <a:rPr lang="en-US" sz="2892" b="1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- 일반 버스 운행 시간표</a:t>
            </a:r>
          </a:p>
          <a:p>
            <a:pPr algn="l">
              <a:lnSpc>
                <a:spcPts val="4483"/>
              </a:lnSpc>
            </a:pPr>
            <a:r>
              <a:rPr lang="en-US" sz="2892" b="1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- 저상 버스 운행 시간표</a:t>
            </a:r>
          </a:p>
          <a:p>
            <a:pPr algn="l">
              <a:lnSpc>
                <a:spcPts val="4483"/>
              </a:lnSpc>
            </a:pPr>
            <a:endParaRPr lang="en-US" sz="2892" b="1" spc="196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marL="0" lvl="0" indent="0" algn="l">
              <a:lnSpc>
                <a:spcPts val="4483"/>
              </a:lnSpc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✅ 구현 기능</a:t>
            </a:r>
          </a:p>
          <a:p>
            <a:pPr marL="624467" lvl="1" indent="-312233" algn="l">
              <a:lnSpc>
                <a:spcPts val="4483"/>
              </a:lnSpc>
              <a:buFont typeface="Arial"/>
              <a:buChar char="•"/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일반/저상 버스 노선 시간표 조회</a:t>
            </a:r>
          </a:p>
          <a:p>
            <a:pPr marL="624467" lvl="1" indent="-312233" algn="l">
              <a:lnSpc>
                <a:spcPts val="4483"/>
              </a:lnSpc>
              <a:buFont typeface="Arial"/>
              <a:buChar char="•"/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시간표가 등록된 노선만 조회 대상에 포함됨</a:t>
            </a:r>
          </a:p>
          <a:p>
            <a:pPr marL="624467" lvl="1" indent="-312233" algn="l">
              <a:lnSpc>
                <a:spcPts val="4483"/>
              </a:lnSpc>
              <a:buFont typeface="Arial"/>
              <a:buChar char="•"/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노선/방향/방면 기준으로 시간표 필터링</a:t>
            </a:r>
          </a:p>
          <a:p>
            <a:pPr marL="624467" lvl="1" indent="-312233" algn="l">
              <a:lnSpc>
                <a:spcPts val="4483"/>
              </a:lnSpc>
              <a:buFont typeface="Arial"/>
              <a:buChar char="•"/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해당 노선의 전체 정류장 목록 확인 가능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39054" y="2831877"/>
            <a:ext cx="7573167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웹 사용자 페이지 - 노선 시간표 정보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</p:spTree>
    <p:extLst>
      <p:ext uri="{BB962C8B-B14F-4D97-AF65-F5344CB8AC3E}">
        <p14:creationId xmlns:p14="http://schemas.microsoft.com/office/powerpoint/2010/main" val="3312274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7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3" name="Freeform 7"/>
          <p:cNvSpPr/>
          <p:nvPr/>
        </p:nvSpPr>
        <p:spPr>
          <a:xfrm>
            <a:off x="2024245" y="4116237"/>
            <a:ext cx="4528955" cy="3657600"/>
          </a:xfrm>
          <a:custGeom>
            <a:avLst/>
            <a:gdLst/>
            <a:ahLst/>
            <a:cxnLst/>
            <a:rect l="l" t="t" r="r" b="b"/>
            <a:pathLst>
              <a:path w="6162309" h="4407491">
                <a:moveTo>
                  <a:pt x="0" y="0"/>
                </a:moveTo>
                <a:lnTo>
                  <a:pt x="6162309" y="0"/>
                </a:lnTo>
                <a:lnTo>
                  <a:pt x="6162309" y="4407491"/>
                </a:lnTo>
                <a:lnTo>
                  <a:pt x="0" y="4407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83393"/>
            </a:stretch>
          </a:blipFill>
          <a:ln>
            <a:solidFill>
              <a:srgbClr val="E9E4DE"/>
            </a:solidFill>
          </a:ln>
        </p:spPr>
      </p:sp>
      <p:sp>
        <p:nvSpPr>
          <p:cNvPr id="2" name="Freeform 8"/>
          <p:cNvSpPr/>
          <p:nvPr/>
        </p:nvSpPr>
        <p:spPr>
          <a:xfrm>
            <a:off x="4095860" y="3617739"/>
            <a:ext cx="12892524" cy="5801636"/>
          </a:xfrm>
          <a:custGeom>
            <a:avLst/>
            <a:gdLst/>
            <a:ahLst/>
            <a:cxnLst/>
            <a:rect l="l" t="t" r="r" b="b"/>
            <a:pathLst>
              <a:path w="6716204" h="3022292">
                <a:moveTo>
                  <a:pt x="0" y="0"/>
                </a:moveTo>
                <a:lnTo>
                  <a:pt x="6716204" y="0"/>
                </a:lnTo>
                <a:lnTo>
                  <a:pt x="6716204" y="3022292"/>
                </a:lnTo>
                <a:lnTo>
                  <a:pt x="0" y="3022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solidFill>
              <a:srgbClr val="E9E4DE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sp>
        <p:nvSpPr>
          <p:cNvPr id="4" name="Freeform 9"/>
          <p:cNvSpPr/>
          <p:nvPr/>
        </p:nvSpPr>
        <p:spPr>
          <a:xfrm>
            <a:off x="8382000" y="6143693"/>
            <a:ext cx="9144000" cy="3563869"/>
          </a:xfrm>
          <a:custGeom>
            <a:avLst/>
            <a:gdLst/>
            <a:ahLst/>
            <a:cxnLst/>
            <a:rect l="l" t="t" r="r" b="b"/>
            <a:pathLst>
              <a:path w="6716204" h="2745249">
                <a:moveTo>
                  <a:pt x="0" y="0"/>
                </a:moveTo>
                <a:lnTo>
                  <a:pt x="6716204" y="0"/>
                </a:lnTo>
                <a:lnTo>
                  <a:pt x="6716204" y="2745248"/>
                </a:lnTo>
                <a:lnTo>
                  <a:pt x="0" y="27452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solidFill>
              <a:srgbClr val="E9E4DE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sp>
        <p:nvSpPr>
          <p:cNvPr id="8" name="Freeform 5"/>
          <p:cNvSpPr/>
          <p:nvPr/>
        </p:nvSpPr>
        <p:spPr>
          <a:xfrm>
            <a:off x="851744" y="2574813"/>
            <a:ext cx="1213493" cy="1229137"/>
          </a:xfrm>
          <a:custGeom>
            <a:avLst/>
            <a:gdLst/>
            <a:ahLst/>
            <a:cxnLst/>
            <a:rect l="l" t="t" r="r" b="b"/>
            <a:pathLst>
              <a:path w="1213493" h="1229137">
                <a:moveTo>
                  <a:pt x="0" y="0"/>
                </a:moveTo>
                <a:lnTo>
                  <a:pt x="1213493" y="0"/>
                </a:lnTo>
                <a:lnTo>
                  <a:pt x="1213493" y="1229137"/>
                </a:lnTo>
                <a:lnTo>
                  <a:pt x="0" y="12291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10"/>
          <p:cNvSpPr txBox="1"/>
          <p:nvPr/>
        </p:nvSpPr>
        <p:spPr>
          <a:xfrm>
            <a:off x="2339054" y="2831877"/>
            <a:ext cx="7573167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웹 사용자 페이지 - 노선 시간표 정보</a:t>
            </a:r>
          </a:p>
        </p:txBody>
      </p:sp>
      <p:sp>
        <p:nvSpPr>
          <p:cNvPr id="10" name="TextBox 11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</p:spTree>
    <p:extLst>
      <p:ext uri="{BB962C8B-B14F-4D97-AF65-F5344CB8AC3E}">
        <p14:creationId xmlns:p14="http://schemas.microsoft.com/office/powerpoint/2010/main" val="102474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3400" y="593963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769899" y="2353511"/>
            <a:ext cx="1248912" cy="1248912"/>
          </a:xfrm>
          <a:custGeom>
            <a:avLst/>
            <a:gdLst/>
            <a:ahLst/>
            <a:cxnLst/>
            <a:rect l="l" t="t" r="r" b="b"/>
            <a:pathLst>
              <a:path w="1248912" h="1248912">
                <a:moveTo>
                  <a:pt x="0" y="0"/>
                </a:moveTo>
                <a:lnTo>
                  <a:pt x="1248912" y="0"/>
                </a:lnTo>
                <a:lnTo>
                  <a:pt x="1248912" y="1248912"/>
                </a:lnTo>
                <a:lnTo>
                  <a:pt x="0" y="12489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368085" y="2620462"/>
            <a:ext cx="7651181" cy="570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관리자페이지 - 노선 시간표 정보 관리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68085" y="3443111"/>
            <a:ext cx="14162908" cy="173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3"/>
              </a:lnSpc>
            </a:pPr>
            <a:r>
              <a:rPr lang="en-US" sz="2892" b="1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목적 : 일반 버스 및 저상 버스의 정해진 운행 시간표 정보를 </a:t>
            </a:r>
          </a:p>
          <a:p>
            <a:pPr algn="l">
              <a:lnSpc>
                <a:spcPts val="4483"/>
              </a:lnSpc>
            </a:pPr>
            <a:r>
              <a:rPr lang="en-US" sz="2892" b="1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등록·수정·관리할 수 있도록 하여, 실사용자가 정확한 시간표 </a:t>
            </a:r>
          </a:p>
          <a:p>
            <a:pPr marL="0" lvl="0" indent="0" algn="l">
              <a:lnSpc>
                <a:spcPts val="4483"/>
              </a:lnSpc>
            </a:pPr>
            <a:r>
              <a:rPr lang="en-US" sz="2892" b="1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데이터를 조회할 수 있도록 지원합니다.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  <p:sp>
        <p:nvSpPr>
          <p:cNvPr id="18" name="TextBox 12"/>
          <p:cNvSpPr txBox="1"/>
          <p:nvPr/>
        </p:nvSpPr>
        <p:spPr>
          <a:xfrm>
            <a:off x="2018811" y="5492643"/>
            <a:ext cx="14162908" cy="230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4467" lvl="1" indent="-312233" algn="l">
              <a:lnSpc>
                <a:spcPts val="4483"/>
              </a:lnSpc>
              <a:buFont typeface="Arial"/>
              <a:buChar char="•"/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노선번호 및 방향(정방향/역방향 또는 방면) 선택 기반 시간표 조회</a:t>
            </a:r>
          </a:p>
          <a:p>
            <a:pPr marL="624467" lvl="1" indent="-312233" algn="l">
              <a:lnSpc>
                <a:spcPts val="4483"/>
              </a:lnSpc>
              <a:buFont typeface="Arial"/>
              <a:buChar char="•"/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노선별/방향별 운행 시간표 데이터 등록, 수정, 삭제</a:t>
            </a:r>
          </a:p>
          <a:p>
            <a:pPr marL="624467" lvl="1" indent="-312233" algn="l">
              <a:lnSpc>
                <a:spcPts val="4483"/>
              </a:lnSpc>
              <a:buFont typeface="Arial"/>
              <a:buChar char="•"/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시작·종점 정류장 자동 지정, 중간 정류장 수동 선택 (6개 고정)</a:t>
            </a:r>
          </a:p>
          <a:p>
            <a:pPr marL="624467" lvl="1" indent="-312233" algn="l">
              <a:lnSpc>
                <a:spcPts val="4483"/>
              </a:lnSpc>
              <a:buFont typeface="Arial"/>
              <a:buChar char="•"/>
            </a:pPr>
            <a:r>
              <a:rPr lang="en-US" sz="2892" b="1" u="none" strike="noStrike" spc="196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기존 저장된 시간표 불러오기 및 편집 가능</a:t>
            </a:r>
          </a:p>
        </p:txBody>
      </p:sp>
    </p:spTree>
    <p:extLst>
      <p:ext uri="{BB962C8B-B14F-4D97-AF65-F5344CB8AC3E}">
        <p14:creationId xmlns:p14="http://schemas.microsoft.com/office/powerpoint/2010/main" val="15883045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75664" y="563110"/>
            <a:ext cx="17336671" cy="9160781"/>
            <a:chOff x="0" y="0"/>
            <a:chExt cx="4566037" cy="2412716"/>
          </a:xfrm>
        </p:grpSpPr>
        <p:sp>
          <p:nvSpPr>
            <p:cNvPr id="4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5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pic>
        <p:nvPicPr>
          <p:cNvPr id="2" name="Picture 1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10560" b="16417"/>
          <a:stretch>
            <a:fillRect/>
          </a:stretch>
        </p:blipFill>
        <p:spPr>
          <a:xfrm>
            <a:off x="2368085" y="3596412"/>
            <a:ext cx="15282159" cy="5579677"/>
          </a:xfrm>
          <a:prstGeom prst="rect">
            <a:avLst/>
          </a:prstGeom>
        </p:spPr>
      </p:pic>
      <p:sp>
        <p:nvSpPr>
          <p:cNvPr id="11" name="Freeform 5"/>
          <p:cNvSpPr/>
          <p:nvPr/>
        </p:nvSpPr>
        <p:spPr>
          <a:xfrm>
            <a:off x="769899" y="2353511"/>
            <a:ext cx="1248912" cy="1248912"/>
          </a:xfrm>
          <a:custGeom>
            <a:avLst/>
            <a:gdLst/>
            <a:ahLst/>
            <a:cxnLst/>
            <a:rect l="l" t="t" r="r" b="b"/>
            <a:pathLst>
              <a:path w="1248912" h="1248912">
                <a:moveTo>
                  <a:pt x="0" y="0"/>
                </a:moveTo>
                <a:lnTo>
                  <a:pt x="1248912" y="0"/>
                </a:lnTo>
                <a:lnTo>
                  <a:pt x="1248912" y="1248912"/>
                </a:lnTo>
                <a:lnTo>
                  <a:pt x="0" y="12489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6"/>
          <p:cNvSpPr txBox="1"/>
          <p:nvPr/>
        </p:nvSpPr>
        <p:spPr>
          <a:xfrm>
            <a:off x="2368085" y="2620462"/>
            <a:ext cx="7651181" cy="570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0"/>
              </a:lnSpc>
            </a:pPr>
            <a:r>
              <a:rPr lang="en-US" sz="3200" b="1" spc="217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  <a:sym typeface="네모고딕 Medium"/>
              </a:rPr>
              <a:t>관리자페이지 - 노선 시간표 정보 관리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59439" y="1035793"/>
            <a:ext cx="8421812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기능 구현 세부 설명</a:t>
            </a:r>
          </a:p>
        </p:txBody>
      </p:sp>
    </p:spTree>
    <p:extLst>
      <p:ext uri="{BB962C8B-B14F-4D97-AF65-F5344CB8AC3E}">
        <p14:creationId xmlns:p14="http://schemas.microsoft.com/office/powerpoint/2010/main" val="96189146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664" y="595926"/>
            <a:ext cx="17336671" cy="9160781"/>
            <a:chOff x="0" y="0"/>
            <a:chExt cx="4566037" cy="2412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6037" cy="2412716"/>
            </a:xfrm>
            <a:custGeom>
              <a:avLst/>
              <a:gdLst/>
              <a:ahLst/>
              <a:cxnLst/>
              <a:rect l="l" t="t" r="r" b="b"/>
              <a:pathLst>
                <a:path w="4566037" h="2412716">
                  <a:moveTo>
                    <a:pt x="0" y="0"/>
                  </a:moveTo>
                  <a:lnTo>
                    <a:pt x="4566037" y="0"/>
                  </a:lnTo>
                  <a:lnTo>
                    <a:pt x="4566037" y="2412716"/>
                  </a:lnTo>
                  <a:lnTo>
                    <a:pt x="0" y="2412716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6037" cy="245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316477" y="563110"/>
            <a:ext cx="6495858" cy="9160781"/>
            <a:chOff x="0" y="0"/>
            <a:chExt cx="785344" cy="11075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85344" cy="1107531"/>
            </a:xfrm>
            <a:custGeom>
              <a:avLst/>
              <a:gdLst/>
              <a:ahLst/>
              <a:cxnLst/>
              <a:rect l="l" t="t" r="r" b="b"/>
              <a:pathLst>
                <a:path w="785344" h="1107531">
                  <a:moveTo>
                    <a:pt x="0" y="0"/>
                  </a:moveTo>
                  <a:lnTo>
                    <a:pt x="785344" y="0"/>
                  </a:lnTo>
                  <a:lnTo>
                    <a:pt x="785344" y="1107531"/>
                  </a:lnTo>
                  <a:lnTo>
                    <a:pt x="0" y="1107531"/>
                  </a:lnTo>
                  <a:close/>
                </a:path>
              </a:pathLst>
            </a:custGeom>
            <a:blipFill>
              <a:blip r:embed="rId3"/>
              <a:stretch>
                <a:fillRect l="-55834" r="-55834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028700" y="1154020"/>
            <a:ext cx="8768407" cy="9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향후 계획 및 발전 방향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637434"/>
            <a:ext cx="8631282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2"/>
              </a:lnSpc>
              <a:spcBef>
                <a:spcPct val="0"/>
              </a:spcBef>
            </a:pPr>
            <a:r>
              <a:rPr lang="en-US" sz="2873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✅ </a:t>
            </a:r>
            <a:r>
              <a:rPr lang="en-US" sz="2873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시스템</a:t>
            </a:r>
            <a:r>
              <a:rPr lang="en-US" sz="2873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73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안정성과</a:t>
            </a:r>
            <a:r>
              <a:rPr lang="en-US" sz="2873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73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운영</a:t>
            </a:r>
            <a:r>
              <a:rPr lang="en-US" sz="2873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73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효율을</a:t>
            </a:r>
            <a:r>
              <a:rPr lang="en-US" sz="2873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73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고려한</a:t>
            </a:r>
            <a:r>
              <a:rPr lang="en-US" sz="2873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73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구조</a:t>
            </a:r>
            <a:r>
              <a:rPr lang="en-US" sz="2873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73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개선</a:t>
            </a:r>
            <a:endParaRPr lang="en-US" sz="2873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 algn="l">
              <a:lnSpc>
                <a:spcPts val="4022"/>
              </a:lnSpc>
              <a:spcBef>
                <a:spcPct val="0"/>
              </a:spcBef>
            </a:pPr>
            <a:r>
              <a:rPr lang="en-US" sz="2873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✅ </a:t>
            </a:r>
            <a:r>
              <a:rPr lang="en-US" sz="2873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사용</a:t>
            </a:r>
            <a:r>
              <a:rPr lang="en-US" sz="2873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73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흐름을</a:t>
            </a:r>
            <a:r>
              <a:rPr lang="en-US" sz="2873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73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고려한</a:t>
            </a:r>
            <a:r>
              <a:rPr lang="en-US" sz="2873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73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직관적인</a:t>
            </a:r>
            <a:r>
              <a:rPr lang="en-US" sz="2873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UI, UX </a:t>
            </a:r>
            <a:r>
              <a:rPr lang="en-US" sz="2873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구현</a:t>
            </a:r>
            <a:endParaRPr lang="en-US" sz="2873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  <a:p>
            <a:pPr>
              <a:lnSpc>
                <a:spcPts val="4022"/>
              </a:lnSpc>
              <a:spcBef>
                <a:spcPct val="0"/>
              </a:spcBef>
            </a:pPr>
            <a:r>
              <a:rPr lang="en-US" altLang="ko-KR" sz="2873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✅</a:t>
            </a:r>
            <a:r>
              <a:rPr lang="en-US" sz="2873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73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전체</a:t>
            </a:r>
            <a:r>
              <a:rPr lang="en-US" sz="2873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73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통합</a:t>
            </a:r>
            <a:r>
              <a:rPr lang="en-US" sz="2873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73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테스트</a:t>
            </a:r>
            <a:r>
              <a:rPr lang="en-US" sz="2873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및 </a:t>
            </a:r>
            <a:r>
              <a:rPr lang="en-US" sz="2873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배포</a:t>
            </a:r>
            <a:r>
              <a:rPr lang="en-US" sz="2873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73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스크립트</a:t>
            </a:r>
            <a:r>
              <a:rPr lang="en-US" sz="2873" b="1" dirty="0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 </a:t>
            </a:r>
            <a:r>
              <a:rPr lang="en-US" sz="2873" b="1" dirty="0" err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작성</a:t>
            </a:r>
            <a:endParaRPr lang="en-US" sz="2873" b="1" dirty="0">
              <a:solidFill>
                <a:srgbClr val="2B4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네모고딕"/>
              <a:sym typeface="네모고딕"/>
            </a:endParaRPr>
          </a:p>
        </p:txBody>
      </p:sp>
    </p:spTree>
    <p:extLst>
      <p:ext uri="{BB962C8B-B14F-4D97-AF65-F5344CB8AC3E}">
        <p14:creationId xmlns:p14="http://schemas.microsoft.com/office/powerpoint/2010/main" val="2962347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70962" y="3907400"/>
            <a:ext cx="8746077" cy="1173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93"/>
              </a:lnSpc>
              <a:spcBef>
                <a:spcPct val="0"/>
              </a:spcBef>
            </a:pPr>
            <a:r>
              <a:rPr lang="en-US" sz="7209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감사합니다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13101" y="1172880"/>
            <a:ext cx="1543050" cy="154305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4B8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99633" y="848925"/>
            <a:ext cx="1095480" cy="109548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7831497"/>
            <a:ext cx="18288000" cy="1008111"/>
            <a:chOff x="0" y="0"/>
            <a:chExt cx="4816593" cy="2655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265511"/>
            </a:xfrm>
            <a:custGeom>
              <a:avLst/>
              <a:gdLst/>
              <a:ahLst/>
              <a:cxnLst/>
              <a:rect l="l" t="t" r="r" b="b"/>
              <a:pathLst>
                <a:path w="4816592" h="265511">
                  <a:moveTo>
                    <a:pt x="0" y="0"/>
                  </a:moveTo>
                  <a:lnTo>
                    <a:pt x="4816592" y="0"/>
                  </a:lnTo>
                  <a:lnTo>
                    <a:pt x="4816592" y="265511"/>
                  </a:lnTo>
                  <a:lnTo>
                    <a:pt x="0" y="265511"/>
                  </a:lnTo>
                  <a:close/>
                </a:path>
              </a:pathLst>
            </a:custGeom>
            <a:solidFill>
              <a:srgbClr val="FEFCF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816593" cy="303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gency FB" panose="020B0503020202020204" pitchFamily="34" charset="0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215623" y="8052183"/>
            <a:ext cx="6428783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839"/>
              </a:lnSpc>
              <a:spcBef>
                <a:spcPct val="0"/>
              </a:spcBef>
            </a:pPr>
            <a:r>
              <a:rPr lang="en-US" sz="2742" b="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영남인재교육원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9505" y="8078975"/>
            <a:ext cx="5032575" cy="474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0"/>
              </a:lnSpc>
              <a:spcBef>
                <a:spcPct val="0"/>
              </a:spcBef>
            </a:pPr>
            <a:r>
              <a:rPr lang="en-US" sz="2672" b="1" spc="181">
                <a:solidFill>
                  <a:srgbClr val="2B4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네모고딕"/>
                <a:sym typeface="네모고딕"/>
              </a:rPr>
              <a:t>+053-555-1333</a:t>
            </a:r>
          </a:p>
        </p:txBody>
      </p:sp>
    </p:spTree>
    <p:extLst>
      <p:ext uri="{BB962C8B-B14F-4D97-AF65-F5344CB8AC3E}">
        <p14:creationId xmlns:p14="http://schemas.microsoft.com/office/powerpoint/2010/main" val="81208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</TotalTime>
  <Words>1974</Words>
  <Application>Microsoft Office PowerPoint</Application>
  <PresentationFormat>사용자 지정</PresentationFormat>
  <Paragraphs>459</Paragraphs>
  <Slides>57</Slides>
  <Notes>40</Notes>
  <HiddenSlides>0</HiddenSlides>
  <MMClips>5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57</vt:i4>
      </vt:variant>
    </vt:vector>
  </HeadingPairs>
  <TitlesOfParts>
    <vt:vector size="61" baseType="lpstr">
      <vt:lpstr>맑은 고딕</vt:lpstr>
      <vt:lpstr>Agency FB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블루 깔끔한 회사 사업 프로젝트 소개 프레젠테이션</dc:title>
  <dc:creator>edu010</dc:creator>
  <cp:lastModifiedBy>jyoni</cp:lastModifiedBy>
  <cp:revision>59</cp:revision>
  <dcterms:created xsi:type="dcterms:W3CDTF">2006-08-16T00:00:00Z</dcterms:created>
  <dcterms:modified xsi:type="dcterms:W3CDTF">2025-11-20T15:01:55Z</dcterms:modified>
  <dc:identifier>DAGlU1-mW5M</dc:identifier>
</cp:coreProperties>
</file>